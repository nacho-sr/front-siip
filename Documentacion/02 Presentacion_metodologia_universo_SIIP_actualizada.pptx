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9" r:id="rId10"/>
    <p:sldId id="270" r:id="rId11"/>
    <p:sldId id="264" r:id="rId12"/>
    <p:sldId id="265" r:id="rId13"/>
    <p:sldId id="266" r:id="rId14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88F7F-447F-43BE-81AE-526FDE99EEDE}" v="1" dt="2026-08-14T16:09:10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Flores Palacios" userId="b19f6ad770826bc0" providerId="LiveId" clId="{7C01EECD-2A10-401B-8591-6E34CD5C7A73}"/>
    <pc:docChg chg="custSel addSld delSld modSld sldOrd">
      <pc:chgData name="Eduardo Flores Palacios" userId="b19f6ad770826bc0" providerId="LiveId" clId="{7C01EECD-2A10-401B-8591-6E34CD5C7A73}" dt="2026-08-14T16:17:21.611" v="151" actId="47"/>
      <pc:docMkLst>
        <pc:docMk/>
      </pc:docMkLst>
      <pc:sldChg chg="delSp mod">
        <pc:chgData name="Eduardo Flores Palacios" userId="b19f6ad770826bc0" providerId="LiveId" clId="{7C01EECD-2A10-401B-8591-6E34CD5C7A73}" dt="2026-08-11T16:12:40.403" v="2" actId="478"/>
        <pc:sldMkLst>
          <pc:docMk/>
          <pc:sldMk cId="0" sldId="257"/>
        </pc:sldMkLst>
      </pc:sldChg>
      <pc:sldChg chg="delSp mod">
        <pc:chgData name="Eduardo Flores Palacios" userId="b19f6ad770826bc0" providerId="LiveId" clId="{7C01EECD-2A10-401B-8591-6E34CD5C7A73}" dt="2026-08-11T16:12:45.142" v="3" actId="478"/>
        <pc:sldMkLst>
          <pc:docMk/>
          <pc:sldMk cId="0" sldId="258"/>
        </pc:sldMkLst>
      </pc:sldChg>
      <pc:sldChg chg="delSp mod">
        <pc:chgData name="Eduardo Flores Palacios" userId="b19f6ad770826bc0" providerId="LiveId" clId="{7C01EECD-2A10-401B-8591-6E34CD5C7A73}" dt="2026-08-11T16:12:48.882" v="4" actId="478"/>
        <pc:sldMkLst>
          <pc:docMk/>
          <pc:sldMk cId="0" sldId="259"/>
        </pc:sldMkLst>
      </pc:sldChg>
      <pc:sldChg chg="delSp mod">
        <pc:chgData name="Eduardo Flores Palacios" userId="b19f6ad770826bc0" providerId="LiveId" clId="{7C01EECD-2A10-401B-8591-6E34CD5C7A73}" dt="2026-08-11T16:12:53.364" v="5" actId="478"/>
        <pc:sldMkLst>
          <pc:docMk/>
          <pc:sldMk cId="0" sldId="260"/>
        </pc:sldMkLst>
      </pc:sldChg>
      <pc:sldChg chg="delSp mod">
        <pc:chgData name="Eduardo Flores Palacios" userId="b19f6ad770826bc0" providerId="LiveId" clId="{7C01EECD-2A10-401B-8591-6E34CD5C7A73}" dt="2026-08-11T16:12:58.910" v="6" actId="478"/>
        <pc:sldMkLst>
          <pc:docMk/>
          <pc:sldMk cId="0" sldId="261"/>
        </pc:sldMkLst>
      </pc:sldChg>
      <pc:sldChg chg="delSp del mod modShow">
        <pc:chgData name="Eduardo Flores Palacios" userId="b19f6ad770826bc0" providerId="LiveId" clId="{7C01EECD-2A10-401B-8591-6E34CD5C7A73}" dt="2026-08-14T16:17:21.611" v="151" actId="47"/>
        <pc:sldMkLst>
          <pc:docMk/>
          <pc:sldMk cId="0" sldId="262"/>
        </pc:sldMkLst>
      </pc:sldChg>
      <pc:sldChg chg="delSp del mod modShow">
        <pc:chgData name="Eduardo Flores Palacios" userId="b19f6ad770826bc0" providerId="LiveId" clId="{7C01EECD-2A10-401B-8591-6E34CD5C7A73}" dt="2026-08-14T16:17:21.611" v="151" actId="47"/>
        <pc:sldMkLst>
          <pc:docMk/>
          <pc:sldMk cId="0" sldId="263"/>
        </pc:sldMkLst>
      </pc:sldChg>
      <pc:sldChg chg="delSp mod">
        <pc:chgData name="Eduardo Flores Palacios" userId="b19f6ad770826bc0" providerId="LiveId" clId="{7C01EECD-2A10-401B-8591-6E34CD5C7A73}" dt="2026-08-11T16:12:15.913" v="0" actId="478"/>
        <pc:sldMkLst>
          <pc:docMk/>
          <pc:sldMk cId="0" sldId="264"/>
        </pc:sldMkLst>
      </pc:sldChg>
      <pc:sldChg chg="addSp new mod ord">
        <pc:chgData name="Eduardo Flores Palacios" userId="b19f6ad770826bc0" providerId="LiveId" clId="{7C01EECD-2A10-401B-8591-6E34CD5C7A73}" dt="2026-08-11T16:18:33.872" v="11" actId="22"/>
        <pc:sldMkLst>
          <pc:docMk/>
          <pc:sldMk cId="3136388768" sldId="265"/>
        </pc:sldMkLst>
        <pc:picChg chg="add">
          <ac:chgData name="Eduardo Flores Palacios" userId="b19f6ad770826bc0" providerId="LiveId" clId="{7C01EECD-2A10-401B-8591-6E34CD5C7A73}" dt="2026-08-11T16:18:33.872" v="11" actId="22"/>
          <ac:picMkLst>
            <pc:docMk/>
            <pc:sldMk cId="3136388768" sldId="265"/>
            <ac:picMk id="3" creationId="{9DDD108D-CD9A-BBA7-EF1E-B8448472C878}"/>
          </ac:picMkLst>
        </pc:picChg>
      </pc:sldChg>
      <pc:sldChg chg="addSp modSp new mod">
        <pc:chgData name="Eduardo Flores Palacios" userId="b19f6ad770826bc0" providerId="LiveId" clId="{7C01EECD-2A10-401B-8591-6E34CD5C7A73}" dt="2026-08-11T21:00:50.063" v="14" actId="14100"/>
        <pc:sldMkLst>
          <pc:docMk/>
          <pc:sldMk cId="936369546" sldId="266"/>
        </pc:sldMkLst>
      </pc:sldChg>
      <pc:sldChg chg="modSp add mod setBg">
        <pc:chgData name="Eduardo Flores Palacios" userId="b19f6ad770826bc0" providerId="LiveId" clId="{7C01EECD-2A10-401B-8591-6E34CD5C7A73}" dt="2026-08-14T16:09:11.087" v="57" actId="27636"/>
        <pc:sldMkLst>
          <pc:docMk/>
          <pc:sldMk cId="0" sldId="268"/>
        </pc:sldMkLst>
        <pc:spChg chg="mod">
          <ac:chgData name="Eduardo Flores Palacios" userId="b19f6ad770826bc0" providerId="LiveId" clId="{7C01EECD-2A10-401B-8591-6E34CD5C7A73}" dt="2026-08-14T16:09:11.020" v="35" actId="276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33" v="39" actId="2763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27" v="37" actId="2763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57" v="47" actId="2763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55" v="46" actId="2763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63" v="17" actId="2763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79" v="54" actId="2763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72" v="18" actId="2763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75" v="53" actId="2763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74" v="19" actId="27636"/>
          <ac:spMkLst>
            <pc:docMk/>
            <pc:sldMk cId="0" sldId="268"/>
            <ac:spMk id="3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72" v="52" actId="27636"/>
          <ac:spMkLst>
            <pc:docMk/>
            <pc:sldMk cId="0" sldId="268"/>
            <ac:spMk id="3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67" v="51" actId="27636"/>
          <ac:spMkLst>
            <pc:docMk/>
            <pc:sldMk cId="0" sldId="268"/>
            <ac:spMk id="4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87" v="57" actId="27636"/>
          <ac:spMkLst>
            <pc:docMk/>
            <pc:sldMk cId="0" sldId="268"/>
            <ac:spMk id="4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81" v="55" actId="27636"/>
          <ac:spMkLst>
            <pc:docMk/>
            <pc:sldMk cId="0" sldId="268"/>
            <ac:spMk id="4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84" v="56" actId="27636"/>
          <ac:spMkLst>
            <pc:docMk/>
            <pc:sldMk cId="0" sldId="268"/>
            <ac:spMk id="4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57" v="16" actId="27636"/>
          <ac:spMkLst>
            <pc:docMk/>
            <pc:sldMk cId="0" sldId="268"/>
            <ac:spMk id="5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85" v="23" actId="27636"/>
          <ac:spMkLst>
            <pc:docMk/>
            <pc:sldMk cId="0" sldId="268"/>
            <ac:spMk id="5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07" v="31" actId="27636"/>
          <ac:spMkLst>
            <pc:docMk/>
            <pc:sldMk cId="0" sldId="268"/>
            <ac:spMk id="5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88" v="24" actId="27636"/>
          <ac:spMkLst>
            <pc:docMk/>
            <pc:sldMk cId="0" sldId="268"/>
            <ac:spMk id="5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81" v="22" actId="27636"/>
          <ac:spMkLst>
            <pc:docMk/>
            <pc:sldMk cId="0" sldId="268"/>
            <ac:spMk id="6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93" v="26" actId="27636"/>
          <ac:spMkLst>
            <pc:docMk/>
            <pc:sldMk cId="0" sldId="268"/>
            <ac:spMk id="6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79" v="21" actId="27636"/>
          <ac:spMkLst>
            <pc:docMk/>
            <pc:sldMk cId="0" sldId="268"/>
            <ac:spMk id="6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77" v="20" actId="27636"/>
          <ac:spMkLst>
            <pc:docMk/>
            <pc:sldMk cId="0" sldId="268"/>
            <ac:spMk id="6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90" v="25" actId="27636"/>
          <ac:spMkLst>
            <pc:docMk/>
            <pc:sldMk cId="0" sldId="268"/>
            <ac:spMk id="7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" v="28" actId="27636"/>
          <ac:spMkLst>
            <pc:docMk/>
            <pc:sldMk cId="0" sldId="268"/>
            <ac:spMk id="7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06" v="30" actId="27636"/>
          <ac:spMkLst>
            <pc:docMk/>
            <pc:sldMk cId="0" sldId="268"/>
            <ac:spMk id="7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11" v="32" actId="27636"/>
          <ac:spMkLst>
            <pc:docMk/>
            <pc:sldMk cId="0" sldId="268"/>
            <ac:spMk id="7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17" v="34" actId="27636"/>
          <ac:spMkLst>
            <pc:docMk/>
            <pc:sldMk cId="0" sldId="268"/>
            <ac:spMk id="81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30" v="38" actId="27636"/>
          <ac:spMkLst>
            <pc:docMk/>
            <pc:sldMk cId="0" sldId="268"/>
            <ac:spMk id="8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59" v="48" actId="27636"/>
          <ac:spMkLst>
            <pc:docMk/>
            <pc:sldMk cId="0" sldId="268"/>
            <ac:spMk id="8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36" v="40" actId="27636"/>
          <ac:spMkLst>
            <pc:docMk/>
            <pc:sldMk cId="0" sldId="268"/>
            <ac:spMk id="8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24" v="36" actId="27636"/>
          <ac:spMkLst>
            <pc:docMk/>
            <pc:sldMk cId="0" sldId="268"/>
            <ac:spMk id="9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39" v="41" actId="27636"/>
          <ac:spMkLst>
            <pc:docMk/>
            <pc:sldMk cId="0" sldId="268"/>
            <ac:spMk id="9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48" v="44" actId="27636"/>
          <ac:spMkLst>
            <pc:docMk/>
            <pc:sldMk cId="0" sldId="268"/>
            <ac:spMk id="9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51" v="45" actId="27636"/>
          <ac:spMkLst>
            <pc:docMk/>
            <pc:sldMk cId="0" sldId="268"/>
            <ac:spMk id="9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0.996" v="27" actId="27636"/>
          <ac:spMkLst>
            <pc:docMk/>
            <pc:sldMk cId="0" sldId="268"/>
            <ac:spMk id="10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03" v="29" actId="27636"/>
          <ac:spMkLst>
            <pc:docMk/>
            <pc:sldMk cId="0" sldId="268"/>
            <ac:spMk id="10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62" v="49" actId="27636"/>
          <ac:spMkLst>
            <pc:docMk/>
            <pc:sldMk cId="0" sldId="268"/>
            <ac:spMk id="10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65" v="50" actId="27636"/>
          <ac:spMkLst>
            <pc:docMk/>
            <pc:sldMk cId="0" sldId="268"/>
            <ac:spMk id="10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42" v="42" actId="27636"/>
          <ac:spMkLst>
            <pc:docMk/>
            <pc:sldMk cId="0" sldId="268"/>
            <ac:spMk id="11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14" v="33" actId="27636"/>
          <ac:spMkLst>
            <pc:docMk/>
            <pc:sldMk cId="0" sldId="268"/>
            <ac:spMk id="11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046" v="43" actId="27636"/>
          <ac:spMkLst>
            <pc:docMk/>
            <pc:sldMk cId="0" sldId="268"/>
            <ac:spMk id="115" creationId="{00000000-0000-0000-0000-000000000000}"/>
          </ac:spMkLst>
        </pc:spChg>
      </pc:sldChg>
      <pc:sldChg chg="modSp add mod setBg">
        <pc:chgData name="Eduardo Flores Palacios" userId="b19f6ad770826bc0" providerId="LiveId" clId="{7C01EECD-2A10-401B-8591-6E34CD5C7A73}" dt="2026-08-14T16:09:11.288" v="97" actId="27636"/>
        <pc:sldMkLst>
          <pc:docMk/>
          <pc:sldMk cId="0" sldId="269"/>
        </pc:sldMkLst>
        <pc:spChg chg="mod">
          <ac:chgData name="Eduardo Flores Palacios" userId="b19f6ad770826bc0" providerId="LiveId" clId="{7C01EECD-2A10-401B-8591-6E34CD5C7A73}" dt="2026-08-14T16:09:11.261" v="86" actId="276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63" v="87" actId="2763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66" v="88" actId="2763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32" v="75" actId="2763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13" v="67" actId="2763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23" v="71" actId="2763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19" v="69" actId="2763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14" v="68" actId="27636"/>
          <ac:spMkLst>
            <pc:docMk/>
            <pc:sldMk cId="0" sldId="269"/>
            <ac:spMk id="3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21" v="70" actId="27636"/>
          <ac:spMkLst>
            <pc:docMk/>
            <pc:sldMk cId="0" sldId="269"/>
            <ac:spMk id="3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59" v="85" actId="27636"/>
          <ac:spMkLst>
            <pc:docMk/>
            <pc:sldMk cId="0" sldId="269"/>
            <ac:spMk id="3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41" v="78" actId="27636"/>
          <ac:spMkLst>
            <pc:docMk/>
            <pc:sldMk cId="0" sldId="269"/>
            <ac:spMk id="3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39" v="77" actId="27636"/>
          <ac:spMkLst>
            <pc:docMk/>
            <pc:sldMk cId="0" sldId="269"/>
            <ac:spMk id="4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57" v="84" actId="27636"/>
          <ac:spMkLst>
            <pc:docMk/>
            <pc:sldMk cId="0" sldId="269"/>
            <ac:spMk id="4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46" v="80" actId="27636"/>
          <ac:spMkLst>
            <pc:docMk/>
            <pc:sldMk cId="0" sldId="269"/>
            <ac:spMk id="4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45" v="79" actId="27636"/>
          <ac:spMkLst>
            <pc:docMk/>
            <pc:sldMk cId="0" sldId="269"/>
            <ac:spMk id="4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53" v="82" actId="27636"/>
          <ac:spMkLst>
            <pc:docMk/>
            <pc:sldMk cId="0" sldId="269"/>
            <ac:spMk id="5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38" v="76" actId="27636"/>
          <ac:spMkLst>
            <pc:docMk/>
            <pc:sldMk cId="0" sldId="269"/>
            <ac:spMk id="5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191" v="59" actId="27636"/>
          <ac:spMkLst>
            <pc:docMk/>
            <pc:sldMk cId="0" sldId="269"/>
            <ac:spMk id="5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71" v="90" actId="27636"/>
          <ac:spMkLst>
            <pc:docMk/>
            <pc:sldMk cId="0" sldId="269"/>
            <ac:spMk id="5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55" v="83" actId="27636"/>
          <ac:spMkLst>
            <pc:docMk/>
            <pc:sldMk cId="0" sldId="269"/>
            <ac:spMk id="61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31" v="74" actId="27636"/>
          <ac:spMkLst>
            <pc:docMk/>
            <pc:sldMk cId="0" sldId="269"/>
            <ac:spMk id="6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28" v="73" actId="27636"/>
          <ac:spMkLst>
            <pc:docMk/>
            <pc:sldMk cId="0" sldId="269"/>
            <ac:spMk id="6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49" v="81" actId="27636"/>
          <ac:spMkLst>
            <pc:docMk/>
            <pc:sldMk cId="0" sldId="269"/>
            <ac:spMk id="6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68" v="89" actId="27636"/>
          <ac:spMkLst>
            <pc:docMk/>
            <pc:sldMk cId="0" sldId="269"/>
            <ac:spMk id="7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75" v="91" actId="27636"/>
          <ac:spMkLst>
            <pc:docMk/>
            <pc:sldMk cId="0" sldId="269"/>
            <ac:spMk id="7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81" v="94" actId="27636"/>
          <ac:spMkLst>
            <pc:docMk/>
            <pc:sldMk cId="0" sldId="269"/>
            <ac:spMk id="7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79" v="93" actId="27636"/>
          <ac:spMkLst>
            <pc:docMk/>
            <pc:sldMk cId="0" sldId="269"/>
            <ac:spMk id="7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06" v="64" actId="27636"/>
          <ac:spMkLst>
            <pc:docMk/>
            <pc:sldMk cId="0" sldId="269"/>
            <ac:spMk id="8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08" v="65" actId="27636"/>
          <ac:spMkLst>
            <pc:docMk/>
            <pc:sldMk cId="0" sldId="269"/>
            <ac:spMk id="8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189" v="58" actId="27636"/>
          <ac:spMkLst>
            <pc:docMk/>
            <pc:sldMk cId="0" sldId="269"/>
            <ac:spMk id="8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197" v="61" actId="27636"/>
          <ac:spMkLst>
            <pc:docMk/>
            <pc:sldMk cId="0" sldId="269"/>
            <ac:spMk id="8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10" v="66" actId="27636"/>
          <ac:spMkLst>
            <pc:docMk/>
            <pc:sldMk cId="0" sldId="269"/>
            <ac:spMk id="9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04" v="63" actId="27636"/>
          <ac:spMkLst>
            <pc:docMk/>
            <pc:sldMk cId="0" sldId="269"/>
            <ac:spMk id="9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76" v="92" actId="27636"/>
          <ac:spMkLst>
            <pc:docMk/>
            <pc:sldMk cId="0" sldId="269"/>
            <ac:spMk id="9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01" v="62" actId="27636"/>
          <ac:spMkLst>
            <pc:docMk/>
            <pc:sldMk cId="0" sldId="269"/>
            <ac:spMk id="9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85" v="96" actId="27636"/>
          <ac:spMkLst>
            <pc:docMk/>
            <pc:sldMk cId="0" sldId="269"/>
            <ac:spMk id="10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88" v="97" actId="27636"/>
          <ac:spMkLst>
            <pc:docMk/>
            <pc:sldMk cId="0" sldId="269"/>
            <ac:spMk id="10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83" v="95" actId="27636"/>
          <ac:spMkLst>
            <pc:docMk/>
            <pc:sldMk cId="0" sldId="269"/>
            <ac:spMk id="10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194" v="60" actId="27636"/>
          <ac:spMkLst>
            <pc:docMk/>
            <pc:sldMk cId="0" sldId="269"/>
            <ac:spMk id="10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226" v="72" actId="27636"/>
          <ac:spMkLst>
            <pc:docMk/>
            <pc:sldMk cId="0" sldId="269"/>
            <ac:spMk id="110" creationId="{00000000-0000-0000-0000-000000000000}"/>
          </ac:spMkLst>
        </pc:spChg>
      </pc:sldChg>
      <pc:sldChg chg="modSp add mod setBg">
        <pc:chgData name="Eduardo Flores Palacios" userId="b19f6ad770826bc0" providerId="LiveId" clId="{7C01EECD-2A10-401B-8591-6E34CD5C7A73}" dt="2026-08-14T16:09:11.439" v="148" actId="27636"/>
        <pc:sldMkLst>
          <pc:docMk/>
          <pc:sldMk cId="0" sldId="270"/>
        </pc:sldMkLst>
        <pc:spChg chg="mod">
          <ac:chgData name="Eduardo Flores Palacios" userId="b19f6ad770826bc0" providerId="LiveId" clId="{7C01EECD-2A10-401B-8591-6E34CD5C7A73}" dt="2026-08-14T16:09:11.361" v="117" actId="2763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39" v="109" actId="2763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75" v="123" actId="2763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93" v="129" actId="27636"/>
          <ac:spMkLst>
            <pc:docMk/>
            <pc:sldMk cId="0" sldId="270"/>
            <ac:spMk id="2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22" v="104" actId="27636"/>
          <ac:spMkLst>
            <pc:docMk/>
            <pc:sldMk cId="0" sldId="270"/>
            <ac:spMk id="2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14" v="101" actId="2763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94" v="130" actId="27636"/>
          <ac:spMkLst>
            <pc:docMk/>
            <pc:sldMk cId="0" sldId="270"/>
            <ac:spMk id="3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69" v="120" actId="27636"/>
          <ac:spMkLst>
            <pc:docMk/>
            <pc:sldMk cId="0" sldId="270"/>
            <ac:spMk id="3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59" v="116" actId="27636"/>
          <ac:spMkLst>
            <pc:docMk/>
            <pc:sldMk cId="0" sldId="270"/>
            <ac:spMk id="3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36" v="108" actId="27636"/>
          <ac:spMkLst>
            <pc:docMk/>
            <pc:sldMk cId="0" sldId="270"/>
            <ac:spMk id="3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55" v="114" actId="27636"/>
          <ac:spMkLst>
            <pc:docMk/>
            <pc:sldMk cId="0" sldId="270"/>
            <ac:spMk id="4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32" v="145" actId="27636"/>
          <ac:spMkLst>
            <pc:docMk/>
            <pc:sldMk cId="0" sldId="270"/>
            <ac:spMk id="4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46" v="111" actId="27636"/>
          <ac:spMkLst>
            <pc:docMk/>
            <pc:sldMk cId="0" sldId="270"/>
            <ac:spMk id="4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78" v="124" actId="27636"/>
          <ac:spMkLst>
            <pc:docMk/>
            <pc:sldMk cId="0" sldId="270"/>
            <ac:spMk id="4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64" v="118" actId="27636"/>
          <ac:spMkLst>
            <pc:docMk/>
            <pc:sldMk cId="0" sldId="270"/>
            <ac:spMk id="5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96" v="131" actId="27636"/>
          <ac:spMkLst>
            <pc:docMk/>
            <pc:sldMk cId="0" sldId="270"/>
            <ac:spMk id="5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30" v="144" actId="27636"/>
          <ac:spMkLst>
            <pc:docMk/>
            <pc:sldMk cId="0" sldId="270"/>
            <ac:spMk id="5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24" v="105" actId="27636"/>
          <ac:spMkLst>
            <pc:docMk/>
            <pc:sldMk cId="0" sldId="270"/>
            <ac:spMk id="6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86" v="127" actId="27636"/>
          <ac:spMkLst>
            <pc:docMk/>
            <pc:sldMk cId="0" sldId="270"/>
            <ac:spMk id="6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57" v="115" actId="27636"/>
          <ac:spMkLst>
            <pc:docMk/>
            <pc:sldMk cId="0" sldId="270"/>
            <ac:spMk id="6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04" v="134" actId="27636"/>
          <ac:spMkLst>
            <pc:docMk/>
            <pc:sldMk cId="0" sldId="270"/>
            <ac:spMk id="6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98" v="132" actId="27636"/>
          <ac:spMkLst>
            <pc:docMk/>
            <pc:sldMk cId="0" sldId="270"/>
            <ac:spMk id="7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83" v="126" actId="27636"/>
          <ac:spMkLst>
            <pc:docMk/>
            <pc:sldMk cId="0" sldId="270"/>
            <ac:spMk id="7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42" v="110" actId="27636"/>
          <ac:spMkLst>
            <pc:docMk/>
            <pc:sldMk cId="0" sldId="270"/>
            <ac:spMk id="7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53" v="113" actId="27636"/>
          <ac:spMkLst>
            <pc:docMk/>
            <pc:sldMk cId="0" sldId="270"/>
            <ac:spMk id="7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20" v="103" actId="27636"/>
          <ac:spMkLst>
            <pc:docMk/>
            <pc:sldMk cId="0" sldId="270"/>
            <ac:spMk id="8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66" v="119" actId="27636"/>
          <ac:spMkLst>
            <pc:docMk/>
            <pc:sldMk cId="0" sldId="270"/>
            <ac:spMk id="8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01" v="133" actId="27636"/>
          <ac:spMkLst>
            <pc:docMk/>
            <pc:sldMk cId="0" sldId="270"/>
            <ac:spMk id="8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13" v="138" actId="27636"/>
          <ac:spMkLst>
            <pc:docMk/>
            <pc:sldMk cId="0" sldId="270"/>
            <ac:spMk id="9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07" v="98" actId="27636"/>
          <ac:spMkLst>
            <pc:docMk/>
            <pc:sldMk cId="0" sldId="270"/>
            <ac:spMk id="9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09" v="99" actId="27636"/>
          <ac:spMkLst>
            <pc:docMk/>
            <pc:sldMk cId="0" sldId="270"/>
            <ac:spMk id="9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16" v="102" actId="27636"/>
          <ac:spMkLst>
            <pc:docMk/>
            <pc:sldMk cId="0" sldId="270"/>
            <ac:spMk id="9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71" v="121" actId="27636"/>
          <ac:spMkLst>
            <pc:docMk/>
            <pc:sldMk cId="0" sldId="270"/>
            <ac:spMk id="101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89" v="128" actId="27636"/>
          <ac:spMkLst>
            <pc:docMk/>
            <pc:sldMk cId="0" sldId="270"/>
            <ac:spMk id="10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26" v="106" actId="27636"/>
          <ac:spMkLst>
            <pc:docMk/>
            <pc:sldMk cId="0" sldId="270"/>
            <ac:spMk id="10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80" v="125" actId="27636"/>
          <ac:spMkLst>
            <pc:docMk/>
            <pc:sldMk cId="0" sldId="270"/>
            <ac:spMk id="10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73" v="122" actId="27636"/>
          <ac:spMkLst>
            <pc:docMk/>
            <pc:sldMk cId="0" sldId="270"/>
            <ac:spMk id="11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31" v="107" actId="27636"/>
          <ac:spMkLst>
            <pc:docMk/>
            <pc:sldMk cId="0" sldId="270"/>
            <ac:spMk id="11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06" v="135" actId="27636"/>
          <ac:spMkLst>
            <pc:docMk/>
            <pc:sldMk cId="0" sldId="270"/>
            <ac:spMk id="11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49" v="112" actId="27636"/>
          <ac:spMkLst>
            <pc:docMk/>
            <pc:sldMk cId="0" sldId="270"/>
            <ac:spMk id="11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311" v="100" actId="27636"/>
          <ac:spMkLst>
            <pc:docMk/>
            <pc:sldMk cId="0" sldId="270"/>
            <ac:spMk id="12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16" v="139" actId="27636"/>
          <ac:spMkLst>
            <pc:docMk/>
            <pc:sldMk cId="0" sldId="270"/>
            <ac:spMk id="12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24" v="142" actId="27636"/>
          <ac:spMkLst>
            <pc:docMk/>
            <pc:sldMk cId="0" sldId="270"/>
            <ac:spMk id="12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22" v="141" actId="27636"/>
          <ac:spMkLst>
            <pc:docMk/>
            <pc:sldMk cId="0" sldId="270"/>
            <ac:spMk id="12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11" v="137" actId="27636"/>
          <ac:spMkLst>
            <pc:docMk/>
            <pc:sldMk cId="0" sldId="270"/>
            <ac:spMk id="13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19" v="140" actId="27636"/>
          <ac:spMkLst>
            <pc:docMk/>
            <pc:sldMk cId="0" sldId="270"/>
            <ac:spMk id="13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34" v="146" actId="27636"/>
          <ac:spMkLst>
            <pc:docMk/>
            <pc:sldMk cId="0" sldId="270"/>
            <ac:spMk id="135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27" v="143" actId="27636"/>
          <ac:spMkLst>
            <pc:docMk/>
            <pc:sldMk cId="0" sldId="270"/>
            <ac:spMk id="138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37" v="147" actId="27636"/>
          <ac:spMkLst>
            <pc:docMk/>
            <pc:sldMk cId="0" sldId="270"/>
            <ac:spMk id="140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09" v="136" actId="27636"/>
          <ac:spMkLst>
            <pc:docMk/>
            <pc:sldMk cId="0" sldId="270"/>
            <ac:spMk id="143" creationId="{00000000-0000-0000-0000-000000000000}"/>
          </ac:spMkLst>
        </pc:spChg>
        <pc:spChg chg="mod">
          <ac:chgData name="Eduardo Flores Palacios" userId="b19f6ad770826bc0" providerId="LiveId" clId="{7C01EECD-2A10-401B-8591-6E34CD5C7A73}" dt="2026-08-14T16:09:11.439" v="148" actId="27636"/>
          <ac:spMkLst>
            <pc:docMk/>
            <pc:sldMk cId="0" sldId="270"/>
            <ac:spMk id="14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196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914400"/>
            <a:ext cx="4754880" cy="40782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6263640"/>
            <a:ext cx="12801600" cy="0"/>
          </a:xfrm>
          <a:prstGeom prst="line">
            <a:avLst/>
          </a:prstGeom>
          <a:noFill/>
          <a:ln w="1905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2"/>
          <p:cNvSpPr/>
          <p:nvPr/>
        </p:nvSpPr>
        <p:spPr>
          <a:xfrm>
            <a:off x="914400" y="96012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Integrado 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Indicadores de Planeación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32688" y="239572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Consolidación del universo maestro de indicadores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2688" y="285292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 de depuración, agrupación y función del indicador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7132320" cy="475488"/>
          </a:xfrm>
          <a:prstGeom prst="roundRect">
            <a:avLst/>
          </a:prstGeom>
          <a:solidFill>
            <a:srgbClr val="F4E6EB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Universo maestro: 129 indicadores · 54 familias · 8 agrupaciones temáticas</a:t>
            </a:r>
            <a:endParaRPr lang="en-US" sz="1250" dirty="0"/>
          </a:p>
        </p:txBody>
      </p:sp>
      <p:pic>
        <p:nvPicPr>
          <p:cNvPr id="9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6629400"/>
            <a:ext cx="2468880" cy="12252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69037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| Instituto Municipal de Planeación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Agosto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GENERAL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universo amplio a universo maestro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depuración no fue una reducción mecánica; fue una consolidación técnica para dejar un sistema estratégico y operable.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4"/>
          <p:cNvSpPr/>
          <p:nvPr/>
        </p:nvSpPr>
        <p:spPr>
          <a:xfrm>
            <a:off x="4023360" y="4206240"/>
            <a:ext cx="1463040" cy="0"/>
          </a:xfrm>
          <a:prstGeom prst="line">
            <a:avLst/>
          </a:prstGeom>
          <a:noFill/>
          <a:ln w="29210">
            <a:solidFill>
              <a:srgbClr val="8B0E33"/>
            </a:solidFill>
            <a:prstDash val="solid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9" name="Shape 5"/>
          <p:cNvSpPr/>
          <p:nvPr/>
        </p:nvSpPr>
        <p:spPr>
          <a:xfrm>
            <a:off x="6949440" y="4206240"/>
            <a:ext cx="1463040" cy="0"/>
          </a:xfrm>
          <a:prstGeom prst="line">
            <a:avLst/>
          </a:prstGeom>
          <a:noFill/>
          <a:ln w="29210">
            <a:solidFill>
              <a:srgbClr val="8B0E33"/>
            </a:solidFill>
            <a:prstDash val="solid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10" name="Text 6"/>
          <p:cNvSpPr/>
          <p:nvPr/>
        </p:nvSpPr>
        <p:spPr>
          <a:xfrm>
            <a:off x="1828800" y="3611880"/>
            <a:ext cx="2194560" cy="1143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9DD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amplia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indicadores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486400" y="3611880"/>
            <a:ext cx="1645920" cy="1143000"/>
          </a:xfrm>
          <a:prstGeom prst="roundRect">
            <a:avLst/>
          </a:prstGeom>
          <a:solidFill>
            <a:srgbClr val="F7F1E7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Depuración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agrupación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412480" y="3611880"/>
            <a:ext cx="2057400" cy="1143000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Universo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maestro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828800" y="5257800"/>
            <a:ext cx="8641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pregunta guía cambió de “¿qué indicadores conservar?” a “¿qué información mínima, útil y medible requiere el municipio para decidir y dar seguimiento?”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292840" y="219456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129</a:t>
            </a:r>
            <a:endParaRPr lang="en-US" sz="3400" dirty="0"/>
          </a:p>
        </p:txBody>
      </p:sp>
      <p:sp>
        <p:nvSpPr>
          <p:cNvPr id="15" name="Shape 11"/>
          <p:cNvSpPr/>
          <p:nvPr/>
        </p:nvSpPr>
        <p:spPr>
          <a:xfrm>
            <a:off x="11704320" y="2862072"/>
            <a:ext cx="128016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2"/>
          <p:cNvSpPr/>
          <p:nvPr/>
        </p:nvSpPr>
        <p:spPr>
          <a:xfrm>
            <a:off x="11292840" y="303580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 válidos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1292840" y="37490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4B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3400" dirty="0"/>
          </a:p>
        </p:txBody>
      </p:sp>
      <p:sp>
        <p:nvSpPr>
          <p:cNvPr id="18" name="Shape 14"/>
          <p:cNvSpPr/>
          <p:nvPr/>
        </p:nvSpPr>
        <p:spPr>
          <a:xfrm>
            <a:off x="11704320" y="4416552"/>
            <a:ext cx="1280160" cy="0"/>
          </a:xfrm>
          <a:prstGeom prst="line">
            <a:avLst/>
          </a:prstGeom>
          <a:noFill/>
          <a:ln w="17780">
            <a:solidFill>
              <a:srgbClr val="0A4B4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5"/>
          <p:cNvSpPr/>
          <p:nvPr/>
        </p:nvSpPr>
        <p:spPr>
          <a:xfrm>
            <a:off x="11292840" y="45902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familias temáticas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1292840" y="53035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96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400" dirty="0"/>
          </a:p>
        </p:txBody>
      </p:sp>
      <p:sp>
        <p:nvSpPr>
          <p:cNvPr id="21" name="Shape 17"/>
          <p:cNvSpPr/>
          <p:nvPr/>
        </p:nvSpPr>
        <p:spPr>
          <a:xfrm>
            <a:off x="11704320" y="5971032"/>
            <a:ext cx="1280160" cy="0"/>
          </a:xfrm>
          <a:prstGeom prst="line">
            <a:avLst/>
          </a:prstGeom>
          <a:noFill/>
          <a:ln w="17780">
            <a:solidFill>
              <a:srgbClr val="B8965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18"/>
          <p:cNvSpPr/>
          <p:nvPr/>
        </p:nvSpPr>
        <p:spPr>
          <a:xfrm>
            <a:off x="11292840" y="61447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agrupaciones temáticas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828800" y="6446520"/>
            <a:ext cx="8641080" cy="457200"/>
          </a:xfrm>
          <a:prstGeom prst="roundRect">
            <a:avLst/>
          </a:prstGeom>
          <a:solidFill>
            <a:srgbClr val="F4E6EB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 Contexto  ·  73 Actuación municipal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1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METODOLÓGICA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Once pasos para consolidar el universo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ruta separa identificación, complementación, depuración técnica y cierre del universo maestro.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 sz="3600"/>
          </a:p>
        </p:txBody>
      </p:sp>
      <p:sp>
        <p:nvSpPr>
          <p:cNvPr id="8" name="Text 4"/>
          <p:cNvSpPr/>
          <p:nvPr/>
        </p:nvSpPr>
        <p:spPr>
          <a:xfrm>
            <a:off x="914400" y="19476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BASE DOCUMENTAL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809232" y="2478024"/>
            <a:ext cx="210312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10" name="Shape 6"/>
          <p:cNvSpPr/>
          <p:nvPr/>
        </p:nvSpPr>
        <p:spPr>
          <a:xfrm>
            <a:off x="10171176" y="2478024"/>
            <a:ext cx="210312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11" name="Text 7"/>
          <p:cNvSpPr/>
          <p:nvPr/>
        </p:nvSpPr>
        <p:spPr>
          <a:xfrm>
            <a:off x="3657600" y="205740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Análisis de instrumentos y base inicial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019544" y="205740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Integración y sistematización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381488" y="205740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Homologación y clasificación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914400" y="33192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VACÍOS Y COMPLEMENTACIÓN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490204" y="3849624"/>
            <a:ext cx="210312" cy="0"/>
          </a:xfrm>
          <a:prstGeom prst="line">
            <a:avLst/>
          </a:prstGeom>
          <a:noFill/>
          <a:ln w="15240">
            <a:solidFill>
              <a:srgbClr val="0A4B43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16" name="Text 12"/>
          <p:cNvSpPr/>
          <p:nvPr/>
        </p:nvSpPr>
        <p:spPr>
          <a:xfrm>
            <a:off x="3657600" y="3429000"/>
            <a:ext cx="483260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Coincidencias, redundancias y vacíos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700516" y="3429000"/>
            <a:ext cx="4832604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Complementación dirigida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14400" y="4507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ORGANIZACIÓN Y DISEÑO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09232" y="5038344"/>
            <a:ext cx="210312" cy="0"/>
          </a:xfrm>
          <a:prstGeom prst="line">
            <a:avLst/>
          </a:prstGeom>
          <a:noFill/>
          <a:ln w="15240">
            <a:solidFill>
              <a:srgbClr val="B8965E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20" name="Shape 16"/>
          <p:cNvSpPr/>
          <p:nvPr/>
        </p:nvSpPr>
        <p:spPr>
          <a:xfrm>
            <a:off x="10171176" y="5038344"/>
            <a:ext cx="210312" cy="0"/>
          </a:xfrm>
          <a:prstGeom prst="line">
            <a:avLst/>
          </a:prstGeom>
          <a:noFill/>
          <a:ln w="15240">
            <a:solidFill>
              <a:srgbClr val="B8965E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21" name="Text 17"/>
          <p:cNvSpPr/>
          <p:nvPr/>
        </p:nvSpPr>
        <p:spPr>
          <a:xfrm>
            <a:off x="3657600" y="46177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Agrupaciones y familias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019544" y="46177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Análisis integral por familia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381488" y="46177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Selección y desarrollo técnico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914400" y="5879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B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VERIFICACIÓN Y CIERRE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809232" y="6409944"/>
            <a:ext cx="210312" cy="0"/>
          </a:xfrm>
          <a:prstGeom prst="line">
            <a:avLst/>
          </a:prstGeom>
          <a:noFill/>
          <a:ln w="15240">
            <a:solidFill>
              <a:srgbClr val="EB6B2C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26" name="Shape 22"/>
          <p:cNvSpPr/>
          <p:nvPr/>
        </p:nvSpPr>
        <p:spPr>
          <a:xfrm>
            <a:off x="10171176" y="6409944"/>
            <a:ext cx="210312" cy="0"/>
          </a:xfrm>
          <a:prstGeom prst="line">
            <a:avLst/>
          </a:prstGeom>
          <a:noFill/>
          <a:ln w="15240">
            <a:solidFill>
              <a:srgbClr val="EB6B2C"/>
            </a:solidFill>
            <a:prstDash val="solid"/>
            <a:tailEnd type="triangle"/>
          </a:ln>
        </p:spPr>
        <p:txBody>
          <a:bodyPr/>
          <a:lstStyle/>
          <a:p>
            <a:endParaRPr lang="es-MX" sz="3600"/>
          </a:p>
        </p:txBody>
      </p:sp>
      <p:sp>
        <p:nvSpPr>
          <p:cNvPr id="27" name="Text 23"/>
          <p:cNvSpPr/>
          <p:nvPr/>
        </p:nvSpPr>
        <p:spPr>
          <a:xfrm>
            <a:off x="3657600" y="59893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Factibilidad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019544" y="59893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Función del Indicador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10381488" y="5989320"/>
            <a:ext cx="315163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Consolidación del universo maestro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914400" y="7132320"/>
            <a:ext cx="1261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ejecutiva: cada paso acota el universo sin perder trazabilidad ni capacidad de explicación.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8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DE INFORMACIÓN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Complementar no significa acumular indicadores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se fortaleció con fuentes dirigidas para cubrir vacíos concretos y mejorar mediciones existentes.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4"/>
          <p:cNvSpPr/>
          <p:nvPr/>
        </p:nvSpPr>
        <p:spPr>
          <a:xfrm>
            <a:off x="4251960" y="3703320"/>
            <a:ext cx="10972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9" name="Shape 5"/>
          <p:cNvSpPr/>
          <p:nvPr/>
        </p:nvSpPr>
        <p:spPr>
          <a:xfrm>
            <a:off x="7360920" y="3703320"/>
            <a:ext cx="0" cy="0"/>
          </a:xfrm>
          <a:prstGeom prst="line">
            <a:avLst/>
          </a:prstGeom>
          <a:noFill/>
          <a:ln w="15240">
            <a:solidFill>
              <a:srgbClr val="0A4B4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10" name="Shape 6"/>
          <p:cNvSpPr/>
          <p:nvPr/>
        </p:nvSpPr>
        <p:spPr>
          <a:xfrm>
            <a:off x="5806440" y="5230368"/>
            <a:ext cx="0" cy="0"/>
          </a:xfrm>
          <a:prstGeom prst="line">
            <a:avLst/>
          </a:prstGeom>
          <a:noFill/>
          <a:ln w="15240">
            <a:solidFill>
              <a:srgbClr val="B896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11" name="Text 7"/>
          <p:cNvSpPr/>
          <p:nvPr/>
        </p:nvSpPr>
        <p:spPr>
          <a:xfrm>
            <a:off x="1005840" y="2788920"/>
            <a:ext cx="3657600" cy="1965960"/>
          </a:xfrm>
          <a:prstGeom prst="roundRect">
            <a:avLst/>
          </a:prstGeom>
          <a:solidFill>
            <a:srgbClr val="F4E6EB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Instrumentos municipales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planeación base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PGM · PMD 2050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PMDUOET · PIMUS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966960" y="2788920"/>
            <a:ext cx="3657600" cy="1965960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y registros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municipales especializados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de Riesgos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PMPGIRSU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administrativos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34840" y="5230368"/>
            <a:ext cx="5760720" cy="1463040"/>
          </a:xfrm>
          <a:prstGeom prst="roundRect">
            <a:avLst/>
          </a:prstGeom>
          <a:solidFill>
            <a:srgbClr val="F7F1E7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externas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referencia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IMCO · AVGM · SINDES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INEGI · INAFED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SEIEG · CONEVAL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73168" y="2926080"/>
            <a:ext cx="5074920" cy="1234440"/>
          </a:xfrm>
          <a:prstGeom prst="roundRect">
            <a:avLst/>
          </a:prstGeom>
          <a:solidFill>
            <a:srgbClr val="8B0E33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Universo maestro del SIIP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trazabilidad y pertinencia municipal</a:t>
            </a: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097280" y="6995160"/>
            <a:ext cx="1243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incorporación: solo se integraron elementos que cubrían un vacío, mejoraban una medición o fortalecían una función municipal relevante.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3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TÉCNICO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fue solo selección: también hubo construcción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procedencia de los indicadores muestra qué se conservó y qué requirió intervención técnica.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1143000" y="23134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Existentes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91840" y="2331720"/>
            <a:ext cx="5342021" cy="347472"/>
          </a:xfrm>
          <a:prstGeom prst="rect">
            <a:avLst/>
          </a:prstGeom>
          <a:solidFill>
            <a:srgbClr val="0A4B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2000"/>
          </a:p>
        </p:txBody>
      </p:sp>
      <p:sp>
        <p:nvSpPr>
          <p:cNvPr id="10" name="Text 6"/>
          <p:cNvSpPr/>
          <p:nvPr/>
        </p:nvSpPr>
        <p:spPr>
          <a:xfrm>
            <a:off x="8942832" y="229514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91840" y="27614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conservan una medición ya identificada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43000" y="32735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Reformulados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291840" y="3291840"/>
            <a:ext cx="2382252" cy="347472"/>
          </a:xfrm>
          <a:prstGeom prst="rect">
            <a:avLst/>
          </a:prstGeom>
          <a:solidFill>
            <a:srgbClr val="8B0E3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2000"/>
          </a:p>
        </p:txBody>
      </p:sp>
      <p:sp>
        <p:nvSpPr>
          <p:cNvPr id="14" name="Text 10"/>
          <p:cNvSpPr/>
          <p:nvPr/>
        </p:nvSpPr>
        <p:spPr>
          <a:xfrm>
            <a:off x="8942832" y="325526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91840" y="37216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ajustan definición, alcance o factibilidad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43000" y="42336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Integrados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291840" y="4251960"/>
            <a:ext cx="794084" cy="347472"/>
          </a:xfrm>
          <a:prstGeom prst="rect">
            <a:avLst/>
          </a:prstGeom>
          <a:solidFill>
            <a:srgbClr val="B8965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2000"/>
          </a:p>
        </p:txBody>
      </p:sp>
      <p:sp>
        <p:nvSpPr>
          <p:cNvPr id="18" name="Text 14"/>
          <p:cNvSpPr/>
          <p:nvPr/>
        </p:nvSpPr>
        <p:spPr>
          <a:xfrm>
            <a:off x="8942832" y="421538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9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91840" y="4681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combinan mediciones relacionadas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43000" y="519379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Nuevos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291840" y="5212080"/>
            <a:ext cx="794084" cy="347472"/>
          </a:xfrm>
          <a:prstGeom prst="rect">
            <a:avLst/>
          </a:prstGeom>
          <a:solidFill>
            <a:srgbClr val="EB6B2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MX" sz="2000"/>
          </a:p>
        </p:txBody>
      </p:sp>
      <p:sp>
        <p:nvSpPr>
          <p:cNvPr id="22" name="Text 18"/>
          <p:cNvSpPr/>
          <p:nvPr/>
        </p:nvSpPr>
        <p:spPr>
          <a:xfrm>
            <a:off x="8942832" y="517550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291840" y="564184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atienden vacíos no cubiertos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555480" y="2423160"/>
            <a:ext cx="3337560" cy="1051560"/>
          </a:xfrm>
          <a:prstGeom prst="roundRect">
            <a:avLst/>
          </a:prstGeom>
          <a:solidFill>
            <a:srgbClr val="F4E6EB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 de 129 indicadores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implican intervención técnica propia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0131552" y="37490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43 % aprox.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9555480" y="441655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Reformulación, integración o diseño de nuevas mediciones.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463040" y="6903720"/>
            <a:ext cx="1170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trazabilidad se mantiene mediante Procedencia e ID(s) de origen: permite explicar de dónde viene cada indicador y por qué cambió.</a:t>
            </a:r>
            <a:endParaRPr lang="en-US" sz="1420" dirty="0"/>
          </a:p>
        </p:txBody>
      </p:sp>
      <p:sp>
        <p:nvSpPr>
          <p:cNvPr id="28" name="Shape 24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ppt_extract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TEMÁTICA Y FAMILIA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96012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2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niveles para ordenar el SIIP: lectura ejecutiva y análisis específico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10424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agrupación temática organiza grandes ámbitos; la familia delimita el fenómeno, servicio o función que se analiza.</a:t>
            </a:r>
            <a:endParaRPr lang="en-US" sz="132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18288"/>
          </a:xfrm>
          <a:prstGeom prst="rect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4"/>
          <p:cNvSpPr/>
          <p:nvPr/>
        </p:nvSpPr>
        <p:spPr>
          <a:xfrm>
            <a:off x="1005840" y="1865376"/>
            <a:ext cx="1005840" cy="438912"/>
          </a:xfrm>
          <a:prstGeom prst="roundRect">
            <a:avLst>
              <a:gd name="adj" fmla="val 208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5"/>
          <p:cNvSpPr/>
          <p:nvPr/>
        </p:nvSpPr>
        <p:spPr>
          <a:xfrm>
            <a:off x="1060704" y="1883664"/>
            <a:ext cx="89611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176272" y="1892808"/>
            <a:ext cx="320040" cy="384048"/>
          </a:xfrm>
          <a:prstGeom prst="chevron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7"/>
          <p:cNvSpPr/>
          <p:nvPr/>
        </p:nvSpPr>
        <p:spPr>
          <a:xfrm>
            <a:off x="2724912" y="1865376"/>
            <a:ext cx="2606040" cy="438912"/>
          </a:xfrm>
          <a:prstGeom prst="roundRect">
            <a:avLst>
              <a:gd name="adj" fmla="val 20833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8"/>
          <p:cNvSpPr/>
          <p:nvPr/>
        </p:nvSpPr>
        <p:spPr>
          <a:xfrm>
            <a:off x="2779776" y="1883664"/>
            <a:ext cx="249631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TEMÁTICA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532120" y="1892808"/>
            <a:ext cx="320040" cy="384048"/>
          </a:xfrm>
          <a:prstGeom prst="chevron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0"/>
          <p:cNvSpPr/>
          <p:nvPr/>
        </p:nvSpPr>
        <p:spPr>
          <a:xfrm>
            <a:off x="6080760" y="1865376"/>
            <a:ext cx="1508760" cy="438912"/>
          </a:xfrm>
          <a:prstGeom prst="roundRect">
            <a:avLst>
              <a:gd name="adj" fmla="val 20833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1"/>
          <p:cNvSpPr/>
          <p:nvPr/>
        </p:nvSpPr>
        <p:spPr>
          <a:xfrm>
            <a:off x="6135624" y="1883664"/>
            <a:ext cx="139903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818120" y="1892808"/>
            <a:ext cx="320040" cy="384048"/>
          </a:xfrm>
          <a:prstGeom prst="chevron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3"/>
          <p:cNvSpPr/>
          <p:nvPr/>
        </p:nvSpPr>
        <p:spPr>
          <a:xfrm>
            <a:off x="8366760" y="1865376"/>
            <a:ext cx="1600200" cy="438912"/>
          </a:xfrm>
          <a:prstGeom prst="roundRect">
            <a:avLst>
              <a:gd name="adj" fmla="val 20833"/>
            </a:avLst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8421624" y="1883664"/>
            <a:ext cx="149047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INDICADORES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10241280" y="1929384"/>
            <a:ext cx="30175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20" i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+ Actuación municipal</a:t>
            </a:r>
            <a:endParaRPr lang="en-US" sz="1220" dirty="0"/>
          </a:p>
        </p:txBody>
      </p:sp>
      <p:sp>
        <p:nvSpPr>
          <p:cNvPr id="20" name="Shape 16"/>
          <p:cNvSpPr/>
          <p:nvPr/>
        </p:nvSpPr>
        <p:spPr>
          <a:xfrm>
            <a:off x="822960" y="2606040"/>
            <a:ext cx="6053328" cy="3090672"/>
          </a:xfrm>
          <a:prstGeom prst="roundRect">
            <a:avLst>
              <a:gd name="adj" fmla="val 2367"/>
            </a:avLst>
          </a:prstGeom>
          <a:solidFill>
            <a:srgbClr val="F8F3F5"/>
          </a:solidFill>
          <a:ln w="15240">
            <a:solidFill>
              <a:srgbClr val="D9B6C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7"/>
          <p:cNvSpPr/>
          <p:nvPr/>
        </p:nvSpPr>
        <p:spPr>
          <a:xfrm>
            <a:off x="7452360" y="2606040"/>
            <a:ext cx="6053328" cy="3090672"/>
          </a:xfrm>
          <a:prstGeom prst="roundRect">
            <a:avLst>
              <a:gd name="adj" fmla="val 2367"/>
            </a:avLst>
          </a:prstGeom>
          <a:solidFill>
            <a:srgbClr val="F8F4EA"/>
          </a:solidFill>
          <a:ln w="15240">
            <a:solidFill>
              <a:srgbClr val="DEC89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18"/>
          <p:cNvSpPr/>
          <p:nvPr/>
        </p:nvSpPr>
        <p:spPr>
          <a:xfrm>
            <a:off x="1170432" y="2852928"/>
            <a:ext cx="438912" cy="438912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1170432" y="2862072"/>
            <a:ext cx="43891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755648" y="2816352"/>
            <a:ext cx="40233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AGRUPACIÓN TEMÁTICA</a:t>
            </a:r>
            <a:endParaRPr lang="en-US" sz="1700" dirty="0"/>
          </a:p>
        </p:txBody>
      </p:sp>
      <p:sp>
        <p:nvSpPr>
          <p:cNvPr id="25" name="Text 21"/>
          <p:cNvSpPr/>
          <p:nvPr/>
        </p:nvSpPr>
        <p:spPr>
          <a:xfrm>
            <a:off x="1755648" y="3127248"/>
            <a:ext cx="43891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nivel de lectura ejecutiva.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1005840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Responde:</a:t>
            </a:r>
            <a:endParaRPr lang="en-US" sz="1080" dirty="0"/>
          </a:p>
        </p:txBody>
      </p:sp>
      <p:sp>
        <p:nvSpPr>
          <p:cNvPr id="27" name="Text 23"/>
          <p:cNvSpPr/>
          <p:nvPr/>
        </p:nvSpPr>
        <p:spPr>
          <a:xfrm>
            <a:off x="1920240" y="3547872"/>
            <a:ext cx="43434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gran ámbito de gestión o desarrollo municipal estamos?</a:t>
            </a:r>
            <a:endParaRPr lang="en-US" sz="1350" dirty="0"/>
          </a:p>
        </p:txBody>
      </p:sp>
      <p:sp>
        <p:nvSpPr>
          <p:cNvPr id="28" name="Shape 24"/>
          <p:cNvSpPr/>
          <p:nvPr/>
        </p:nvSpPr>
        <p:spPr>
          <a:xfrm>
            <a:off x="1051560" y="4233672"/>
            <a:ext cx="82296" cy="8229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5"/>
          <p:cNvSpPr/>
          <p:nvPr/>
        </p:nvSpPr>
        <p:spPr>
          <a:xfrm>
            <a:off x="1197864" y="4160520"/>
            <a:ext cx="4425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 grandes temas estratégicos.</a:t>
            </a:r>
            <a:endParaRPr lang="en-US" sz="1060" dirty="0"/>
          </a:p>
        </p:txBody>
      </p:sp>
      <p:sp>
        <p:nvSpPr>
          <p:cNvPr id="30" name="Shape 26"/>
          <p:cNvSpPr/>
          <p:nvPr/>
        </p:nvSpPr>
        <p:spPr>
          <a:xfrm>
            <a:off x="1051560" y="4590288"/>
            <a:ext cx="82296" cy="8229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7"/>
          <p:cNvSpPr/>
          <p:nvPr/>
        </p:nvSpPr>
        <p:spPr>
          <a:xfrm>
            <a:off x="1197864" y="4517136"/>
            <a:ext cx="4425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 navegación, reportes y visión ejecutiva.</a:t>
            </a:r>
            <a:endParaRPr lang="en-US" sz="1060" dirty="0"/>
          </a:p>
        </p:txBody>
      </p:sp>
      <p:sp>
        <p:nvSpPr>
          <p:cNvPr id="32" name="Shape 28"/>
          <p:cNvSpPr/>
          <p:nvPr/>
        </p:nvSpPr>
        <p:spPr>
          <a:xfrm>
            <a:off x="1051560" y="4946904"/>
            <a:ext cx="82296" cy="8229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29"/>
          <p:cNvSpPr/>
          <p:nvPr/>
        </p:nvSpPr>
        <p:spPr>
          <a:xfrm>
            <a:off x="1197864" y="4873752"/>
            <a:ext cx="442569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 familias con afinidad sustantiva.</a:t>
            </a:r>
            <a:endParaRPr lang="en-US" sz="1060" dirty="0"/>
          </a:p>
        </p:txBody>
      </p:sp>
      <p:sp>
        <p:nvSpPr>
          <p:cNvPr id="34" name="Text 30"/>
          <p:cNvSpPr/>
          <p:nvPr/>
        </p:nvSpPr>
        <p:spPr>
          <a:xfrm>
            <a:off x="1051560" y="5266944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Ejemplos:</a:t>
            </a:r>
            <a:endParaRPr lang="en-US" sz="1060" dirty="0"/>
          </a:p>
        </p:txBody>
      </p:sp>
      <p:sp>
        <p:nvSpPr>
          <p:cNvPr id="35" name="Shape 31"/>
          <p:cNvSpPr/>
          <p:nvPr/>
        </p:nvSpPr>
        <p:spPr>
          <a:xfrm>
            <a:off x="1828800" y="5230368"/>
            <a:ext cx="896112" cy="256032"/>
          </a:xfrm>
          <a:prstGeom prst="roundRect">
            <a:avLst>
              <a:gd name="adj" fmla="val 35714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2"/>
          <p:cNvSpPr/>
          <p:nvPr/>
        </p:nvSpPr>
        <p:spPr>
          <a:xfrm>
            <a:off x="1883664" y="5248656"/>
            <a:ext cx="7863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880" dirty="0"/>
          </a:p>
        </p:txBody>
      </p:sp>
      <p:sp>
        <p:nvSpPr>
          <p:cNvPr id="37" name="Shape 33"/>
          <p:cNvSpPr/>
          <p:nvPr/>
        </p:nvSpPr>
        <p:spPr>
          <a:xfrm>
            <a:off x="2834640" y="5230368"/>
            <a:ext cx="896112" cy="256032"/>
          </a:xfrm>
          <a:prstGeom prst="roundRect">
            <a:avLst>
              <a:gd name="adj" fmla="val 35714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4"/>
          <p:cNvSpPr/>
          <p:nvPr/>
        </p:nvSpPr>
        <p:spPr>
          <a:xfrm>
            <a:off x="2889504" y="5248656"/>
            <a:ext cx="7863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Bienestar</a:t>
            </a:r>
            <a:endParaRPr lang="en-US" sz="880" dirty="0"/>
          </a:p>
        </p:txBody>
      </p:sp>
      <p:sp>
        <p:nvSpPr>
          <p:cNvPr id="39" name="Shape 35"/>
          <p:cNvSpPr/>
          <p:nvPr/>
        </p:nvSpPr>
        <p:spPr>
          <a:xfrm>
            <a:off x="3840480" y="5230368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6"/>
          <p:cNvSpPr/>
          <p:nvPr/>
        </p:nvSpPr>
        <p:spPr>
          <a:xfrm>
            <a:off x="3895344" y="5248656"/>
            <a:ext cx="121615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públicos</a:t>
            </a:r>
            <a:endParaRPr lang="en-US" sz="880" dirty="0"/>
          </a:p>
        </p:txBody>
      </p:sp>
      <p:sp>
        <p:nvSpPr>
          <p:cNvPr id="41" name="Shape 37"/>
          <p:cNvSpPr/>
          <p:nvPr/>
        </p:nvSpPr>
        <p:spPr>
          <a:xfrm>
            <a:off x="5276088" y="5230368"/>
            <a:ext cx="804672" cy="256032"/>
          </a:xfrm>
          <a:prstGeom prst="roundRect">
            <a:avLst>
              <a:gd name="adj" fmla="val 35714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8"/>
          <p:cNvSpPr/>
          <p:nvPr/>
        </p:nvSpPr>
        <p:spPr>
          <a:xfrm>
            <a:off x="5330952" y="5248656"/>
            <a:ext cx="69494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Finanzas</a:t>
            </a:r>
            <a:endParaRPr lang="en-US" sz="880" dirty="0"/>
          </a:p>
        </p:txBody>
      </p:sp>
      <p:sp>
        <p:nvSpPr>
          <p:cNvPr id="43" name="Shape 39"/>
          <p:cNvSpPr/>
          <p:nvPr/>
        </p:nvSpPr>
        <p:spPr>
          <a:xfrm>
            <a:off x="7799832" y="2852928"/>
            <a:ext cx="438912" cy="438912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0"/>
          <p:cNvSpPr/>
          <p:nvPr/>
        </p:nvSpPr>
        <p:spPr>
          <a:xfrm>
            <a:off x="7799832" y="2862072"/>
            <a:ext cx="438912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8385048" y="2816352"/>
            <a:ext cx="25603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B99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</a:t>
            </a:r>
            <a:endParaRPr lang="en-US" sz="1700" dirty="0"/>
          </a:p>
        </p:txBody>
      </p:sp>
      <p:sp>
        <p:nvSpPr>
          <p:cNvPr id="46" name="Text 42"/>
          <p:cNvSpPr/>
          <p:nvPr/>
        </p:nvSpPr>
        <p:spPr>
          <a:xfrm>
            <a:off x="8385048" y="3127248"/>
            <a:ext cx="448056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principal de análisis del indicador.</a:t>
            </a:r>
            <a:endParaRPr lang="en-US" sz="1150" dirty="0"/>
          </a:p>
        </p:txBody>
      </p:sp>
      <p:sp>
        <p:nvSpPr>
          <p:cNvPr id="47" name="Text 43"/>
          <p:cNvSpPr/>
          <p:nvPr/>
        </p:nvSpPr>
        <p:spPr>
          <a:xfrm>
            <a:off x="7635240" y="3593592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B99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Responde:</a:t>
            </a:r>
            <a:endParaRPr lang="en-US" sz="1080" dirty="0"/>
          </a:p>
        </p:txBody>
      </p:sp>
      <p:sp>
        <p:nvSpPr>
          <p:cNvPr id="48" name="Text 44"/>
          <p:cNvSpPr/>
          <p:nvPr/>
        </p:nvSpPr>
        <p:spPr>
          <a:xfrm>
            <a:off x="8549640" y="3547872"/>
            <a:ext cx="43891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fenómeno, servicio o función específica queremos observar?</a:t>
            </a:r>
            <a:endParaRPr lang="en-US" sz="1350" dirty="0"/>
          </a:p>
        </p:txBody>
      </p:sp>
      <p:sp>
        <p:nvSpPr>
          <p:cNvPr id="49" name="Shape 45"/>
          <p:cNvSpPr/>
          <p:nvPr/>
        </p:nvSpPr>
        <p:spPr>
          <a:xfrm>
            <a:off x="7680960" y="4233672"/>
            <a:ext cx="82296" cy="8229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6"/>
          <p:cNvSpPr/>
          <p:nvPr/>
        </p:nvSpPr>
        <p:spPr>
          <a:xfrm>
            <a:off x="7827264" y="4160520"/>
            <a:ext cx="46085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Reúne indicadores que explican un mismo tema.</a:t>
            </a:r>
            <a:endParaRPr lang="en-US" sz="1060" dirty="0"/>
          </a:p>
        </p:txBody>
      </p:sp>
      <p:sp>
        <p:nvSpPr>
          <p:cNvPr id="51" name="Shape 47"/>
          <p:cNvSpPr/>
          <p:nvPr/>
        </p:nvSpPr>
        <p:spPr>
          <a:xfrm>
            <a:off x="7680960" y="4590288"/>
            <a:ext cx="82296" cy="8229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8"/>
          <p:cNvSpPr/>
          <p:nvPr/>
        </p:nvSpPr>
        <p:spPr>
          <a:xfrm>
            <a:off x="7827264" y="4517136"/>
            <a:ext cx="46085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duplicidades y mediciones repetidas.</a:t>
            </a:r>
            <a:endParaRPr lang="en-US" sz="1060" dirty="0"/>
          </a:p>
        </p:txBody>
      </p:sp>
      <p:sp>
        <p:nvSpPr>
          <p:cNvPr id="53" name="Shape 49"/>
          <p:cNvSpPr/>
          <p:nvPr/>
        </p:nvSpPr>
        <p:spPr>
          <a:xfrm>
            <a:off x="7680960" y="4946904"/>
            <a:ext cx="82296" cy="8229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50"/>
          <p:cNvSpPr/>
          <p:nvPr/>
        </p:nvSpPr>
        <p:spPr>
          <a:xfrm>
            <a:off x="7827264" y="4873752"/>
            <a:ext cx="4608576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Conecta Contexto con Actuación municipal.</a:t>
            </a:r>
            <a:endParaRPr lang="en-US" sz="1060" dirty="0"/>
          </a:p>
        </p:txBody>
      </p:sp>
      <p:sp>
        <p:nvSpPr>
          <p:cNvPr id="55" name="Text 51"/>
          <p:cNvSpPr/>
          <p:nvPr/>
        </p:nvSpPr>
        <p:spPr>
          <a:xfrm>
            <a:off x="7680960" y="5266944"/>
            <a:ext cx="74980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B998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Ejemplos:</a:t>
            </a:r>
            <a:endParaRPr lang="en-US" sz="1060" dirty="0"/>
          </a:p>
        </p:txBody>
      </p:sp>
      <p:sp>
        <p:nvSpPr>
          <p:cNvPr id="56" name="Shape 52"/>
          <p:cNvSpPr/>
          <p:nvPr/>
        </p:nvSpPr>
        <p:spPr>
          <a:xfrm>
            <a:off x="8458200" y="5230368"/>
            <a:ext cx="1051560" cy="256032"/>
          </a:xfrm>
          <a:prstGeom prst="roundRect">
            <a:avLst>
              <a:gd name="adj" fmla="val 35714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3"/>
          <p:cNvSpPr/>
          <p:nvPr/>
        </p:nvSpPr>
        <p:spPr>
          <a:xfrm>
            <a:off x="8513064" y="5248656"/>
            <a:ext cx="94183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Agua potable</a:t>
            </a:r>
            <a:endParaRPr lang="en-US" sz="880" dirty="0"/>
          </a:p>
        </p:txBody>
      </p:sp>
      <p:sp>
        <p:nvSpPr>
          <p:cNvPr id="58" name="Shape 54"/>
          <p:cNvSpPr/>
          <p:nvPr/>
        </p:nvSpPr>
        <p:spPr>
          <a:xfrm>
            <a:off x="9619488" y="5230368"/>
            <a:ext cx="841248" cy="256032"/>
          </a:xfrm>
          <a:prstGeom prst="roundRect">
            <a:avLst>
              <a:gd name="adj" fmla="val 35714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5"/>
          <p:cNvSpPr/>
          <p:nvPr/>
        </p:nvSpPr>
        <p:spPr>
          <a:xfrm>
            <a:off x="9674352" y="5248656"/>
            <a:ext cx="7315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Residuos</a:t>
            </a:r>
            <a:endParaRPr lang="en-US" sz="880" dirty="0"/>
          </a:p>
        </p:txBody>
      </p:sp>
      <p:sp>
        <p:nvSpPr>
          <p:cNvPr id="60" name="Shape 56"/>
          <p:cNvSpPr/>
          <p:nvPr/>
        </p:nvSpPr>
        <p:spPr>
          <a:xfrm>
            <a:off x="10570464" y="5230368"/>
            <a:ext cx="932688" cy="256032"/>
          </a:xfrm>
          <a:prstGeom prst="roundRect">
            <a:avLst>
              <a:gd name="adj" fmla="val 35714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7"/>
          <p:cNvSpPr/>
          <p:nvPr/>
        </p:nvSpPr>
        <p:spPr>
          <a:xfrm>
            <a:off x="10625328" y="5248656"/>
            <a:ext cx="8229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Alumbrado</a:t>
            </a:r>
            <a:endParaRPr lang="en-US" sz="880" dirty="0"/>
          </a:p>
        </p:txBody>
      </p:sp>
      <p:sp>
        <p:nvSpPr>
          <p:cNvPr id="62" name="Shape 58"/>
          <p:cNvSpPr/>
          <p:nvPr/>
        </p:nvSpPr>
        <p:spPr>
          <a:xfrm>
            <a:off x="11612880" y="5230368"/>
            <a:ext cx="896112" cy="256032"/>
          </a:xfrm>
          <a:prstGeom prst="roundRect">
            <a:avLst>
              <a:gd name="adj" fmla="val 35714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3" name="Text 59"/>
          <p:cNvSpPr/>
          <p:nvPr/>
        </p:nvSpPr>
        <p:spPr>
          <a:xfrm>
            <a:off x="11667744" y="5248656"/>
            <a:ext cx="786384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Panteones</a:t>
            </a:r>
            <a:endParaRPr lang="en-US" sz="880" dirty="0"/>
          </a:p>
        </p:txBody>
      </p:sp>
      <p:sp>
        <p:nvSpPr>
          <p:cNvPr id="64" name="Shape 60"/>
          <p:cNvSpPr/>
          <p:nvPr/>
        </p:nvSpPr>
        <p:spPr>
          <a:xfrm>
            <a:off x="1051560" y="6217920"/>
            <a:ext cx="12527280" cy="868680"/>
          </a:xfrm>
          <a:prstGeom prst="roundRect">
            <a:avLst>
              <a:gd name="adj" fmla="val 8421"/>
            </a:avLst>
          </a:prstGeom>
          <a:solidFill>
            <a:srgbClr val="F7F7F8"/>
          </a:solidFill>
          <a:ln w="12700">
            <a:solidFill>
              <a:srgbClr val="D9DDE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Text 61"/>
          <p:cNvSpPr/>
          <p:nvPr/>
        </p:nvSpPr>
        <p:spPr>
          <a:xfrm>
            <a:off x="1325880" y="6382512"/>
            <a:ext cx="214884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EN EL SISTEMA</a:t>
            </a:r>
            <a:endParaRPr lang="en-US" sz="1100" dirty="0"/>
          </a:p>
        </p:txBody>
      </p:sp>
      <p:sp>
        <p:nvSpPr>
          <p:cNvPr id="66" name="Text 62"/>
          <p:cNvSpPr/>
          <p:nvPr/>
        </p:nvSpPr>
        <p:spPr>
          <a:xfrm>
            <a:off x="3703320" y="6318504"/>
            <a:ext cx="88696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B26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agrupación temática da la lectura ejecutiva; la familia permite el análisis fino y define qué indicadores deben revisarse.</a:t>
            </a:r>
            <a:endParaRPr lang="en-US" sz="1320" dirty="0"/>
          </a:p>
        </p:txBody>
      </p:sp>
      <p:sp>
        <p:nvSpPr>
          <p:cNvPr id="67" name="Text 63"/>
          <p:cNvSpPr/>
          <p:nvPr/>
        </p:nvSpPr>
        <p:spPr>
          <a:xfrm>
            <a:off x="3703320" y="6711696"/>
            <a:ext cx="88696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el SIIP evita una lista aislada de indicadores y organiza la información por temas que apoyan decisiones municipales.</a:t>
            </a:r>
            <a:endParaRPr lang="en-US" sz="1060" dirty="0"/>
          </a:p>
        </p:txBody>
      </p:sp>
      <p:sp>
        <p:nvSpPr>
          <p:cNvPr id="68" name="Shape 64"/>
          <p:cNvSpPr/>
          <p:nvPr/>
        </p:nvSpPr>
        <p:spPr>
          <a:xfrm>
            <a:off x="594360" y="7635240"/>
            <a:ext cx="13441680" cy="18288"/>
          </a:xfrm>
          <a:prstGeom prst="rect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Text 65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7A1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 DEL INDICADOR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y Actuación municipal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columna Función del Indicador define qué papel cumple la medición dentro del SIIP.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960120" y="2103120"/>
            <a:ext cx="5897880" cy="548640"/>
          </a:xfrm>
          <a:prstGeom prst="roundRect">
            <a:avLst/>
          </a:prstGeom>
          <a:solidFill>
            <a:srgbClr val="8B0E33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772400" y="2103120"/>
            <a:ext cx="5897880" cy="548640"/>
          </a:xfrm>
          <a:prstGeom prst="roundRect">
            <a:avLst/>
          </a:prstGeom>
          <a:solidFill>
            <a:srgbClr val="0A4B43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Actuación municipal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097280" y="2971800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condiciones, demandas o problemas del municipio.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3648456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provenir de fuentes externas o registros consolidados.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4325112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exige atribución directa al Ayuntamiento.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097280" y="5001768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dimensionar, priorizar y contextualizar decisiones.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909560" y="2971800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Mide acciones, capacidades, coberturas o cumplimiento municipal.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909560" y="3648456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vincula con servicios, programas, infraestructura u organismos municipales.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909560" y="4325112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tener responsable operativo y posibilidad de actualización.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909560" y="5001768"/>
            <a:ext cx="557784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D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evaluar respuesta y desempeño de la gestión.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187184" y="3822192"/>
            <a:ext cx="256032" cy="0"/>
          </a:xfrm>
          <a:prstGeom prst="line">
            <a:avLst/>
          </a:prstGeom>
          <a:noFill/>
          <a:ln w="21590">
            <a:solidFill>
              <a:srgbClr val="B8965E"/>
            </a:solidFill>
            <a:prstDash val="solid"/>
            <a:tailEnd type="triangle"/>
          </a:ln>
        </p:spPr>
        <p:txBody>
          <a:bodyPr/>
          <a:lstStyle/>
          <a:p>
            <a:endParaRPr lang="es-MX" sz="2400"/>
          </a:p>
        </p:txBody>
      </p:sp>
      <p:sp>
        <p:nvSpPr>
          <p:cNvPr id="19" name="Text 15"/>
          <p:cNvSpPr/>
          <p:nvPr/>
        </p:nvSpPr>
        <p:spPr>
          <a:xfrm>
            <a:off x="4480560" y="5989320"/>
            <a:ext cx="5669280" cy="868680"/>
          </a:xfrm>
          <a:prstGeom prst="roundRect">
            <a:avLst/>
          </a:prstGeom>
          <a:solidFill>
            <a:srgbClr val="F7F1E7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decisión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¿Describe la situación que debe conocerse?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¿O mide lo que el municipio hace, cubre, gestiona o logra?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7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rmat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674"/>
            <a:ext cx="1316736" cy="1207008"/>
          </a:xfrm>
          <a:prstGeom prst="rect">
            <a:avLst/>
          </a:prstGeom>
        </p:spPr>
      </p:pic>
      <p:pic>
        <p:nvPicPr>
          <p:cNvPr id="3" name="Image 1" descr="/mnt/data/format_unzip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28" y="384048"/>
            <a:ext cx="1514246" cy="8010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59152" y="362103"/>
            <a:ext cx="949147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2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 POR AGRUPACIÓN TEMÁTICA</a:t>
            </a:r>
            <a:endParaRPr lang="en-US" sz="2220" dirty="0"/>
          </a:p>
        </p:txBody>
      </p:sp>
      <p:sp>
        <p:nvSpPr>
          <p:cNvPr id="5" name="Text 1"/>
          <p:cNvSpPr/>
          <p:nvPr/>
        </p:nvSpPr>
        <p:spPr>
          <a:xfrm>
            <a:off x="2359152" y="801015"/>
            <a:ext cx="982065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pública, justicia cívica y bienestar social</a:t>
            </a:r>
            <a:endParaRPr lang="en-US" sz="2040" dirty="0"/>
          </a:p>
        </p:txBody>
      </p:sp>
      <p:sp>
        <p:nvSpPr>
          <p:cNvPr id="6" name="Text 2"/>
          <p:cNvSpPr/>
          <p:nvPr/>
        </p:nvSpPr>
        <p:spPr>
          <a:xfrm>
            <a:off x="2359152" y="1338682"/>
            <a:ext cx="111373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familias e indicadores por los primeros dos ámbitos del universo maestro.</a:t>
            </a:r>
            <a:endParaRPr lang="en-US" sz="1260" dirty="0"/>
          </a:p>
        </p:txBody>
      </p:sp>
      <p:sp>
        <p:nvSpPr>
          <p:cNvPr id="7" name="Shape 3"/>
          <p:cNvSpPr/>
          <p:nvPr/>
        </p:nvSpPr>
        <p:spPr>
          <a:xfrm>
            <a:off x="2359152" y="1645920"/>
            <a:ext cx="186537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" name="Shape 4"/>
          <p:cNvSpPr/>
          <p:nvPr/>
        </p:nvSpPr>
        <p:spPr>
          <a:xfrm>
            <a:off x="603504" y="7680960"/>
            <a:ext cx="1366113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" name="Text 5"/>
          <p:cNvSpPr/>
          <p:nvPr/>
        </p:nvSpPr>
        <p:spPr>
          <a:xfrm>
            <a:off x="603504" y="7845552"/>
            <a:ext cx="460857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4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SIIP Salamanca · Universo maestro de indicadores</a:t>
            </a:r>
            <a:endParaRPr lang="en-US" sz="864" dirty="0"/>
          </a:p>
        </p:txBody>
      </p:sp>
      <p:sp>
        <p:nvSpPr>
          <p:cNvPr id="10" name="Shape 6"/>
          <p:cNvSpPr/>
          <p:nvPr/>
        </p:nvSpPr>
        <p:spPr>
          <a:xfrm>
            <a:off x="8833104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7A1733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" name="Text 7"/>
          <p:cNvSpPr/>
          <p:nvPr/>
        </p:nvSpPr>
        <p:spPr>
          <a:xfrm>
            <a:off x="8953805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403690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agrupaciones</a:t>
            </a:r>
            <a:endParaRPr lang="en-US" sz="804" dirty="0"/>
          </a:p>
        </p:txBody>
      </p:sp>
      <p:sp>
        <p:nvSpPr>
          <p:cNvPr id="13" name="Shape 9"/>
          <p:cNvSpPr/>
          <p:nvPr/>
        </p:nvSpPr>
        <p:spPr>
          <a:xfrm>
            <a:off x="10391241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B9985A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" name="Text 10"/>
          <p:cNvSpPr/>
          <p:nvPr/>
        </p:nvSpPr>
        <p:spPr>
          <a:xfrm>
            <a:off x="10511943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961827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</a:t>
            </a:r>
            <a:endParaRPr lang="en-US" sz="804" dirty="0"/>
          </a:p>
        </p:txBody>
      </p:sp>
      <p:sp>
        <p:nvSpPr>
          <p:cNvPr id="16" name="Shape 12"/>
          <p:cNvSpPr/>
          <p:nvPr/>
        </p:nvSpPr>
        <p:spPr>
          <a:xfrm>
            <a:off x="11949379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0E5A4B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7" name="Text 13"/>
          <p:cNvSpPr/>
          <p:nvPr/>
        </p:nvSpPr>
        <p:spPr>
          <a:xfrm>
            <a:off x="12070080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519965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804" dirty="0"/>
          </a:p>
        </p:txBody>
      </p:sp>
      <p:sp>
        <p:nvSpPr>
          <p:cNvPr id="19" name="Shape 15"/>
          <p:cNvSpPr/>
          <p:nvPr/>
        </p:nvSpPr>
        <p:spPr>
          <a:xfrm>
            <a:off x="822960" y="2084832"/>
            <a:ext cx="8284464" cy="4882896"/>
          </a:xfrm>
          <a:prstGeom prst="roundRect">
            <a:avLst>
              <a:gd name="adj" fmla="val 1236"/>
            </a:avLst>
          </a:prstGeom>
          <a:solidFill>
            <a:srgbClr val="F8EEF2"/>
          </a:solidFill>
          <a:ln w="12700">
            <a:solidFill>
              <a:srgbClr val="7A1733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0" name="Shape 16"/>
          <p:cNvSpPr/>
          <p:nvPr/>
        </p:nvSpPr>
        <p:spPr>
          <a:xfrm>
            <a:off x="899770" y="2161642"/>
            <a:ext cx="8130845" cy="482803"/>
          </a:xfrm>
          <a:prstGeom prst="roundRect">
            <a:avLst>
              <a:gd name="adj" fmla="val 9091"/>
            </a:avLst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1" name="Text 17"/>
          <p:cNvSpPr/>
          <p:nvPr/>
        </p:nvSpPr>
        <p:spPr>
          <a:xfrm>
            <a:off x="1042416" y="2282343"/>
            <a:ext cx="68580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105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Seguridad pública, justicia cívica y protección civil</a:t>
            </a:r>
            <a:endParaRPr lang="en-US" sz="1056" dirty="0"/>
          </a:p>
        </p:txBody>
      </p:sp>
      <p:sp>
        <p:nvSpPr>
          <p:cNvPr id="22" name="Text 18"/>
          <p:cNvSpPr/>
          <p:nvPr/>
        </p:nvSpPr>
        <p:spPr>
          <a:xfrm>
            <a:off x="8097926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680" dirty="0"/>
          </a:p>
        </p:txBody>
      </p:sp>
      <p:sp>
        <p:nvSpPr>
          <p:cNvPr id="23" name="Text 19"/>
          <p:cNvSpPr/>
          <p:nvPr/>
        </p:nvSpPr>
        <p:spPr>
          <a:xfrm>
            <a:off x="8427110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24" name="Shape 20"/>
          <p:cNvSpPr/>
          <p:nvPr/>
        </p:nvSpPr>
        <p:spPr>
          <a:xfrm>
            <a:off x="965607" y="2765146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5" name="Text 21"/>
          <p:cNvSpPr/>
          <p:nvPr/>
        </p:nvSpPr>
        <p:spPr>
          <a:xfrm>
            <a:off x="104241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F01</a:t>
            </a:r>
            <a:endParaRPr lang="en-US" sz="840" dirty="0"/>
          </a:p>
        </p:txBody>
      </p:sp>
      <p:sp>
        <p:nvSpPr>
          <p:cNvPr id="26" name="Text 22"/>
          <p:cNvSpPr/>
          <p:nvPr/>
        </p:nvSpPr>
        <p:spPr>
          <a:xfrm>
            <a:off x="1470355" y="2803551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ciudadana: incidencia delictiva y percepción</a:t>
            </a:r>
            <a:endParaRPr lang="en-US" sz="786" dirty="0"/>
          </a:p>
        </p:txBody>
      </p:sp>
      <p:sp>
        <p:nvSpPr>
          <p:cNvPr id="27" name="Shape 23"/>
          <p:cNvSpPr/>
          <p:nvPr/>
        </p:nvSpPr>
        <p:spPr>
          <a:xfrm>
            <a:off x="8591702" y="2836469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8" name="Text 24"/>
          <p:cNvSpPr/>
          <p:nvPr/>
        </p:nvSpPr>
        <p:spPr>
          <a:xfrm>
            <a:off x="8630107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29" name="Shape 25"/>
          <p:cNvSpPr/>
          <p:nvPr/>
        </p:nvSpPr>
        <p:spPr>
          <a:xfrm>
            <a:off x="965607" y="3136725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0" name="Text 26"/>
          <p:cNvSpPr/>
          <p:nvPr/>
        </p:nvSpPr>
        <p:spPr>
          <a:xfrm>
            <a:off x="1042416" y="321353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F02</a:t>
            </a:r>
            <a:endParaRPr lang="en-US" sz="840" dirty="0"/>
          </a:p>
        </p:txBody>
      </p:sp>
      <p:sp>
        <p:nvSpPr>
          <p:cNvPr id="31" name="Text 27"/>
          <p:cNvSpPr/>
          <p:nvPr/>
        </p:nvSpPr>
        <p:spPr>
          <a:xfrm>
            <a:off x="1470355" y="3175130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operativa policial</a:t>
            </a:r>
            <a:endParaRPr lang="en-US" sz="786" dirty="0"/>
          </a:p>
        </p:txBody>
      </p:sp>
      <p:sp>
        <p:nvSpPr>
          <p:cNvPr id="32" name="Shape 28"/>
          <p:cNvSpPr/>
          <p:nvPr/>
        </p:nvSpPr>
        <p:spPr>
          <a:xfrm>
            <a:off x="8591702" y="3208048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3" name="Text 29"/>
          <p:cNvSpPr/>
          <p:nvPr/>
        </p:nvSpPr>
        <p:spPr>
          <a:xfrm>
            <a:off x="8630107" y="325303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4" name="Shape 30"/>
          <p:cNvSpPr/>
          <p:nvPr/>
        </p:nvSpPr>
        <p:spPr>
          <a:xfrm>
            <a:off x="965607" y="3508304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5" name="Text 31"/>
          <p:cNvSpPr/>
          <p:nvPr/>
        </p:nvSpPr>
        <p:spPr>
          <a:xfrm>
            <a:off x="1042416" y="3585113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F03</a:t>
            </a:r>
            <a:endParaRPr lang="en-US" sz="840" dirty="0"/>
          </a:p>
        </p:txBody>
      </p:sp>
      <p:sp>
        <p:nvSpPr>
          <p:cNvPr id="36" name="Text 32"/>
          <p:cNvSpPr/>
          <p:nvPr/>
        </p:nvSpPr>
        <p:spPr>
          <a:xfrm>
            <a:off x="1470355" y="3546709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Profesionalización y fortalecimiento policial</a:t>
            </a:r>
            <a:endParaRPr lang="en-US" sz="786" dirty="0"/>
          </a:p>
        </p:txBody>
      </p:sp>
      <p:sp>
        <p:nvSpPr>
          <p:cNvPr id="37" name="Shape 33"/>
          <p:cNvSpPr/>
          <p:nvPr/>
        </p:nvSpPr>
        <p:spPr>
          <a:xfrm>
            <a:off x="8591702" y="3579626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8" name="Text 34"/>
          <p:cNvSpPr/>
          <p:nvPr/>
        </p:nvSpPr>
        <p:spPr>
          <a:xfrm>
            <a:off x="8630107" y="362461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9" name="Shape 35"/>
          <p:cNvSpPr/>
          <p:nvPr/>
        </p:nvSpPr>
        <p:spPr>
          <a:xfrm>
            <a:off x="965607" y="3879883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0" name="Text 36"/>
          <p:cNvSpPr/>
          <p:nvPr/>
        </p:nvSpPr>
        <p:spPr>
          <a:xfrm>
            <a:off x="1042416" y="395669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F04</a:t>
            </a:r>
            <a:endParaRPr lang="en-US" sz="840" dirty="0"/>
          </a:p>
        </p:txBody>
      </p:sp>
      <p:sp>
        <p:nvSpPr>
          <p:cNvPr id="41" name="Text 37"/>
          <p:cNvSpPr/>
          <p:nvPr/>
        </p:nvSpPr>
        <p:spPr>
          <a:xfrm>
            <a:off x="1470355" y="3918288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y desempeño de la policía municipal</a:t>
            </a:r>
            <a:endParaRPr lang="en-US" sz="786" dirty="0"/>
          </a:p>
        </p:txBody>
      </p:sp>
      <p:sp>
        <p:nvSpPr>
          <p:cNvPr id="42" name="Shape 38"/>
          <p:cNvSpPr/>
          <p:nvPr/>
        </p:nvSpPr>
        <p:spPr>
          <a:xfrm>
            <a:off x="8591702" y="3951205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3" name="Text 39"/>
          <p:cNvSpPr/>
          <p:nvPr/>
        </p:nvSpPr>
        <p:spPr>
          <a:xfrm>
            <a:off x="8630107" y="3996195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44" name="Shape 40"/>
          <p:cNvSpPr/>
          <p:nvPr/>
        </p:nvSpPr>
        <p:spPr>
          <a:xfrm>
            <a:off x="965607" y="4251462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5" name="Text 41"/>
          <p:cNvSpPr/>
          <p:nvPr/>
        </p:nvSpPr>
        <p:spPr>
          <a:xfrm>
            <a:off x="1042416" y="432827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F05</a:t>
            </a:r>
            <a:endParaRPr lang="en-US" sz="840" dirty="0"/>
          </a:p>
        </p:txBody>
      </p:sp>
      <p:sp>
        <p:nvSpPr>
          <p:cNvPr id="46" name="Text 42"/>
          <p:cNvSpPr/>
          <p:nvPr/>
        </p:nvSpPr>
        <p:spPr>
          <a:xfrm>
            <a:off x="1470355" y="4289866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Prevención social y participación comunitaria en seguridad</a:t>
            </a:r>
            <a:endParaRPr lang="en-US" sz="786" dirty="0"/>
          </a:p>
        </p:txBody>
      </p:sp>
      <p:sp>
        <p:nvSpPr>
          <p:cNvPr id="47" name="Shape 43"/>
          <p:cNvSpPr/>
          <p:nvPr/>
        </p:nvSpPr>
        <p:spPr>
          <a:xfrm>
            <a:off x="8591702" y="4322784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8" name="Text 44"/>
          <p:cNvSpPr/>
          <p:nvPr/>
        </p:nvSpPr>
        <p:spPr>
          <a:xfrm>
            <a:off x="8630107" y="436777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49" name="Shape 45"/>
          <p:cNvSpPr/>
          <p:nvPr/>
        </p:nvSpPr>
        <p:spPr>
          <a:xfrm>
            <a:off x="965607" y="4623040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0" name="Text 46"/>
          <p:cNvSpPr/>
          <p:nvPr/>
        </p:nvSpPr>
        <p:spPr>
          <a:xfrm>
            <a:off x="1042416" y="469984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F06</a:t>
            </a:r>
            <a:endParaRPr lang="en-US" sz="840" dirty="0"/>
          </a:p>
        </p:txBody>
      </p:sp>
      <p:sp>
        <p:nvSpPr>
          <p:cNvPr id="51" name="Text 47"/>
          <p:cNvSpPr/>
          <p:nvPr/>
        </p:nvSpPr>
        <p:spPr>
          <a:xfrm>
            <a:off x="1470355" y="4661445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Vigilancia territorial y monitoreo de seguridad</a:t>
            </a:r>
            <a:endParaRPr lang="en-US" sz="786" dirty="0"/>
          </a:p>
        </p:txBody>
      </p:sp>
      <p:sp>
        <p:nvSpPr>
          <p:cNvPr id="52" name="Shape 48"/>
          <p:cNvSpPr/>
          <p:nvPr/>
        </p:nvSpPr>
        <p:spPr>
          <a:xfrm>
            <a:off x="8591702" y="4694363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3" name="Text 49"/>
          <p:cNvSpPr/>
          <p:nvPr/>
        </p:nvSpPr>
        <p:spPr>
          <a:xfrm>
            <a:off x="8630107" y="473935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54" name="Shape 50"/>
          <p:cNvSpPr/>
          <p:nvPr/>
        </p:nvSpPr>
        <p:spPr>
          <a:xfrm>
            <a:off x="965607" y="4994620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5" name="Text 51"/>
          <p:cNvSpPr/>
          <p:nvPr/>
        </p:nvSpPr>
        <p:spPr>
          <a:xfrm>
            <a:off x="1042416" y="507142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F07</a:t>
            </a:r>
            <a:endParaRPr lang="en-US" sz="840" dirty="0"/>
          </a:p>
        </p:txBody>
      </p:sp>
      <p:sp>
        <p:nvSpPr>
          <p:cNvPr id="56" name="Text 52"/>
          <p:cNvSpPr/>
          <p:nvPr/>
        </p:nvSpPr>
        <p:spPr>
          <a:xfrm>
            <a:off x="1470355" y="5033025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Justicia cívica</a:t>
            </a:r>
            <a:endParaRPr lang="en-US" sz="786" dirty="0"/>
          </a:p>
        </p:txBody>
      </p:sp>
      <p:sp>
        <p:nvSpPr>
          <p:cNvPr id="57" name="Shape 53"/>
          <p:cNvSpPr/>
          <p:nvPr/>
        </p:nvSpPr>
        <p:spPr>
          <a:xfrm>
            <a:off x="8591702" y="5065943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8" name="Text 54"/>
          <p:cNvSpPr/>
          <p:nvPr/>
        </p:nvSpPr>
        <p:spPr>
          <a:xfrm>
            <a:off x="8630107" y="511093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59" name="Shape 55"/>
          <p:cNvSpPr/>
          <p:nvPr/>
        </p:nvSpPr>
        <p:spPr>
          <a:xfrm>
            <a:off x="965607" y="5366199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0" name="Text 56"/>
          <p:cNvSpPr/>
          <p:nvPr/>
        </p:nvSpPr>
        <p:spPr>
          <a:xfrm>
            <a:off x="1042416" y="5443008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F08</a:t>
            </a:r>
            <a:endParaRPr lang="en-US" sz="840" dirty="0"/>
          </a:p>
        </p:txBody>
      </p:sp>
      <p:sp>
        <p:nvSpPr>
          <p:cNvPr id="61" name="Text 57"/>
          <p:cNvSpPr/>
          <p:nvPr/>
        </p:nvSpPr>
        <p:spPr>
          <a:xfrm>
            <a:off x="1470355" y="5404604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a víctimas</a:t>
            </a:r>
            <a:endParaRPr lang="en-US" sz="786" dirty="0"/>
          </a:p>
        </p:txBody>
      </p:sp>
      <p:sp>
        <p:nvSpPr>
          <p:cNvPr id="62" name="Shape 58"/>
          <p:cNvSpPr/>
          <p:nvPr/>
        </p:nvSpPr>
        <p:spPr>
          <a:xfrm>
            <a:off x="8591702" y="5437522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3" name="Text 59"/>
          <p:cNvSpPr/>
          <p:nvPr/>
        </p:nvSpPr>
        <p:spPr>
          <a:xfrm>
            <a:off x="8630107" y="5482510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64" name="Shape 60"/>
          <p:cNvSpPr/>
          <p:nvPr/>
        </p:nvSpPr>
        <p:spPr>
          <a:xfrm>
            <a:off x="965607" y="5737778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5" name="Text 61"/>
          <p:cNvSpPr/>
          <p:nvPr/>
        </p:nvSpPr>
        <p:spPr>
          <a:xfrm>
            <a:off x="1042416" y="5814587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F09</a:t>
            </a:r>
            <a:endParaRPr lang="en-US" sz="840" dirty="0"/>
          </a:p>
        </p:txBody>
      </p:sp>
      <p:sp>
        <p:nvSpPr>
          <p:cNvPr id="66" name="Text 62"/>
          <p:cNvSpPr/>
          <p:nvPr/>
        </p:nvSpPr>
        <p:spPr>
          <a:xfrm>
            <a:off x="1470355" y="5776183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Violencia contra las mujeres</a:t>
            </a:r>
            <a:endParaRPr lang="en-US" sz="786" dirty="0"/>
          </a:p>
        </p:txBody>
      </p:sp>
      <p:sp>
        <p:nvSpPr>
          <p:cNvPr id="67" name="Shape 63"/>
          <p:cNvSpPr/>
          <p:nvPr/>
        </p:nvSpPr>
        <p:spPr>
          <a:xfrm>
            <a:off x="8591702" y="5809100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8" name="Text 64"/>
          <p:cNvSpPr/>
          <p:nvPr/>
        </p:nvSpPr>
        <p:spPr>
          <a:xfrm>
            <a:off x="8630107" y="5854089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69" name="Shape 65"/>
          <p:cNvSpPr/>
          <p:nvPr/>
        </p:nvSpPr>
        <p:spPr>
          <a:xfrm>
            <a:off x="965607" y="6109357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0" name="Text 66"/>
          <p:cNvSpPr/>
          <p:nvPr/>
        </p:nvSpPr>
        <p:spPr>
          <a:xfrm>
            <a:off x="1042416" y="618616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F10</a:t>
            </a:r>
            <a:endParaRPr lang="en-US" sz="840" dirty="0"/>
          </a:p>
        </p:txBody>
      </p:sp>
      <p:sp>
        <p:nvSpPr>
          <p:cNvPr id="71" name="Text 67"/>
          <p:cNvSpPr/>
          <p:nvPr/>
        </p:nvSpPr>
        <p:spPr>
          <a:xfrm>
            <a:off x="1470355" y="6147762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Riesgos, protección civil y emergencias</a:t>
            </a:r>
            <a:endParaRPr lang="en-US" sz="786" dirty="0"/>
          </a:p>
        </p:txBody>
      </p:sp>
      <p:sp>
        <p:nvSpPr>
          <p:cNvPr id="72" name="Shape 68"/>
          <p:cNvSpPr/>
          <p:nvPr/>
        </p:nvSpPr>
        <p:spPr>
          <a:xfrm>
            <a:off x="8591702" y="6180679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3" name="Text 69"/>
          <p:cNvSpPr/>
          <p:nvPr/>
        </p:nvSpPr>
        <p:spPr>
          <a:xfrm>
            <a:off x="8630107" y="622566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74" name="Shape 70"/>
          <p:cNvSpPr/>
          <p:nvPr/>
        </p:nvSpPr>
        <p:spPr>
          <a:xfrm>
            <a:off x="965607" y="6480936"/>
            <a:ext cx="7999171" cy="322201"/>
          </a:xfrm>
          <a:prstGeom prst="roundRect">
            <a:avLst>
              <a:gd name="adj" fmla="val 10217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5" name="Text 71"/>
          <p:cNvSpPr/>
          <p:nvPr/>
        </p:nvSpPr>
        <p:spPr>
          <a:xfrm>
            <a:off x="1042416" y="655774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</a:t>
            </a:r>
            <a:endParaRPr lang="en-US" sz="840" dirty="0"/>
          </a:p>
        </p:txBody>
      </p:sp>
      <p:sp>
        <p:nvSpPr>
          <p:cNvPr id="76" name="Text 72"/>
          <p:cNvSpPr/>
          <p:nvPr/>
        </p:nvSpPr>
        <p:spPr>
          <a:xfrm>
            <a:off x="1470355" y="6519340"/>
            <a:ext cx="7011619" cy="26733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Regulación y supervisión de seguridad privada</a:t>
            </a:r>
            <a:endParaRPr lang="en-US" sz="786" dirty="0"/>
          </a:p>
        </p:txBody>
      </p:sp>
      <p:sp>
        <p:nvSpPr>
          <p:cNvPr id="77" name="Shape 73"/>
          <p:cNvSpPr/>
          <p:nvPr/>
        </p:nvSpPr>
        <p:spPr>
          <a:xfrm>
            <a:off x="8591702" y="6552258"/>
            <a:ext cx="219456" cy="219456"/>
          </a:xfrm>
          <a:prstGeom prst="ellipse">
            <a:avLst/>
          </a:prstGeom>
          <a:solidFill>
            <a:srgbClr val="7A1733"/>
          </a:solidFill>
          <a:ln w="127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8" name="Text 74"/>
          <p:cNvSpPr/>
          <p:nvPr/>
        </p:nvSpPr>
        <p:spPr>
          <a:xfrm>
            <a:off x="8630107" y="659724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79" name="Shape 75"/>
          <p:cNvSpPr/>
          <p:nvPr/>
        </p:nvSpPr>
        <p:spPr>
          <a:xfrm>
            <a:off x="9381744" y="2084832"/>
            <a:ext cx="4334256" cy="4882896"/>
          </a:xfrm>
          <a:prstGeom prst="roundRect">
            <a:avLst>
              <a:gd name="adj" fmla="val 1392"/>
            </a:avLst>
          </a:prstGeom>
          <a:solidFill>
            <a:srgbClr val="F8F3E8"/>
          </a:solidFill>
          <a:ln w="12700">
            <a:solidFill>
              <a:srgbClr val="B9985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0" name="Shape 76"/>
          <p:cNvSpPr/>
          <p:nvPr/>
        </p:nvSpPr>
        <p:spPr>
          <a:xfrm>
            <a:off x="9458554" y="2161642"/>
            <a:ext cx="4180637" cy="482803"/>
          </a:xfrm>
          <a:prstGeom prst="roundRect">
            <a:avLst>
              <a:gd name="adj" fmla="val 9091"/>
            </a:avLst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1" name="Text 77"/>
          <p:cNvSpPr/>
          <p:nvPr/>
        </p:nvSpPr>
        <p:spPr>
          <a:xfrm>
            <a:off x="9601200" y="2282343"/>
            <a:ext cx="2907792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9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Bienestar y desarrollo social</a:t>
            </a:r>
            <a:endParaRPr lang="en-US" sz="984" dirty="0"/>
          </a:p>
        </p:txBody>
      </p:sp>
      <p:sp>
        <p:nvSpPr>
          <p:cNvPr id="82" name="Text 78"/>
          <p:cNvSpPr/>
          <p:nvPr/>
        </p:nvSpPr>
        <p:spPr>
          <a:xfrm>
            <a:off x="12706502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80" dirty="0"/>
          </a:p>
        </p:txBody>
      </p:sp>
      <p:sp>
        <p:nvSpPr>
          <p:cNvPr id="83" name="Text 79"/>
          <p:cNvSpPr/>
          <p:nvPr/>
        </p:nvSpPr>
        <p:spPr>
          <a:xfrm>
            <a:off x="13035686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84" name="Shape 80"/>
          <p:cNvSpPr/>
          <p:nvPr/>
        </p:nvSpPr>
        <p:spPr>
          <a:xfrm>
            <a:off x="9524391" y="2765146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5" name="Text 81"/>
          <p:cNvSpPr/>
          <p:nvPr/>
        </p:nvSpPr>
        <p:spPr>
          <a:xfrm>
            <a:off x="9601200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F12</a:t>
            </a:r>
            <a:endParaRPr lang="en-US" sz="864" dirty="0"/>
          </a:p>
        </p:txBody>
      </p:sp>
      <p:sp>
        <p:nvSpPr>
          <p:cNvPr id="86" name="Text 82"/>
          <p:cNvSpPr/>
          <p:nvPr/>
        </p:nvSpPr>
        <p:spPr>
          <a:xfrm>
            <a:off x="10029139" y="2803551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Pobreza y rezago social</a:t>
            </a:r>
            <a:endParaRPr lang="en-US" sz="852" dirty="0"/>
          </a:p>
        </p:txBody>
      </p:sp>
      <p:sp>
        <p:nvSpPr>
          <p:cNvPr id="87" name="Shape 83"/>
          <p:cNvSpPr/>
          <p:nvPr/>
        </p:nvSpPr>
        <p:spPr>
          <a:xfrm>
            <a:off x="13200278" y="2836469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8" name="Text 84"/>
          <p:cNvSpPr/>
          <p:nvPr/>
        </p:nvSpPr>
        <p:spPr>
          <a:xfrm>
            <a:off x="13238683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89" name="Shape 85"/>
          <p:cNvSpPr/>
          <p:nvPr/>
        </p:nvSpPr>
        <p:spPr>
          <a:xfrm>
            <a:off x="9524391" y="3352191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0" name="Text 86"/>
          <p:cNvSpPr/>
          <p:nvPr/>
        </p:nvSpPr>
        <p:spPr>
          <a:xfrm>
            <a:off x="9601200" y="342900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F13</a:t>
            </a:r>
            <a:endParaRPr lang="en-US" sz="864" dirty="0"/>
          </a:p>
        </p:txBody>
      </p:sp>
      <p:sp>
        <p:nvSpPr>
          <p:cNvPr id="91" name="Text 87"/>
          <p:cNvSpPr/>
          <p:nvPr/>
        </p:nvSpPr>
        <p:spPr>
          <a:xfrm>
            <a:off x="10029139" y="3390595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humano</a:t>
            </a:r>
            <a:endParaRPr lang="en-US" sz="852" dirty="0"/>
          </a:p>
        </p:txBody>
      </p:sp>
      <p:sp>
        <p:nvSpPr>
          <p:cNvPr id="92" name="Shape 88"/>
          <p:cNvSpPr/>
          <p:nvPr/>
        </p:nvSpPr>
        <p:spPr>
          <a:xfrm>
            <a:off x="13200278" y="3423514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3" name="Text 89"/>
          <p:cNvSpPr/>
          <p:nvPr/>
        </p:nvSpPr>
        <p:spPr>
          <a:xfrm>
            <a:off x="13238683" y="346850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4" name="Shape 90"/>
          <p:cNvSpPr/>
          <p:nvPr/>
        </p:nvSpPr>
        <p:spPr>
          <a:xfrm>
            <a:off x="9524391" y="3939235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5" name="Text 91"/>
          <p:cNvSpPr/>
          <p:nvPr/>
        </p:nvSpPr>
        <p:spPr>
          <a:xfrm>
            <a:off x="9601200" y="401604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F14</a:t>
            </a:r>
            <a:endParaRPr lang="en-US" sz="864" dirty="0"/>
          </a:p>
        </p:txBody>
      </p:sp>
      <p:sp>
        <p:nvSpPr>
          <p:cNvPr id="96" name="Text 92"/>
          <p:cNvSpPr/>
          <p:nvPr/>
        </p:nvSpPr>
        <p:spPr>
          <a:xfrm>
            <a:off x="10029139" y="3977640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Educación y rezago educativo</a:t>
            </a:r>
            <a:endParaRPr lang="en-US" sz="852" dirty="0"/>
          </a:p>
        </p:txBody>
      </p:sp>
      <p:sp>
        <p:nvSpPr>
          <p:cNvPr id="97" name="Shape 93"/>
          <p:cNvSpPr/>
          <p:nvPr/>
        </p:nvSpPr>
        <p:spPr>
          <a:xfrm>
            <a:off x="13200278" y="4010558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8" name="Text 94"/>
          <p:cNvSpPr/>
          <p:nvPr/>
        </p:nvSpPr>
        <p:spPr>
          <a:xfrm>
            <a:off x="13238683" y="405554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9" name="Shape 95"/>
          <p:cNvSpPr/>
          <p:nvPr/>
        </p:nvSpPr>
        <p:spPr>
          <a:xfrm>
            <a:off x="9524391" y="4526280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0" name="Text 96"/>
          <p:cNvSpPr/>
          <p:nvPr/>
        </p:nvSpPr>
        <p:spPr>
          <a:xfrm>
            <a:off x="9601200" y="460309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F15</a:t>
            </a:r>
            <a:endParaRPr lang="en-US" sz="864" dirty="0"/>
          </a:p>
        </p:txBody>
      </p:sp>
      <p:sp>
        <p:nvSpPr>
          <p:cNvPr id="101" name="Text 97"/>
          <p:cNvSpPr/>
          <p:nvPr/>
        </p:nvSpPr>
        <p:spPr>
          <a:xfrm>
            <a:off x="10029139" y="4564685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Salud, prevención y acceso a servicios</a:t>
            </a:r>
            <a:endParaRPr lang="en-US" sz="852" dirty="0"/>
          </a:p>
        </p:txBody>
      </p:sp>
      <p:sp>
        <p:nvSpPr>
          <p:cNvPr id="102" name="Shape 98"/>
          <p:cNvSpPr/>
          <p:nvPr/>
        </p:nvSpPr>
        <p:spPr>
          <a:xfrm>
            <a:off x="13200278" y="4597603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3" name="Text 99"/>
          <p:cNvSpPr/>
          <p:nvPr/>
        </p:nvSpPr>
        <p:spPr>
          <a:xfrm>
            <a:off x="13238683" y="464259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04" name="Shape 100"/>
          <p:cNvSpPr/>
          <p:nvPr/>
        </p:nvSpPr>
        <p:spPr>
          <a:xfrm>
            <a:off x="9524391" y="5113325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5" name="Text 101"/>
          <p:cNvSpPr/>
          <p:nvPr/>
        </p:nvSpPr>
        <p:spPr>
          <a:xfrm>
            <a:off x="9601200" y="519013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F16</a:t>
            </a:r>
            <a:endParaRPr lang="en-US" sz="864" dirty="0"/>
          </a:p>
        </p:txBody>
      </p:sp>
      <p:sp>
        <p:nvSpPr>
          <p:cNvPr id="106" name="Text 102"/>
          <p:cNvSpPr/>
          <p:nvPr/>
        </p:nvSpPr>
        <p:spPr>
          <a:xfrm>
            <a:off x="10029139" y="5151730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Carencia de servicios básicos en la vivienda</a:t>
            </a:r>
            <a:endParaRPr lang="en-US" sz="852" dirty="0"/>
          </a:p>
        </p:txBody>
      </p:sp>
      <p:sp>
        <p:nvSpPr>
          <p:cNvPr id="107" name="Shape 103"/>
          <p:cNvSpPr/>
          <p:nvPr/>
        </p:nvSpPr>
        <p:spPr>
          <a:xfrm>
            <a:off x="13200278" y="5184648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8" name="Text 104"/>
          <p:cNvSpPr/>
          <p:nvPr/>
        </p:nvSpPr>
        <p:spPr>
          <a:xfrm>
            <a:off x="13238683" y="522963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09" name="Shape 105"/>
          <p:cNvSpPr/>
          <p:nvPr/>
        </p:nvSpPr>
        <p:spPr>
          <a:xfrm>
            <a:off x="9524391" y="5700370"/>
            <a:ext cx="4048963" cy="537667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0" name="Text 106"/>
          <p:cNvSpPr/>
          <p:nvPr/>
        </p:nvSpPr>
        <p:spPr>
          <a:xfrm>
            <a:off x="9601200" y="577717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B99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F17</a:t>
            </a:r>
            <a:endParaRPr lang="en-US" sz="864" dirty="0"/>
          </a:p>
        </p:txBody>
      </p:sp>
      <p:sp>
        <p:nvSpPr>
          <p:cNvPr id="111" name="Text 107"/>
          <p:cNvSpPr/>
          <p:nvPr/>
        </p:nvSpPr>
        <p:spPr>
          <a:xfrm>
            <a:off x="10029139" y="5738775"/>
            <a:ext cx="3061411" cy="48280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52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cultural y gestión del patrimonio</a:t>
            </a:r>
            <a:endParaRPr lang="en-US" sz="852" dirty="0"/>
          </a:p>
        </p:txBody>
      </p:sp>
      <p:sp>
        <p:nvSpPr>
          <p:cNvPr id="112" name="Shape 108"/>
          <p:cNvSpPr/>
          <p:nvPr/>
        </p:nvSpPr>
        <p:spPr>
          <a:xfrm>
            <a:off x="13200278" y="5771693"/>
            <a:ext cx="219456" cy="219456"/>
          </a:xfrm>
          <a:prstGeom prst="ellipse">
            <a:avLst/>
          </a:prstGeom>
          <a:solidFill>
            <a:srgbClr val="B9985A"/>
          </a:solidFill>
          <a:ln w="12700">
            <a:solidFill>
              <a:srgbClr val="B9985A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3" name="Text 109"/>
          <p:cNvSpPr/>
          <p:nvPr/>
        </p:nvSpPr>
        <p:spPr>
          <a:xfrm>
            <a:off x="13238683" y="581668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14" name="Shape 110"/>
          <p:cNvSpPr/>
          <p:nvPr/>
        </p:nvSpPr>
        <p:spPr>
          <a:xfrm>
            <a:off x="1042416" y="7242048"/>
            <a:ext cx="12563856" cy="373075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5" name="Text 111"/>
          <p:cNvSpPr/>
          <p:nvPr/>
        </p:nvSpPr>
        <p:spPr>
          <a:xfrm>
            <a:off x="1261872" y="7351776"/>
            <a:ext cx="1212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88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ejecutiva: Seguridad concentra la mayor cantidad de familias; Bienestar integra seis temas sociales prioritarios.</a:t>
            </a:r>
            <a:endParaRPr lang="en-US" sz="8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rmat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674"/>
            <a:ext cx="1316736" cy="1207008"/>
          </a:xfrm>
          <a:prstGeom prst="rect">
            <a:avLst/>
          </a:prstGeom>
        </p:spPr>
      </p:pic>
      <p:pic>
        <p:nvPicPr>
          <p:cNvPr id="3" name="Image 1" descr="/mnt/data/format_unzip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28" y="384048"/>
            <a:ext cx="1514246" cy="8010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59152" y="362103"/>
            <a:ext cx="949147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2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 POR AGRUPACIÓN TEMÁTICA</a:t>
            </a:r>
            <a:endParaRPr lang="en-US" sz="2220" dirty="0"/>
          </a:p>
        </p:txBody>
      </p:sp>
      <p:sp>
        <p:nvSpPr>
          <p:cNvPr id="5" name="Text 1"/>
          <p:cNvSpPr/>
          <p:nvPr/>
        </p:nvSpPr>
        <p:spPr>
          <a:xfrm>
            <a:off x="2359152" y="801015"/>
            <a:ext cx="982065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económico, territorio y medio ambiente</a:t>
            </a:r>
            <a:endParaRPr lang="en-US" sz="2040" dirty="0"/>
          </a:p>
        </p:txBody>
      </p:sp>
      <p:sp>
        <p:nvSpPr>
          <p:cNvPr id="6" name="Text 2"/>
          <p:cNvSpPr/>
          <p:nvPr/>
        </p:nvSpPr>
        <p:spPr>
          <a:xfrm>
            <a:off x="2359152" y="1338682"/>
            <a:ext cx="111373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Distribución de familias orientadas a actividad económica, ordenamiento territorial, ambiente y agua.</a:t>
            </a:r>
            <a:endParaRPr lang="en-US" sz="1260" dirty="0"/>
          </a:p>
        </p:txBody>
      </p:sp>
      <p:sp>
        <p:nvSpPr>
          <p:cNvPr id="7" name="Shape 3"/>
          <p:cNvSpPr/>
          <p:nvPr/>
        </p:nvSpPr>
        <p:spPr>
          <a:xfrm>
            <a:off x="2359152" y="1645920"/>
            <a:ext cx="186537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" name="Shape 4"/>
          <p:cNvSpPr/>
          <p:nvPr/>
        </p:nvSpPr>
        <p:spPr>
          <a:xfrm>
            <a:off x="603504" y="7680960"/>
            <a:ext cx="1366113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" name="Text 5"/>
          <p:cNvSpPr/>
          <p:nvPr/>
        </p:nvSpPr>
        <p:spPr>
          <a:xfrm>
            <a:off x="603504" y="7845552"/>
            <a:ext cx="460857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4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SIIP Salamanca · Universo maestro de indicadores</a:t>
            </a:r>
            <a:endParaRPr lang="en-US" sz="864" dirty="0"/>
          </a:p>
        </p:txBody>
      </p:sp>
      <p:sp>
        <p:nvSpPr>
          <p:cNvPr id="10" name="Shape 6"/>
          <p:cNvSpPr/>
          <p:nvPr/>
        </p:nvSpPr>
        <p:spPr>
          <a:xfrm>
            <a:off x="8833104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E86E2E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" name="Text 7"/>
          <p:cNvSpPr/>
          <p:nvPr/>
        </p:nvSpPr>
        <p:spPr>
          <a:xfrm>
            <a:off x="8953805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403690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agrupaciones</a:t>
            </a:r>
            <a:endParaRPr lang="en-US" sz="804" dirty="0"/>
          </a:p>
        </p:txBody>
      </p:sp>
      <p:sp>
        <p:nvSpPr>
          <p:cNvPr id="13" name="Shape 9"/>
          <p:cNvSpPr/>
          <p:nvPr/>
        </p:nvSpPr>
        <p:spPr>
          <a:xfrm>
            <a:off x="10391241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B9985A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" name="Text 10"/>
          <p:cNvSpPr/>
          <p:nvPr/>
        </p:nvSpPr>
        <p:spPr>
          <a:xfrm>
            <a:off x="10511943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961827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</a:t>
            </a:r>
            <a:endParaRPr lang="en-US" sz="804" dirty="0"/>
          </a:p>
        </p:txBody>
      </p:sp>
      <p:sp>
        <p:nvSpPr>
          <p:cNvPr id="16" name="Shape 12"/>
          <p:cNvSpPr/>
          <p:nvPr/>
        </p:nvSpPr>
        <p:spPr>
          <a:xfrm>
            <a:off x="11949379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0E5A4B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7" name="Text 13"/>
          <p:cNvSpPr/>
          <p:nvPr/>
        </p:nvSpPr>
        <p:spPr>
          <a:xfrm>
            <a:off x="12070080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519965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804" dirty="0"/>
          </a:p>
        </p:txBody>
      </p:sp>
      <p:sp>
        <p:nvSpPr>
          <p:cNvPr id="19" name="Shape 15"/>
          <p:cNvSpPr/>
          <p:nvPr/>
        </p:nvSpPr>
        <p:spPr>
          <a:xfrm>
            <a:off x="822960" y="2084832"/>
            <a:ext cx="5925312" cy="4882896"/>
          </a:xfrm>
          <a:prstGeom prst="roundRect">
            <a:avLst>
              <a:gd name="adj" fmla="val 1236"/>
            </a:avLst>
          </a:prstGeom>
          <a:solidFill>
            <a:srgbClr val="EFF7F4"/>
          </a:solidFill>
          <a:ln w="12700">
            <a:solidFill>
              <a:srgbClr val="0E5A4B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0" name="Shape 16"/>
          <p:cNvSpPr/>
          <p:nvPr/>
        </p:nvSpPr>
        <p:spPr>
          <a:xfrm>
            <a:off x="899770" y="2161642"/>
            <a:ext cx="5771693" cy="482803"/>
          </a:xfrm>
          <a:prstGeom prst="roundRect">
            <a:avLst>
              <a:gd name="adj" fmla="val 9091"/>
            </a:avLst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1" name="Text 17"/>
          <p:cNvSpPr/>
          <p:nvPr/>
        </p:nvSpPr>
        <p:spPr>
          <a:xfrm>
            <a:off x="1042416" y="2282343"/>
            <a:ext cx="4498848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Desarrollo económico y empleo</a:t>
            </a:r>
            <a:endParaRPr lang="en-US" sz="1008" dirty="0"/>
          </a:p>
        </p:txBody>
      </p:sp>
      <p:sp>
        <p:nvSpPr>
          <p:cNvPr id="22" name="Text 18"/>
          <p:cNvSpPr/>
          <p:nvPr/>
        </p:nvSpPr>
        <p:spPr>
          <a:xfrm>
            <a:off x="5738774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80" dirty="0"/>
          </a:p>
        </p:txBody>
      </p:sp>
      <p:sp>
        <p:nvSpPr>
          <p:cNvPr id="23" name="Text 19"/>
          <p:cNvSpPr/>
          <p:nvPr/>
        </p:nvSpPr>
        <p:spPr>
          <a:xfrm>
            <a:off x="6067958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24" name="Shape 20"/>
          <p:cNvSpPr/>
          <p:nvPr/>
        </p:nvSpPr>
        <p:spPr>
          <a:xfrm>
            <a:off x="965607" y="2765145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5" name="Text 21"/>
          <p:cNvSpPr/>
          <p:nvPr/>
        </p:nvSpPr>
        <p:spPr>
          <a:xfrm>
            <a:off x="104241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F18</a:t>
            </a:r>
            <a:endParaRPr lang="en-US" sz="864" dirty="0"/>
          </a:p>
        </p:txBody>
      </p:sp>
      <p:sp>
        <p:nvSpPr>
          <p:cNvPr id="26" name="Text 22"/>
          <p:cNvSpPr/>
          <p:nvPr/>
        </p:nvSpPr>
        <p:spPr>
          <a:xfrm>
            <a:off x="1470355" y="2803550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Visitantes y experiencia turística</a:t>
            </a:r>
            <a:endParaRPr lang="en-US" sz="834" dirty="0"/>
          </a:p>
        </p:txBody>
      </p:sp>
      <p:sp>
        <p:nvSpPr>
          <p:cNvPr id="27" name="Shape 23"/>
          <p:cNvSpPr/>
          <p:nvPr/>
        </p:nvSpPr>
        <p:spPr>
          <a:xfrm>
            <a:off x="6232550" y="2836469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8" name="Text 24"/>
          <p:cNvSpPr/>
          <p:nvPr/>
        </p:nvSpPr>
        <p:spPr>
          <a:xfrm>
            <a:off x="6270955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29" name="Shape 25"/>
          <p:cNvSpPr/>
          <p:nvPr/>
        </p:nvSpPr>
        <p:spPr>
          <a:xfrm>
            <a:off x="965607" y="3275381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0" name="Text 26"/>
          <p:cNvSpPr/>
          <p:nvPr/>
        </p:nvSpPr>
        <p:spPr>
          <a:xfrm>
            <a:off x="1042416" y="335219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F19</a:t>
            </a:r>
            <a:endParaRPr lang="en-US" sz="864" dirty="0"/>
          </a:p>
        </p:txBody>
      </p:sp>
      <p:sp>
        <p:nvSpPr>
          <p:cNvPr id="31" name="Text 27"/>
          <p:cNvSpPr/>
          <p:nvPr/>
        </p:nvSpPr>
        <p:spPr>
          <a:xfrm>
            <a:off x="1470355" y="3313785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Empleo, precariedad e informalidad laboral</a:t>
            </a:r>
            <a:endParaRPr lang="en-US" sz="834" dirty="0"/>
          </a:p>
        </p:txBody>
      </p:sp>
      <p:sp>
        <p:nvSpPr>
          <p:cNvPr id="32" name="Shape 28"/>
          <p:cNvSpPr/>
          <p:nvPr/>
        </p:nvSpPr>
        <p:spPr>
          <a:xfrm>
            <a:off x="6232550" y="3346704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3" name="Text 29"/>
          <p:cNvSpPr/>
          <p:nvPr/>
        </p:nvSpPr>
        <p:spPr>
          <a:xfrm>
            <a:off x="6270955" y="339169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4" name="Shape 30"/>
          <p:cNvSpPr/>
          <p:nvPr/>
        </p:nvSpPr>
        <p:spPr>
          <a:xfrm>
            <a:off x="965607" y="3785616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5" name="Text 31"/>
          <p:cNvSpPr/>
          <p:nvPr/>
        </p:nvSpPr>
        <p:spPr>
          <a:xfrm>
            <a:off x="1042416" y="386242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F20</a:t>
            </a:r>
            <a:endParaRPr lang="en-US" sz="864" dirty="0"/>
          </a:p>
        </p:txBody>
      </p:sp>
      <p:sp>
        <p:nvSpPr>
          <p:cNvPr id="36" name="Text 32"/>
          <p:cNvSpPr/>
          <p:nvPr/>
        </p:nvSpPr>
        <p:spPr>
          <a:xfrm>
            <a:off x="1470355" y="3824021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Formalidad y dinamismo comercial</a:t>
            </a:r>
            <a:endParaRPr lang="en-US" sz="834" dirty="0"/>
          </a:p>
        </p:txBody>
      </p:sp>
      <p:sp>
        <p:nvSpPr>
          <p:cNvPr id="37" name="Shape 33"/>
          <p:cNvSpPr/>
          <p:nvPr/>
        </p:nvSpPr>
        <p:spPr>
          <a:xfrm>
            <a:off x="6232550" y="3856939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8" name="Text 34"/>
          <p:cNvSpPr/>
          <p:nvPr/>
        </p:nvSpPr>
        <p:spPr>
          <a:xfrm>
            <a:off x="6270955" y="390192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39" name="Shape 35"/>
          <p:cNvSpPr/>
          <p:nvPr/>
        </p:nvSpPr>
        <p:spPr>
          <a:xfrm>
            <a:off x="965607" y="4295851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0" name="Text 36"/>
          <p:cNvSpPr/>
          <p:nvPr/>
        </p:nvSpPr>
        <p:spPr>
          <a:xfrm>
            <a:off x="1042416" y="4372661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F21</a:t>
            </a:r>
            <a:endParaRPr lang="en-US" sz="864" dirty="0"/>
          </a:p>
        </p:txBody>
      </p:sp>
      <p:sp>
        <p:nvSpPr>
          <p:cNvPr id="41" name="Text 37"/>
          <p:cNvSpPr/>
          <p:nvPr/>
        </p:nvSpPr>
        <p:spPr>
          <a:xfrm>
            <a:off x="1470355" y="4334256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empresarial y desarrollo productivo</a:t>
            </a:r>
            <a:endParaRPr lang="en-US" sz="834" dirty="0"/>
          </a:p>
        </p:txBody>
      </p:sp>
      <p:sp>
        <p:nvSpPr>
          <p:cNvPr id="42" name="Shape 38"/>
          <p:cNvSpPr/>
          <p:nvPr/>
        </p:nvSpPr>
        <p:spPr>
          <a:xfrm>
            <a:off x="6232550" y="4367174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3" name="Text 39"/>
          <p:cNvSpPr/>
          <p:nvPr/>
        </p:nvSpPr>
        <p:spPr>
          <a:xfrm>
            <a:off x="6270955" y="441216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44" name="Shape 40"/>
          <p:cNvSpPr/>
          <p:nvPr/>
        </p:nvSpPr>
        <p:spPr>
          <a:xfrm>
            <a:off x="965607" y="4806086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5" name="Text 41"/>
          <p:cNvSpPr/>
          <p:nvPr/>
        </p:nvSpPr>
        <p:spPr>
          <a:xfrm>
            <a:off x="1042416" y="488289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F23</a:t>
            </a:r>
            <a:endParaRPr lang="en-US" sz="864" dirty="0"/>
          </a:p>
        </p:txBody>
      </p:sp>
      <p:sp>
        <p:nvSpPr>
          <p:cNvPr id="46" name="Text 42"/>
          <p:cNvSpPr/>
          <p:nvPr/>
        </p:nvSpPr>
        <p:spPr>
          <a:xfrm>
            <a:off x="1470355" y="4844491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Atracción y retención de inversión</a:t>
            </a:r>
            <a:endParaRPr lang="en-US" sz="834" dirty="0"/>
          </a:p>
        </p:txBody>
      </p:sp>
      <p:sp>
        <p:nvSpPr>
          <p:cNvPr id="47" name="Shape 43"/>
          <p:cNvSpPr/>
          <p:nvPr/>
        </p:nvSpPr>
        <p:spPr>
          <a:xfrm>
            <a:off x="6232550" y="4877410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8" name="Text 44"/>
          <p:cNvSpPr/>
          <p:nvPr/>
        </p:nvSpPr>
        <p:spPr>
          <a:xfrm>
            <a:off x="6270955" y="4922398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49" name="Shape 45"/>
          <p:cNvSpPr/>
          <p:nvPr/>
        </p:nvSpPr>
        <p:spPr>
          <a:xfrm>
            <a:off x="965607" y="5316321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0" name="Text 46"/>
          <p:cNvSpPr/>
          <p:nvPr/>
        </p:nvSpPr>
        <p:spPr>
          <a:xfrm>
            <a:off x="1042416" y="5393131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F24</a:t>
            </a:r>
            <a:endParaRPr lang="en-US" sz="864" dirty="0"/>
          </a:p>
        </p:txBody>
      </p:sp>
      <p:sp>
        <p:nvSpPr>
          <p:cNvPr id="51" name="Text 47"/>
          <p:cNvSpPr/>
          <p:nvPr/>
        </p:nvSpPr>
        <p:spPr>
          <a:xfrm>
            <a:off x="1470355" y="5354726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rural y productividad agropecuaria</a:t>
            </a:r>
            <a:endParaRPr lang="en-US" sz="834" dirty="0"/>
          </a:p>
        </p:txBody>
      </p:sp>
      <p:sp>
        <p:nvSpPr>
          <p:cNvPr id="52" name="Shape 48"/>
          <p:cNvSpPr/>
          <p:nvPr/>
        </p:nvSpPr>
        <p:spPr>
          <a:xfrm>
            <a:off x="6232550" y="5387645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3" name="Text 49"/>
          <p:cNvSpPr/>
          <p:nvPr/>
        </p:nvSpPr>
        <p:spPr>
          <a:xfrm>
            <a:off x="6270955" y="543263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54" name="Shape 50"/>
          <p:cNvSpPr/>
          <p:nvPr/>
        </p:nvSpPr>
        <p:spPr>
          <a:xfrm>
            <a:off x="965607" y="5826557"/>
            <a:ext cx="5640019" cy="46085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5" name="Text 51"/>
          <p:cNvSpPr/>
          <p:nvPr/>
        </p:nvSpPr>
        <p:spPr>
          <a:xfrm>
            <a:off x="1042416" y="590336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64" b="1" dirty="0">
                <a:solidFill>
                  <a:srgbClr val="0E5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F26</a:t>
            </a:r>
            <a:endParaRPr lang="en-US" sz="864" dirty="0"/>
          </a:p>
        </p:txBody>
      </p:sp>
      <p:sp>
        <p:nvSpPr>
          <p:cNvPr id="56" name="Text 52"/>
          <p:cNvSpPr/>
          <p:nvPr/>
        </p:nvSpPr>
        <p:spPr>
          <a:xfrm>
            <a:off x="1470355" y="5864961"/>
            <a:ext cx="4652467" cy="405994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3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 digital e internet</a:t>
            </a:r>
            <a:endParaRPr lang="en-US" sz="834" dirty="0"/>
          </a:p>
        </p:txBody>
      </p:sp>
      <p:sp>
        <p:nvSpPr>
          <p:cNvPr id="57" name="Shape 53"/>
          <p:cNvSpPr/>
          <p:nvPr/>
        </p:nvSpPr>
        <p:spPr>
          <a:xfrm>
            <a:off x="6232550" y="5897880"/>
            <a:ext cx="219456" cy="219456"/>
          </a:xfrm>
          <a:prstGeom prst="ellipse">
            <a:avLst/>
          </a:prstGeom>
          <a:solidFill>
            <a:srgbClr val="0E5A4B"/>
          </a:solidFill>
          <a:ln w="12700">
            <a:solidFill>
              <a:srgbClr val="0E5A4B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8" name="Text 54"/>
          <p:cNvSpPr/>
          <p:nvPr/>
        </p:nvSpPr>
        <p:spPr>
          <a:xfrm>
            <a:off x="6270955" y="5942868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59" name="Shape 55"/>
          <p:cNvSpPr/>
          <p:nvPr/>
        </p:nvSpPr>
        <p:spPr>
          <a:xfrm>
            <a:off x="7077456" y="2084832"/>
            <a:ext cx="6638544" cy="4882896"/>
          </a:xfrm>
          <a:prstGeom prst="roundRect">
            <a:avLst>
              <a:gd name="adj" fmla="val 1236"/>
            </a:avLst>
          </a:prstGeom>
          <a:solidFill>
            <a:srgbClr val="FFF4ED"/>
          </a:solidFill>
          <a:ln w="12700">
            <a:solidFill>
              <a:srgbClr val="E86E2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0" name="Shape 56"/>
          <p:cNvSpPr/>
          <p:nvPr/>
        </p:nvSpPr>
        <p:spPr>
          <a:xfrm>
            <a:off x="7154266" y="2161642"/>
            <a:ext cx="6484925" cy="482803"/>
          </a:xfrm>
          <a:prstGeom prst="roundRect">
            <a:avLst>
              <a:gd name="adj" fmla="val 9091"/>
            </a:avLst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1" name="Text 57"/>
          <p:cNvSpPr/>
          <p:nvPr/>
        </p:nvSpPr>
        <p:spPr>
          <a:xfrm>
            <a:off x="7296912" y="2282343"/>
            <a:ext cx="521208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9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Territorio, desarrollo urbano y medio ambiente</a:t>
            </a:r>
            <a:endParaRPr lang="en-US" sz="972" dirty="0"/>
          </a:p>
        </p:txBody>
      </p:sp>
      <p:sp>
        <p:nvSpPr>
          <p:cNvPr id="62" name="Text 58"/>
          <p:cNvSpPr/>
          <p:nvPr/>
        </p:nvSpPr>
        <p:spPr>
          <a:xfrm>
            <a:off x="12706502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80" dirty="0"/>
          </a:p>
        </p:txBody>
      </p:sp>
      <p:sp>
        <p:nvSpPr>
          <p:cNvPr id="63" name="Text 59"/>
          <p:cNvSpPr/>
          <p:nvPr/>
        </p:nvSpPr>
        <p:spPr>
          <a:xfrm>
            <a:off x="13035686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64" name="Shape 60"/>
          <p:cNvSpPr/>
          <p:nvPr/>
        </p:nvSpPr>
        <p:spPr>
          <a:xfrm>
            <a:off x="7220103" y="2765146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5" name="Text 61"/>
          <p:cNvSpPr/>
          <p:nvPr/>
        </p:nvSpPr>
        <p:spPr>
          <a:xfrm>
            <a:off x="7296912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F27</a:t>
            </a:r>
            <a:endParaRPr lang="en-US" sz="840" dirty="0"/>
          </a:p>
        </p:txBody>
      </p:sp>
      <p:sp>
        <p:nvSpPr>
          <p:cNvPr id="66" name="Text 62"/>
          <p:cNvSpPr/>
          <p:nvPr/>
        </p:nvSpPr>
        <p:spPr>
          <a:xfrm>
            <a:off x="7724851" y="2803550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 urbana y ordenamiento ecológico</a:t>
            </a:r>
            <a:endParaRPr lang="en-US" sz="804" dirty="0"/>
          </a:p>
        </p:txBody>
      </p:sp>
      <p:sp>
        <p:nvSpPr>
          <p:cNvPr id="67" name="Shape 63"/>
          <p:cNvSpPr/>
          <p:nvPr/>
        </p:nvSpPr>
        <p:spPr>
          <a:xfrm>
            <a:off x="13200278" y="2836469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8" name="Text 64"/>
          <p:cNvSpPr/>
          <p:nvPr/>
        </p:nvSpPr>
        <p:spPr>
          <a:xfrm>
            <a:off x="13238683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69" name="Shape 65"/>
          <p:cNvSpPr/>
          <p:nvPr/>
        </p:nvSpPr>
        <p:spPr>
          <a:xfrm>
            <a:off x="7220103" y="3209544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0" name="Text 66"/>
          <p:cNvSpPr/>
          <p:nvPr/>
        </p:nvSpPr>
        <p:spPr>
          <a:xfrm>
            <a:off x="7296912" y="328635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F28</a:t>
            </a:r>
            <a:endParaRPr lang="en-US" sz="840" dirty="0"/>
          </a:p>
        </p:txBody>
      </p:sp>
      <p:sp>
        <p:nvSpPr>
          <p:cNvPr id="71" name="Text 67"/>
          <p:cNvSpPr/>
          <p:nvPr/>
        </p:nvSpPr>
        <p:spPr>
          <a:xfrm>
            <a:off x="7724851" y="3247949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 y expansión urbana</a:t>
            </a:r>
            <a:endParaRPr lang="en-US" sz="804" dirty="0"/>
          </a:p>
        </p:txBody>
      </p:sp>
      <p:sp>
        <p:nvSpPr>
          <p:cNvPr id="72" name="Shape 68"/>
          <p:cNvSpPr/>
          <p:nvPr/>
        </p:nvSpPr>
        <p:spPr>
          <a:xfrm>
            <a:off x="13200278" y="3280867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3" name="Text 69"/>
          <p:cNvSpPr/>
          <p:nvPr/>
        </p:nvSpPr>
        <p:spPr>
          <a:xfrm>
            <a:off x="13238683" y="3325855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74" name="Shape 70"/>
          <p:cNvSpPr/>
          <p:nvPr/>
        </p:nvSpPr>
        <p:spPr>
          <a:xfrm>
            <a:off x="7220103" y="3653942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5" name="Text 71"/>
          <p:cNvSpPr/>
          <p:nvPr/>
        </p:nvSpPr>
        <p:spPr>
          <a:xfrm>
            <a:off x="7296912" y="373075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F29</a:t>
            </a:r>
            <a:endParaRPr lang="en-US" sz="840" dirty="0"/>
          </a:p>
        </p:txBody>
      </p:sp>
      <p:sp>
        <p:nvSpPr>
          <p:cNvPr id="76" name="Text 72"/>
          <p:cNvSpPr/>
          <p:nvPr/>
        </p:nvSpPr>
        <p:spPr>
          <a:xfrm>
            <a:off x="7724851" y="3692347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Asentamientos irregulares</a:t>
            </a:r>
            <a:endParaRPr lang="en-US" sz="804" dirty="0"/>
          </a:p>
        </p:txBody>
      </p:sp>
      <p:sp>
        <p:nvSpPr>
          <p:cNvPr id="77" name="Shape 73"/>
          <p:cNvSpPr/>
          <p:nvPr/>
        </p:nvSpPr>
        <p:spPr>
          <a:xfrm>
            <a:off x="13200278" y="3725266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8" name="Text 74"/>
          <p:cNvSpPr/>
          <p:nvPr/>
        </p:nvSpPr>
        <p:spPr>
          <a:xfrm>
            <a:off x="13238683" y="3770254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79" name="Shape 75"/>
          <p:cNvSpPr/>
          <p:nvPr/>
        </p:nvSpPr>
        <p:spPr>
          <a:xfrm>
            <a:off x="7220103" y="4098341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0" name="Text 76"/>
          <p:cNvSpPr/>
          <p:nvPr/>
        </p:nvSpPr>
        <p:spPr>
          <a:xfrm>
            <a:off x="7296912" y="417515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F30</a:t>
            </a:r>
            <a:endParaRPr lang="en-US" sz="840" dirty="0"/>
          </a:p>
        </p:txBody>
      </p:sp>
      <p:sp>
        <p:nvSpPr>
          <p:cNvPr id="81" name="Text 77"/>
          <p:cNvSpPr/>
          <p:nvPr/>
        </p:nvSpPr>
        <p:spPr>
          <a:xfrm>
            <a:off x="7724851" y="4136746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catastral y regularización predial</a:t>
            </a:r>
            <a:endParaRPr lang="en-US" sz="804" dirty="0"/>
          </a:p>
        </p:txBody>
      </p:sp>
      <p:sp>
        <p:nvSpPr>
          <p:cNvPr id="82" name="Shape 78"/>
          <p:cNvSpPr/>
          <p:nvPr/>
        </p:nvSpPr>
        <p:spPr>
          <a:xfrm>
            <a:off x="13200278" y="4169664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3" name="Text 79"/>
          <p:cNvSpPr/>
          <p:nvPr/>
        </p:nvSpPr>
        <p:spPr>
          <a:xfrm>
            <a:off x="13238683" y="421465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84" name="Shape 80"/>
          <p:cNvSpPr/>
          <p:nvPr/>
        </p:nvSpPr>
        <p:spPr>
          <a:xfrm>
            <a:off x="7220103" y="4542739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5" name="Text 81"/>
          <p:cNvSpPr/>
          <p:nvPr/>
        </p:nvSpPr>
        <p:spPr>
          <a:xfrm>
            <a:off x="7296912" y="461954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F31</a:t>
            </a:r>
            <a:endParaRPr lang="en-US" sz="840" dirty="0"/>
          </a:p>
        </p:txBody>
      </p:sp>
      <p:sp>
        <p:nvSpPr>
          <p:cNvPr id="86" name="Text 82"/>
          <p:cNvSpPr/>
          <p:nvPr/>
        </p:nvSpPr>
        <p:spPr>
          <a:xfrm>
            <a:off x="7724851" y="4581144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Asentamientos y población en zonas de riesgo</a:t>
            </a:r>
            <a:endParaRPr lang="en-US" sz="804" dirty="0"/>
          </a:p>
        </p:txBody>
      </p:sp>
      <p:sp>
        <p:nvSpPr>
          <p:cNvPr id="87" name="Shape 83"/>
          <p:cNvSpPr/>
          <p:nvPr/>
        </p:nvSpPr>
        <p:spPr>
          <a:xfrm>
            <a:off x="13200278" y="4614062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8" name="Text 84"/>
          <p:cNvSpPr/>
          <p:nvPr/>
        </p:nvSpPr>
        <p:spPr>
          <a:xfrm>
            <a:off x="13238683" y="465905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89" name="Shape 85"/>
          <p:cNvSpPr/>
          <p:nvPr/>
        </p:nvSpPr>
        <p:spPr>
          <a:xfrm>
            <a:off x="7220103" y="4987138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0" name="Text 86"/>
          <p:cNvSpPr/>
          <p:nvPr/>
        </p:nvSpPr>
        <p:spPr>
          <a:xfrm>
            <a:off x="7296912" y="5063947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F33</a:t>
            </a:r>
            <a:endParaRPr lang="en-US" sz="840" dirty="0"/>
          </a:p>
        </p:txBody>
      </p:sp>
      <p:sp>
        <p:nvSpPr>
          <p:cNvPr id="91" name="Text 87"/>
          <p:cNvSpPr/>
          <p:nvPr/>
        </p:nvSpPr>
        <p:spPr>
          <a:xfrm>
            <a:off x="7724851" y="5025542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Espacios públicos, áreas verdes y calidad del entorno urbano</a:t>
            </a:r>
            <a:endParaRPr lang="en-US" sz="804" dirty="0"/>
          </a:p>
        </p:txBody>
      </p:sp>
      <p:sp>
        <p:nvSpPr>
          <p:cNvPr id="92" name="Shape 88"/>
          <p:cNvSpPr/>
          <p:nvPr/>
        </p:nvSpPr>
        <p:spPr>
          <a:xfrm>
            <a:off x="13200278" y="5058461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3" name="Text 89"/>
          <p:cNvSpPr/>
          <p:nvPr/>
        </p:nvSpPr>
        <p:spPr>
          <a:xfrm>
            <a:off x="13238683" y="5103449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4" name="Shape 90"/>
          <p:cNvSpPr/>
          <p:nvPr/>
        </p:nvSpPr>
        <p:spPr>
          <a:xfrm>
            <a:off x="7220103" y="5431536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5" name="Text 91"/>
          <p:cNvSpPr/>
          <p:nvPr/>
        </p:nvSpPr>
        <p:spPr>
          <a:xfrm>
            <a:off x="7296912" y="5508346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F35</a:t>
            </a:r>
            <a:endParaRPr lang="en-US" sz="840" dirty="0"/>
          </a:p>
        </p:txBody>
      </p:sp>
      <p:sp>
        <p:nvSpPr>
          <p:cNvPr id="96" name="Text 92"/>
          <p:cNvSpPr/>
          <p:nvPr/>
        </p:nvSpPr>
        <p:spPr>
          <a:xfrm>
            <a:off x="7724851" y="5469941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Conservación y restauración ecosistémica</a:t>
            </a:r>
            <a:endParaRPr lang="en-US" sz="804" dirty="0"/>
          </a:p>
        </p:txBody>
      </p:sp>
      <p:sp>
        <p:nvSpPr>
          <p:cNvPr id="97" name="Shape 93"/>
          <p:cNvSpPr/>
          <p:nvPr/>
        </p:nvSpPr>
        <p:spPr>
          <a:xfrm>
            <a:off x="13200278" y="5502859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8" name="Text 94"/>
          <p:cNvSpPr/>
          <p:nvPr/>
        </p:nvSpPr>
        <p:spPr>
          <a:xfrm>
            <a:off x="13238683" y="554784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9" name="Shape 95"/>
          <p:cNvSpPr/>
          <p:nvPr/>
        </p:nvSpPr>
        <p:spPr>
          <a:xfrm>
            <a:off x="7220103" y="5875934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0" name="Text 96"/>
          <p:cNvSpPr/>
          <p:nvPr/>
        </p:nvSpPr>
        <p:spPr>
          <a:xfrm>
            <a:off x="7296912" y="595274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F36</a:t>
            </a:r>
            <a:endParaRPr lang="en-US" sz="840" dirty="0"/>
          </a:p>
        </p:txBody>
      </p:sp>
      <p:sp>
        <p:nvSpPr>
          <p:cNvPr id="101" name="Text 97"/>
          <p:cNvSpPr/>
          <p:nvPr/>
        </p:nvSpPr>
        <p:spPr>
          <a:xfrm>
            <a:off x="7724851" y="5914339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del aire y control ambiental</a:t>
            </a:r>
            <a:endParaRPr lang="en-US" sz="804" dirty="0"/>
          </a:p>
        </p:txBody>
      </p:sp>
      <p:sp>
        <p:nvSpPr>
          <p:cNvPr id="102" name="Shape 98"/>
          <p:cNvSpPr/>
          <p:nvPr/>
        </p:nvSpPr>
        <p:spPr>
          <a:xfrm>
            <a:off x="13200278" y="5947258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3" name="Text 99"/>
          <p:cNvSpPr/>
          <p:nvPr/>
        </p:nvSpPr>
        <p:spPr>
          <a:xfrm>
            <a:off x="13238683" y="599224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04" name="Shape 100"/>
          <p:cNvSpPr/>
          <p:nvPr/>
        </p:nvSpPr>
        <p:spPr>
          <a:xfrm>
            <a:off x="7220103" y="6320333"/>
            <a:ext cx="6353251" cy="39502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5" name="Text 101"/>
          <p:cNvSpPr/>
          <p:nvPr/>
        </p:nvSpPr>
        <p:spPr>
          <a:xfrm>
            <a:off x="7296912" y="639714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E8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F37</a:t>
            </a:r>
            <a:endParaRPr lang="en-US" sz="840" dirty="0"/>
          </a:p>
        </p:txBody>
      </p:sp>
      <p:sp>
        <p:nvSpPr>
          <p:cNvPr id="106" name="Text 102"/>
          <p:cNvSpPr/>
          <p:nvPr/>
        </p:nvSpPr>
        <p:spPr>
          <a:xfrm>
            <a:off x="7724851" y="6358738"/>
            <a:ext cx="5365699" cy="340157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04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Disponibilidad, consumo y sostenibilidad hídrica</a:t>
            </a:r>
            <a:endParaRPr lang="en-US" sz="804" dirty="0"/>
          </a:p>
        </p:txBody>
      </p:sp>
      <p:sp>
        <p:nvSpPr>
          <p:cNvPr id="107" name="Shape 103"/>
          <p:cNvSpPr/>
          <p:nvPr/>
        </p:nvSpPr>
        <p:spPr>
          <a:xfrm>
            <a:off x="13200278" y="6391656"/>
            <a:ext cx="219456" cy="219456"/>
          </a:xfrm>
          <a:prstGeom prst="ellipse">
            <a:avLst/>
          </a:prstGeom>
          <a:solidFill>
            <a:srgbClr val="E86E2E"/>
          </a:solidFill>
          <a:ln w="12700">
            <a:solidFill>
              <a:srgbClr val="E86E2E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8" name="Text 104"/>
          <p:cNvSpPr/>
          <p:nvPr/>
        </p:nvSpPr>
        <p:spPr>
          <a:xfrm>
            <a:off x="13238683" y="6436644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09" name="Shape 105"/>
          <p:cNvSpPr/>
          <p:nvPr/>
        </p:nvSpPr>
        <p:spPr>
          <a:xfrm>
            <a:off x="1042416" y="7242048"/>
            <a:ext cx="12563856" cy="373075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0" name="Text 106"/>
          <p:cNvSpPr/>
          <p:nvPr/>
        </p:nvSpPr>
        <p:spPr>
          <a:xfrm>
            <a:off x="1261872" y="7351776"/>
            <a:ext cx="1212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88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ejecutiva: la agrupación territorial concentra familias de ordenamiento, riesgo, espacios públicos, ambiente y agua.</a:t>
            </a:r>
            <a:endParaRPr lang="en-US" sz="8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ormat_unzip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1674"/>
            <a:ext cx="1316736" cy="1207008"/>
          </a:xfrm>
          <a:prstGeom prst="rect">
            <a:avLst/>
          </a:prstGeom>
        </p:spPr>
      </p:pic>
      <p:pic>
        <p:nvPicPr>
          <p:cNvPr id="3" name="Image 1" descr="/mnt/data/format_unzip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28" y="384048"/>
            <a:ext cx="1514246" cy="8010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59152" y="362103"/>
            <a:ext cx="9491472" cy="373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2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 POR AGRUPACIÓN TEMÁTICA</a:t>
            </a:r>
            <a:endParaRPr lang="en-US" sz="2220" dirty="0"/>
          </a:p>
        </p:txBody>
      </p:sp>
      <p:sp>
        <p:nvSpPr>
          <p:cNvPr id="5" name="Text 1"/>
          <p:cNvSpPr/>
          <p:nvPr/>
        </p:nvSpPr>
        <p:spPr>
          <a:xfrm>
            <a:off x="2359152" y="801015"/>
            <a:ext cx="9820656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públicos, movilidad, gobierno y finanzas</a:t>
            </a:r>
            <a:endParaRPr lang="en-US" sz="2040" dirty="0"/>
          </a:p>
        </p:txBody>
      </p:sp>
      <p:sp>
        <p:nvSpPr>
          <p:cNvPr id="6" name="Text 2"/>
          <p:cNvSpPr/>
          <p:nvPr/>
        </p:nvSpPr>
        <p:spPr>
          <a:xfrm>
            <a:off x="2359152" y="1338682"/>
            <a:ext cx="11137392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6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estructura temática con los ámbitos de operación, accesibilidad, gestión institucional y recursos.</a:t>
            </a:r>
            <a:endParaRPr lang="en-US" sz="1260" dirty="0"/>
          </a:p>
        </p:txBody>
      </p:sp>
      <p:sp>
        <p:nvSpPr>
          <p:cNvPr id="7" name="Shape 3"/>
          <p:cNvSpPr/>
          <p:nvPr/>
        </p:nvSpPr>
        <p:spPr>
          <a:xfrm>
            <a:off x="2359152" y="1645920"/>
            <a:ext cx="186537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" name="Shape 4"/>
          <p:cNvSpPr/>
          <p:nvPr/>
        </p:nvSpPr>
        <p:spPr>
          <a:xfrm>
            <a:off x="603504" y="7680960"/>
            <a:ext cx="13661136" cy="0"/>
          </a:xfrm>
          <a:prstGeom prst="line">
            <a:avLst/>
          </a:prstGeom>
          <a:noFill/>
          <a:ln w="25400">
            <a:solidFill>
              <a:srgbClr val="7A1733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" name="Text 5"/>
          <p:cNvSpPr/>
          <p:nvPr/>
        </p:nvSpPr>
        <p:spPr>
          <a:xfrm>
            <a:off x="603504" y="7845552"/>
            <a:ext cx="460857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4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SIIP Salamanca · Universo maestro de indicadores</a:t>
            </a:r>
            <a:endParaRPr lang="en-US" sz="864" dirty="0"/>
          </a:p>
        </p:txBody>
      </p:sp>
      <p:sp>
        <p:nvSpPr>
          <p:cNvPr id="10" name="Shape 6"/>
          <p:cNvSpPr/>
          <p:nvPr/>
        </p:nvSpPr>
        <p:spPr>
          <a:xfrm>
            <a:off x="8833104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0C2544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" name="Text 7"/>
          <p:cNvSpPr/>
          <p:nvPr/>
        </p:nvSpPr>
        <p:spPr>
          <a:xfrm>
            <a:off x="8953805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403690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agrupaciones</a:t>
            </a:r>
            <a:endParaRPr lang="en-US" sz="804" dirty="0"/>
          </a:p>
        </p:txBody>
      </p:sp>
      <p:sp>
        <p:nvSpPr>
          <p:cNvPr id="13" name="Shape 9"/>
          <p:cNvSpPr/>
          <p:nvPr/>
        </p:nvSpPr>
        <p:spPr>
          <a:xfrm>
            <a:off x="10391241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B9985A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" name="Text 10"/>
          <p:cNvSpPr/>
          <p:nvPr/>
        </p:nvSpPr>
        <p:spPr>
          <a:xfrm>
            <a:off x="10511943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0961827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familias</a:t>
            </a:r>
            <a:endParaRPr lang="en-US" sz="804" dirty="0"/>
          </a:p>
        </p:txBody>
      </p:sp>
      <p:sp>
        <p:nvSpPr>
          <p:cNvPr id="16" name="Shape 12"/>
          <p:cNvSpPr/>
          <p:nvPr/>
        </p:nvSpPr>
        <p:spPr>
          <a:xfrm>
            <a:off x="11949379" y="1580083"/>
            <a:ext cx="1448410" cy="482803"/>
          </a:xfrm>
          <a:prstGeom prst="roundRect">
            <a:avLst>
              <a:gd name="adj" fmla="val 13636"/>
            </a:avLst>
          </a:prstGeom>
          <a:solidFill>
            <a:srgbClr val="0E5A4B"/>
          </a:solidFill>
          <a:ln w="12700">
            <a:solidFill>
              <a:srgbClr val="E5E7EB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7" name="Text 13"/>
          <p:cNvSpPr/>
          <p:nvPr/>
        </p:nvSpPr>
        <p:spPr>
          <a:xfrm>
            <a:off x="12070080" y="1656893"/>
            <a:ext cx="41696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2519965" y="1667866"/>
            <a:ext cx="7242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0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804" dirty="0"/>
          </a:p>
        </p:txBody>
      </p:sp>
      <p:sp>
        <p:nvSpPr>
          <p:cNvPr id="19" name="Shape 15"/>
          <p:cNvSpPr/>
          <p:nvPr/>
        </p:nvSpPr>
        <p:spPr>
          <a:xfrm>
            <a:off x="822960" y="2084832"/>
            <a:ext cx="4169664" cy="2359152"/>
          </a:xfrm>
          <a:prstGeom prst="roundRect">
            <a:avLst>
              <a:gd name="adj" fmla="val 2558"/>
            </a:avLst>
          </a:prstGeom>
          <a:solidFill>
            <a:srgbClr val="EFFBFD"/>
          </a:solidFill>
          <a:ln w="12700">
            <a:solidFill>
              <a:srgbClr val="00A5B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0" name="Shape 16"/>
          <p:cNvSpPr/>
          <p:nvPr/>
        </p:nvSpPr>
        <p:spPr>
          <a:xfrm>
            <a:off x="899770" y="2161642"/>
            <a:ext cx="4016045" cy="482803"/>
          </a:xfrm>
          <a:prstGeom prst="roundRect">
            <a:avLst>
              <a:gd name="adj" fmla="val 9091"/>
            </a:avLst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1" name="Text 17"/>
          <p:cNvSpPr/>
          <p:nvPr/>
        </p:nvSpPr>
        <p:spPr>
          <a:xfrm>
            <a:off x="1042416" y="2282343"/>
            <a:ext cx="27432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Servicios públicos municipales</a:t>
            </a:r>
            <a:endParaRPr lang="en-US" sz="876" dirty="0"/>
          </a:p>
        </p:txBody>
      </p:sp>
      <p:sp>
        <p:nvSpPr>
          <p:cNvPr id="22" name="Text 18"/>
          <p:cNvSpPr/>
          <p:nvPr/>
        </p:nvSpPr>
        <p:spPr>
          <a:xfrm>
            <a:off x="3983126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80" dirty="0"/>
          </a:p>
        </p:txBody>
      </p:sp>
      <p:sp>
        <p:nvSpPr>
          <p:cNvPr id="23" name="Text 19"/>
          <p:cNvSpPr/>
          <p:nvPr/>
        </p:nvSpPr>
        <p:spPr>
          <a:xfrm>
            <a:off x="4312310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24" name="Shape 20"/>
          <p:cNvSpPr/>
          <p:nvPr/>
        </p:nvSpPr>
        <p:spPr>
          <a:xfrm>
            <a:off x="965607" y="2765146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5" name="Text 21"/>
          <p:cNvSpPr/>
          <p:nvPr/>
        </p:nvSpPr>
        <p:spPr>
          <a:xfrm>
            <a:off x="104241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F38</a:t>
            </a:r>
            <a:endParaRPr lang="en-US" sz="816" dirty="0"/>
          </a:p>
        </p:txBody>
      </p:sp>
      <p:sp>
        <p:nvSpPr>
          <p:cNvPr id="26" name="Text 22"/>
          <p:cNvSpPr/>
          <p:nvPr/>
        </p:nvSpPr>
        <p:spPr>
          <a:xfrm>
            <a:off x="1470355" y="2803551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de agua potable y saneamiento</a:t>
            </a:r>
            <a:endParaRPr lang="en-US" sz="786" dirty="0"/>
          </a:p>
        </p:txBody>
      </p:sp>
      <p:sp>
        <p:nvSpPr>
          <p:cNvPr id="27" name="Shape 23"/>
          <p:cNvSpPr/>
          <p:nvPr/>
        </p:nvSpPr>
        <p:spPr>
          <a:xfrm>
            <a:off x="4476902" y="2836469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28" name="Text 24"/>
          <p:cNvSpPr/>
          <p:nvPr/>
        </p:nvSpPr>
        <p:spPr>
          <a:xfrm>
            <a:off x="4515307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88" dirty="0"/>
          </a:p>
        </p:txBody>
      </p:sp>
      <p:sp>
        <p:nvSpPr>
          <p:cNvPr id="29" name="Shape 25"/>
          <p:cNvSpPr/>
          <p:nvPr/>
        </p:nvSpPr>
        <p:spPr>
          <a:xfrm>
            <a:off x="965607" y="3077871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0" name="Text 26"/>
          <p:cNvSpPr/>
          <p:nvPr/>
        </p:nvSpPr>
        <p:spPr>
          <a:xfrm>
            <a:off x="1042416" y="315468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F39</a:t>
            </a:r>
            <a:endParaRPr lang="en-US" sz="816" dirty="0"/>
          </a:p>
        </p:txBody>
      </p:sp>
      <p:sp>
        <p:nvSpPr>
          <p:cNvPr id="31" name="Text 27"/>
          <p:cNvSpPr/>
          <p:nvPr/>
        </p:nvSpPr>
        <p:spPr>
          <a:xfrm>
            <a:off x="1470355" y="3116275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Alumbrado público</a:t>
            </a:r>
            <a:endParaRPr lang="en-US" sz="786" dirty="0"/>
          </a:p>
        </p:txBody>
      </p:sp>
      <p:sp>
        <p:nvSpPr>
          <p:cNvPr id="32" name="Shape 28"/>
          <p:cNvSpPr/>
          <p:nvPr/>
        </p:nvSpPr>
        <p:spPr>
          <a:xfrm>
            <a:off x="4476902" y="3149194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3" name="Text 29"/>
          <p:cNvSpPr/>
          <p:nvPr/>
        </p:nvSpPr>
        <p:spPr>
          <a:xfrm>
            <a:off x="4515307" y="319418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4" name="Shape 30"/>
          <p:cNvSpPr/>
          <p:nvPr/>
        </p:nvSpPr>
        <p:spPr>
          <a:xfrm>
            <a:off x="965607" y="3390595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5" name="Text 31"/>
          <p:cNvSpPr/>
          <p:nvPr/>
        </p:nvSpPr>
        <p:spPr>
          <a:xfrm>
            <a:off x="1042416" y="346740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F40</a:t>
            </a:r>
            <a:endParaRPr lang="en-US" sz="816" dirty="0"/>
          </a:p>
        </p:txBody>
      </p:sp>
      <p:sp>
        <p:nvSpPr>
          <p:cNvPr id="36" name="Text 32"/>
          <p:cNvSpPr/>
          <p:nvPr/>
        </p:nvSpPr>
        <p:spPr>
          <a:xfrm>
            <a:off x="1470355" y="3429000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integral de residuos sólidos urbanos</a:t>
            </a:r>
            <a:endParaRPr lang="en-US" sz="786" dirty="0"/>
          </a:p>
        </p:txBody>
      </p:sp>
      <p:sp>
        <p:nvSpPr>
          <p:cNvPr id="37" name="Shape 33"/>
          <p:cNvSpPr/>
          <p:nvPr/>
        </p:nvSpPr>
        <p:spPr>
          <a:xfrm>
            <a:off x="4476902" y="3461918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38" name="Text 34"/>
          <p:cNvSpPr/>
          <p:nvPr/>
        </p:nvSpPr>
        <p:spPr>
          <a:xfrm>
            <a:off x="4515307" y="350690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39" name="Shape 35"/>
          <p:cNvSpPr/>
          <p:nvPr/>
        </p:nvSpPr>
        <p:spPr>
          <a:xfrm>
            <a:off x="965607" y="3703320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0" name="Text 36"/>
          <p:cNvSpPr/>
          <p:nvPr/>
        </p:nvSpPr>
        <p:spPr>
          <a:xfrm>
            <a:off x="1042416" y="378013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F42</a:t>
            </a:r>
            <a:endParaRPr lang="en-US" sz="816" dirty="0"/>
          </a:p>
        </p:txBody>
      </p:sp>
      <p:sp>
        <p:nvSpPr>
          <p:cNvPr id="41" name="Text 37"/>
          <p:cNvSpPr/>
          <p:nvPr/>
        </p:nvSpPr>
        <p:spPr>
          <a:xfrm>
            <a:off x="1470355" y="3741725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Panteones</a:t>
            </a:r>
            <a:endParaRPr lang="en-US" sz="786" dirty="0"/>
          </a:p>
        </p:txBody>
      </p:sp>
      <p:sp>
        <p:nvSpPr>
          <p:cNvPr id="42" name="Shape 38"/>
          <p:cNvSpPr/>
          <p:nvPr/>
        </p:nvSpPr>
        <p:spPr>
          <a:xfrm>
            <a:off x="4476902" y="3774643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3" name="Text 39"/>
          <p:cNvSpPr/>
          <p:nvPr/>
        </p:nvSpPr>
        <p:spPr>
          <a:xfrm>
            <a:off x="4515307" y="381963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8" dirty="0"/>
          </a:p>
        </p:txBody>
      </p:sp>
      <p:sp>
        <p:nvSpPr>
          <p:cNvPr id="44" name="Shape 40"/>
          <p:cNvSpPr/>
          <p:nvPr/>
        </p:nvSpPr>
        <p:spPr>
          <a:xfrm>
            <a:off x="965607" y="4016045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5" name="Text 41"/>
          <p:cNvSpPr/>
          <p:nvPr/>
        </p:nvSpPr>
        <p:spPr>
          <a:xfrm>
            <a:off x="1042416" y="409285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00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F43</a:t>
            </a:r>
            <a:endParaRPr lang="en-US" sz="816" dirty="0"/>
          </a:p>
        </p:txBody>
      </p:sp>
      <p:sp>
        <p:nvSpPr>
          <p:cNvPr id="46" name="Text 42"/>
          <p:cNvSpPr/>
          <p:nvPr/>
        </p:nvSpPr>
        <p:spPr>
          <a:xfrm>
            <a:off x="1470355" y="4054450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Rastro municipal</a:t>
            </a:r>
            <a:endParaRPr lang="en-US" sz="786" dirty="0"/>
          </a:p>
        </p:txBody>
      </p:sp>
      <p:sp>
        <p:nvSpPr>
          <p:cNvPr id="47" name="Shape 43"/>
          <p:cNvSpPr/>
          <p:nvPr/>
        </p:nvSpPr>
        <p:spPr>
          <a:xfrm>
            <a:off x="4476902" y="4087368"/>
            <a:ext cx="219456" cy="219456"/>
          </a:xfrm>
          <a:prstGeom prst="ellipse">
            <a:avLst/>
          </a:prstGeom>
          <a:solidFill>
            <a:srgbClr val="00A5B5"/>
          </a:solidFill>
          <a:ln w="12700">
            <a:solidFill>
              <a:srgbClr val="00A5B5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48" name="Text 44"/>
          <p:cNvSpPr/>
          <p:nvPr/>
        </p:nvSpPr>
        <p:spPr>
          <a:xfrm>
            <a:off x="4515307" y="413235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49" name="Shape 45"/>
          <p:cNvSpPr/>
          <p:nvPr/>
        </p:nvSpPr>
        <p:spPr>
          <a:xfrm>
            <a:off x="5212080" y="2084832"/>
            <a:ext cx="4169664" cy="2359152"/>
          </a:xfrm>
          <a:prstGeom prst="roundRect">
            <a:avLst>
              <a:gd name="adj" fmla="val 2558"/>
            </a:avLst>
          </a:prstGeom>
          <a:solidFill>
            <a:srgbClr val="EFF5FC"/>
          </a:solidFill>
          <a:ln w="12700">
            <a:solidFill>
              <a:srgbClr val="2E73B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0" name="Shape 46"/>
          <p:cNvSpPr/>
          <p:nvPr/>
        </p:nvSpPr>
        <p:spPr>
          <a:xfrm>
            <a:off x="5288890" y="2161642"/>
            <a:ext cx="4016045" cy="482803"/>
          </a:xfrm>
          <a:prstGeom prst="roundRect">
            <a:avLst>
              <a:gd name="adj" fmla="val 9091"/>
            </a:avLst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1" name="Text 47"/>
          <p:cNvSpPr/>
          <p:nvPr/>
        </p:nvSpPr>
        <p:spPr>
          <a:xfrm>
            <a:off x="5431536" y="2282343"/>
            <a:ext cx="274320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Movilidad y accesibilidad</a:t>
            </a:r>
            <a:endParaRPr lang="en-US" sz="888" dirty="0"/>
          </a:p>
        </p:txBody>
      </p:sp>
      <p:sp>
        <p:nvSpPr>
          <p:cNvPr id="52" name="Text 48"/>
          <p:cNvSpPr/>
          <p:nvPr/>
        </p:nvSpPr>
        <p:spPr>
          <a:xfrm>
            <a:off x="8372246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80" dirty="0"/>
          </a:p>
        </p:txBody>
      </p:sp>
      <p:sp>
        <p:nvSpPr>
          <p:cNvPr id="53" name="Text 49"/>
          <p:cNvSpPr/>
          <p:nvPr/>
        </p:nvSpPr>
        <p:spPr>
          <a:xfrm>
            <a:off x="8701430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54" name="Shape 50"/>
          <p:cNvSpPr/>
          <p:nvPr/>
        </p:nvSpPr>
        <p:spPr>
          <a:xfrm>
            <a:off x="5354727" y="2765146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5" name="Text 51"/>
          <p:cNvSpPr/>
          <p:nvPr/>
        </p:nvSpPr>
        <p:spPr>
          <a:xfrm>
            <a:off x="543153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F44</a:t>
            </a:r>
            <a:endParaRPr lang="en-US" sz="816" dirty="0"/>
          </a:p>
        </p:txBody>
      </p:sp>
      <p:sp>
        <p:nvSpPr>
          <p:cNvPr id="56" name="Text 52"/>
          <p:cNvSpPr/>
          <p:nvPr/>
        </p:nvSpPr>
        <p:spPr>
          <a:xfrm>
            <a:off x="5859475" y="2803551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y estado de vialidades</a:t>
            </a:r>
            <a:endParaRPr lang="en-US" sz="786" dirty="0"/>
          </a:p>
        </p:txBody>
      </p:sp>
      <p:sp>
        <p:nvSpPr>
          <p:cNvPr id="57" name="Shape 53"/>
          <p:cNvSpPr/>
          <p:nvPr/>
        </p:nvSpPr>
        <p:spPr>
          <a:xfrm>
            <a:off x="8866022" y="2836469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58" name="Text 54"/>
          <p:cNvSpPr/>
          <p:nvPr/>
        </p:nvSpPr>
        <p:spPr>
          <a:xfrm>
            <a:off x="8904427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59" name="Shape 55"/>
          <p:cNvSpPr/>
          <p:nvPr/>
        </p:nvSpPr>
        <p:spPr>
          <a:xfrm>
            <a:off x="5354727" y="3077871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0" name="Text 56"/>
          <p:cNvSpPr/>
          <p:nvPr/>
        </p:nvSpPr>
        <p:spPr>
          <a:xfrm>
            <a:off x="5431536" y="315468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F45</a:t>
            </a:r>
            <a:endParaRPr lang="en-US" sz="816" dirty="0"/>
          </a:p>
        </p:txBody>
      </p:sp>
      <p:sp>
        <p:nvSpPr>
          <p:cNvPr id="61" name="Text 57"/>
          <p:cNvSpPr/>
          <p:nvPr/>
        </p:nvSpPr>
        <p:spPr>
          <a:xfrm>
            <a:off x="5859475" y="3116275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peatonal y accesibilidad universal</a:t>
            </a:r>
            <a:endParaRPr lang="en-US" sz="786" dirty="0"/>
          </a:p>
        </p:txBody>
      </p:sp>
      <p:sp>
        <p:nvSpPr>
          <p:cNvPr id="62" name="Shape 58"/>
          <p:cNvSpPr/>
          <p:nvPr/>
        </p:nvSpPr>
        <p:spPr>
          <a:xfrm>
            <a:off x="8866022" y="3149194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3" name="Text 59"/>
          <p:cNvSpPr/>
          <p:nvPr/>
        </p:nvSpPr>
        <p:spPr>
          <a:xfrm>
            <a:off x="8904427" y="3194182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64" name="Shape 60"/>
          <p:cNvSpPr/>
          <p:nvPr/>
        </p:nvSpPr>
        <p:spPr>
          <a:xfrm>
            <a:off x="5354727" y="3390595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5" name="Text 61"/>
          <p:cNvSpPr/>
          <p:nvPr/>
        </p:nvSpPr>
        <p:spPr>
          <a:xfrm>
            <a:off x="5431536" y="346740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F46</a:t>
            </a:r>
            <a:endParaRPr lang="en-US" sz="816" dirty="0"/>
          </a:p>
        </p:txBody>
      </p:sp>
      <p:sp>
        <p:nvSpPr>
          <p:cNvPr id="66" name="Text 62"/>
          <p:cNvSpPr/>
          <p:nvPr/>
        </p:nvSpPr>
        <p:spPr>
          <a:xfrm>
            <a:off x="5859475" y="3429000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y movilidad ciclista</a:t>
            </a:r>
            <a:endParaRPr lang="en-US" sz="786" dirty="0"/>
          </a:p>
        </p:txBody>
      </p:sp>
      <p:sp>
        <p:nvSpPr>
          <p:cNvPr id="67" name="Shape 63"/>
          <p:cNvSpPr/>
          <p:nvPr/>
        </p:nvSpPr>
        <p:spPr>
          <a:xfrm>
            <a:off x="8866022" y="3461918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68" name="Text 64"/>
          <p:cNvSpPr/>
          <p:nvPr/>
        </p:nvSpPr>
        <p:spPr>
          <a:xfrm>
            <a:off x="8904427" y="350690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69" name="Shape 65"/>
          <p:cNvSpPr/>
          <p:nvPr/>
        </p:nvSpPr>
        <p:spPr>
          <a:xfrm>
            <a:off x="5354727" y="3703320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0" name="Text 66"/>
          <p:cNvSpPr/>
          <p:nvPr/>
        </p:nvSpPr>
        <p:spPr>
          <a:xfrm>
            <a:off x="5431536" y="3780130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F47</a:t>
            </a:r>
            <a:endParaRPr lang="en-US" sz="816" dirty="0"/>
          </a:p>
        </p:txBody>
      </p:sp>
      <p:sp>
        <p:nvSpPr>
          <p:cNvPr id="71" name="Text 67"/>
          <p:cNvSpPr/>
          <p:nvPr/>
        </p:nvSpPr>
        <p:spPr>
          <a:xfrm>
            <a:off x="5859475" y="3741725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 público</a:t>
            </a:r>
            <a:endParaRPr lang="en-US" sz="786" dirty="0"/>
          </a:p>
        </p:txBody>
      </p:sp>
      <p:sp>
        <p:nvSpPr>
          <p:cNvPr id="72" name="Shape 68"/>
          <p:cNvSpPr/>
          <p:nvPr/>
        </p:nvSpPr>
        <p:spPr>
          <a:xfrm>
            <a:off x="8866022" y="3774643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3" name="Text 69"/>
          <p:cNvSpPr/>
          <p:nvPr/>
        </p:nvSpPr>
        <p:spPr>
          <a:xfrm>
            <a:off x="8904427" y="381963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74" name="Shape 70"/>
          <p:cNvSpPr/>
          <p:nvPr/>
        </p:nvSpPr>
        <p:spPr>
          <a:xfrm>
            <a:off x="5354727" y="4016045"/>
            <a:ext cx="3884371" cy="263347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5" name="Text 71"/>
          <p:cNvSpPr/>
          <p:nvPr/>
        </p:nvSpPr>
        <p:spPr>
          <a:xfrm>
            <a:off x="5431536" y="409285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16" b="1" dirty="0">
                <a:solidFill>
                  <a:srgbClr val="2E7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F48</a:t>
            </a:r>
            <a:endParaRPr lang="en-US" sz="816" dirty="0"/>
          </a:p>
        </p:txBody>
      </p:sp>
      <p:sp>
        <p:nvSpPr>
          <p:cNvPr id="76" name="Text 72"/>
          <p:cNvSpPr/>
          <p:nvPr/>
        </p:nvSpPr>
        <p:spPr>
          <a:xfrm>
            <a:off x="5859475" y="4054450"/>
            <a:ext cx="2896819" cy="208483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Accidentes y seguridad vial</a:t>
            </a:r>
            <a:endParaRPr lang="en-US" sz="786" dirty="0"/>
          </a:p>
        </p:txBody>
      </p:sp>
      <p:sp>
        <p:nvSpPr>
          <p:cNvPr id="77" name="Shape 73"/>
          <p:cNvSpPr/>
          <p:nvPr/>
        </p:nvSpPr>
        <p:spPr>
          <a:xfrm>
            <a:off x="8866022" y="4087368"/>
            <a:ext cx="219456" cy="219456"/>
          </a:xfrm>
          <a:prstGeom prst="ellipse">
            <a:avLst/>
          </a:prstGeom>
          <a:solidFill>
            <a:srgbClr val="2E73B8"/>
          </a:solidFill>
          <a:ln w="12700">
            <a:solidFill>
              <a:srgbClr val="2E73B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78" name="Text 74"/>
          <p:cNvSpPr/>
          <p:nvPr/>
        </p:nvSpPr>
        <p:spPr>
          <a:xfrm>
            <a:off x="8904427" y="413235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79" name="Shape 75"/>
          <p:cNvSpPr/>
          <p:nvPr/>
        </p:nvSpPr>
        <p:spPr>
          <a:xfrm>
            <a:off x="9601200" y="2084832"/>
            <a:ext cx="4114800" cy="2359152"/>
          </a:xfrm>
          <a:prstGeom prst="roundRect">
            <a:avLst>
              <a:gd name="adj" fmla="val 2558"/>
            </a:avLst>
          </a:prstGeom>
          <a:solidFill>
            <a:srgbClr val="EEF2F7"/>
          </a:solidFill>
          <a:ln w="12700">
            <a:solidFill>
              <a:srgbClr val="0C2544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0" name="Shape 76"/>
          <p:cNvSpPr/>
          <p:nvPr/>
        </p:nvSpPr>
        <p:spPr>
          <a:xfrm>
            <a:off x="9678010" y="2161642"/>
            <a:ext cx="3961181" cy="482803"/>
          </a:xfrm>
          <a:prstGeom prst="roundRect">
            <a:avLst>
              <a:gd name="adj" fmla="val 9091"/>
            </a:avLst>
          </a:prstGeom>
          <a:solidFill>
            <a:srgbClr val="0C2544"/>
          </a:solidFill>
          <a:ln w="12700">
            <a:solidFill>
              <a:srgbClr val="0C2544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1" name="Text 77"/>
          <p:cNvSpPr/>
          <p:nvPr/>
        </p:nvSpPr>
        <p:spPr>
          <a:xfrm>
            <a:off x="9820656" y="2282343"/>
            <a:ext cx="268833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Finanzas públicas y gestión de recursos</a:t>
            </a:r>
            <a:endParaRPr lang="en-US" sz="876" dirty="0"/>
          </a:p>
        </p:txBody>
      </p:sp>
      <p:sp>
        <p:nvSpPr>
          <p:cNvPr id="82" name="Text 78"/>
          <p:cNvSpPr/>
          <p:nvPr/>
        </p:nvSpPr>
        <p:spPr>
          <a:xfrm>
            <a:off x="12706502" y="2227478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80" dirty="0"/>
          </a:p>
        </p:txBody>
      </p:sp>
      <p:sp>
        <p:nvSpPr>
          <p:cNvPr id="83" name="Text 79"/>
          <p:cNvSpPr/>
          <p:nvPr/>
        </p:nvSpPr>
        <p:spPr>
          <a:xfrm>
            <a:off x="13035686" y="2293315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84" name="Shape 80"/>
          <p:cNvSpPr/>
          <p:nvPr/>
        </p:nvSpPr>
        <p:spPr>
          <a:xfrm>
            <a:off x="9743847" y="2765146"/>
            <a:ext cx="3829507" cy="4389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5" name="Text 81"/>
          <p:cNvSpPr/>
          <p:nvPr/>
        </p:nvSpPr>
        <p:spPr>
          <a:xfrm>
            <a:off x="9820656" y="284195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F58</a:t>
            </a:r>
            <a:endParaRPr lang="en-US" sz="840" dirty="0"/>
          </a:p>
        </p:txBody>
      </p:sp>
      <p:sp>
        <p:nvSpPr>
          <p:cNvPr id="86" name="Text 82"/>
          <p:cNvSpPr/>
          <p:nvPr/>
        </p:nvSpPr>
        <p:spPr>
          <a:xfrm>
            <a:off x="10248595" y="2803550"/>
            <a:ext cx="2841955" cy="384048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1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Autonomía financiera e ingresos propios</a:t>
            </a:r>
            <a:endParaRPr lang="en-US" sz="816" dirty="0"/>
          </a:p>
        </p:txBody>
      </p:sp>
      <p:sp>
        <p:nvSpPr>
          <p:cNvPr id="87" name="Shape 83"/>
          <p:cNvSpPr/>
          <p:nvPr/>
        </p:nvSpPr>
        <p:spPr>
          <a:xfrm>
            <a:off x="13200278" y="2836469"/>
            <a:ext cx="219456" cy="219456"/>
          </a:xfrm>
          <a:prstGeom prst="ellipse">
            <a:avLst/>
          </a:prstGeom>
          <a:solidFill>
            <a:srgbClr val="0C2544"/>
          </a:solidFill>
          <a:ln w="12700">
            <a:solidFill>
              <a:srgbClr val="0C2544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88" name="Text 84"/>
          <p:cNvSpPr/>
          <p:nvPr/>
        </p:nvSpPr>
        <p:spPr>
          <a:xfrm>
            <a:off x="13238683" y="288145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89" name="Shape 85"/>
          <p:cNvSpPr/>
          <p:nvPr/>
        </p:nvSpPr>
        <p:spPr>
          <a:xfrm>
            <a:off x="9743847" y="3253435"/>
            <a:ext cx="3829507" cy="4389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0" name="Text 86"/>
          <p:cNvSpPr/>
          <p:nvPr/>
        </p:nvSpPr>
        <p:spPr>
          <a:xfrm>
            <a:off x="9820656" y="333024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F59</a:t>
            </a:r>
            <a:endParaRPr lang="en-US" sz="840" dirty="0"/>
          </a:p>
        </p:txBody>
      </p:sp>
      <p:sp>
        <p:nvSpPr>
          <p:cNvPr id="91" name="Text 87"/>
          <p:cNvSpPr/>
          <p:nvPr/>
        </p:nvSpPr>
        <p:spPr>
          <a:xfrm>
            <a:off x="10248595" y="3291840"/>
            <a:ext cx="2841955" cy="384048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1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presupuestaria y sostenibilidad financiera</a:t>
            </a:r>
            <a:endParaRPr lang="en-US" sz="816" dirty="0"/>
          </a:p>
        </p:txBody>
      </p:sp>
      <p:sp>
        <p:nvSpPr>
          <p:cNvPr id="92" name="Shape 88"/>
          <p:cNvSpPr/>
          <p:nvPr/>
        </p:nvSpPr>
        <p:spPr>
          <a:xfrm>
            <a:off x="13200278" y="3324758"/>
            <a:ext cx="219456" cy="219456"/>
          </a:xfrm>
          <a:prstGeom prst="ellipse">
            <a:avLst/>
          </a:prstGeom>
          <a:solidFill>
            <a:srgbClr val="0C2544"/>
          </a:solidFill>
          <a:ln w="12700">
            <a:solidFill>
              <a:srgbClr val="0C2544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3" name="Text 89"/>
          <p:cNvSpPr/>
          <p:nvPr/>
        </p:nvSpPr>
        <p:spPr>
          <a:xfrm>
            <a:off x="13238683" y="336974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4" name="Shape 90"/>
          <p:cNvSpPr/>
          <p:nvPr/>
        </p:nvSpPr>
        <p:spPr>
          <a:xfrm>
            <a:off x="9743847" y="3741725"/>
            <a:ext cx="3829507" cy="43891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5" name="Text 91"/>
          <p:cNvSpPr/>
          <p:nvPr/>
        </p:nvSpPr>
        <p:spPr>
          <a:xfrm>
            <a:off x="9820656" y="3818534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40" b="1" dirty="0">
                <a:solidFill>
                  <a:srgbClr val="0C2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F60</a:t>
            </a:r>
            <a:endParaRPr lang="en-US" sz="840" dirty="0"/>
          </a:p>
        </p:txBody>
      </p:sp>
      <p:sp>
        <p:nvSpPr>
          <p:cNvPr id="96" name="Text 92"/>
          <p:cNvSpPr/>
          <p:nvPr/>
        </p:nvSpPr>
        <p:spPr>
          <a:xfrm>
            <a:off x="10248595" y="3780130"/>
            <a:ext cx="2841955" cy="384048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81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Patrimonio municipal</a:t>
            </a:r>
            <a:endParaRPr lang="en-US" sz="816" dirty="0"/>
          </a:p>
        </p:txBody>
      </p:sp>
      <p:sp>
        <p:nvSpPr>
          <p:cNvPr id="97" name="Shape 93"/>
          <p:cNvSpPr/>
          <p:nvPr/>
        </p:nvSpPr>
        <p:spPr>
          <a:xfrm>
            <a:off x="13200278" y="3813048"/>
            <a:ext cx="219456" cy="219456"/>
          </a:xfrm>
          <a:prstGeom prst="ellipse">
            <a:avLst/>
          </a:prstGeom>
          <a:solidFill>
            <a:srgbClr val="0C2544"/>
          </a:solidFill>
          <a:ln w="12700">
            <a:solidFill>
              <a:srgbClr val="0C2544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98" name="Text 94"/>
          <p:cNvSpPr/>
          <p:nvPr/>
        </p:nvSpPr>
        <p:spPr>
          <a:xfrm>
            <a:off x="13238683" y="3858036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99" name="Shape 95"/>
          <p:cNvSpPr/>
          <p:nvPr/>
        </p:nvSpPr>
        <p:spPr>
          <a:xfrm>
            <a:off x="822960" y="4696359"/>
            <a:ext cx="12893040" cy="2282342"/>
          </a:xfrm>
          <a:prstGeom prst="roundRect">
            <a:avLst>
              <a:gd name="adj" fmla="val 2644"/>
            </a:avLst>
          </a:prstGeom>
          <a:solidFill>
            <a:srgbClr val="F8EEF2"/>
          </a:solidFill>
          <a:ln w="12700">
            <a:solidFill>
              <a:srgbClr val="65112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0" name="Shape 96"/>
          <p:cNvSpPr/>
          <p:nvPr/>
        </p:nvSpPr>
        <p:spPr>
          <a:xfrm>
            <a:off x="899770" y="4773168"/>
            <a:ext cx="12739421" cy="482803"/>
          </a:xfrm>
          <a:prstGeom prst="roundRect">
            <a:avLst>
              <a:gd name="adj" fmla="val 9091"/>
            </a:avLst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1" name="Text 97"/>
          <p:cNvSpPr/>
          <p:nvPr/>
        </p:nvSpPr>
        <p:spPr>
          <a:xfrm>
            <a:off x="1042416" y="4893869"/>
            <a:ext cx="11466576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Gobierno y gestión institucional</a:t>
            </a:r>
            <a:endParaRPr lang="en-US" sz="1008" dirty="0"/>
          </a:p>
        </p:txBody>
      </p:sp>
      <p:sp>
        <p:nvSpPr>
          <p:cNvPr id="102" name="Text 98"/>
          <p:cNvSpPr/>
          <p:nvPr/>
        </p:nvSpPr>
        <p:spPr>
          <a:xfrm>
            <a:off x="12706502" y="4839005"/>
            <a:ext cx="35113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680" dirty="0"/>
          </a:p>
        </p:txBody>
      </p:sp>
      <p:sp>
        <p:nvSpPr>
          <p:cNvPr id="103" name="Text 99"/>
          <p:cNvSpPr/>
          <p:nvPr/>
        </p:nvSpPr>
        <p:spPr>
          <a:xfrm>
            <a:off x="13035686" y="4904842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7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708" dirty="0"/>
          </a:p>
        </p:txBody>
      </p:sp>
      <p:sp>
        <p:nvSpPr>
          <p:cNvPr id="104" name="Shape 100"/>
          <p:cNvSpPr/>
          <p:nvPr/>
        </p:nvSpPr>
        <p:spPr>
          <a:xfrm>
            <a:off x="965607" y="5376673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5" name="Text 101"/>
          <p:cNvSpPr/>
          <p:nvPr/>
        </p:nvSpPr>
        <p:spPr>
          <a:xfrm>
            <a:off x="1042416" y="545348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F50</a:t>
            </a:r>
            <a:endParaRPr lang="en-US" sz="828" dirty="0"/>
          </a:p>
        </p:txBody>
      </p:sp>
      <p:sp>
        <p:nvSpPr>
          <p:cNvPr id="106" name="Text 102"/>
          <p:cNvSpPr/>
          <p:nvPr/>
        </p:nvSpPr>
        <p:spPr>
          <a:xfrm>
            <a:off x="1470355" y="5415077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Planeación, evaluación y gestión para resultados</a:t>
            </a:r>
            <a:endParaRPr lang="en-US" sz="786" dirty="0"/>
          </a:p>
        </p:txBody>
      </p:sp>
      <p:sp>
        <p:nvSpPr>
          <p:cNvPr id="107" name="Shape 103"/>
          <p:cNvSpPr/>
          <p:nvPr/>
        </p:nvSpPr>
        <p:spPr>
          <a:xfrm>
            <a:off x="6825082" y="5447995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08" name="Text 104"/>
          <p:cNvSpPr/>
          <p:nvPr/>
        </p:nvSpPr>
        <p:spPr>
          <a:xfrm>
            <a:off x="6863487" y="549298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09" name="Shape 105"/>
          <p:cNvSpPr/>
          <p:nvPr/>
        </p:nvSpPr>
        <p:spPr>
          <a:xfrm>
            <a:off x="965607" y="5748376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0" name="Text 106"/>
          <p:cNvSpPr/>
          <p:nvPr/>
        </p:nvSpPr>
        <p:spPr>
          <a:xfrm>
            <a:off x="1042416" y="582518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F51</a:t>
            </a:r>
            <a:endParaRPr lang="en-US" sz="828" dirty="0"/>
          </a:p>
        </p:txBody>
      </p:sp>
      <p:sp>
        <p:nvSpPr>
          <p:cNvPr id="111" name="Text 107"/>
          <p:cNvSpPr/>
          <p:nvPr/>
        </p:nvSpPr>
        <p:spPr>
          <a:xfrm>
            <a:off x="1470355" y="5786781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institucional y eficiencia administrativa</a:t>
            </a:r>
            <a:endParaRPr lang="en-US" sz="786" dirty="0"/>
          </a:p>
        </p:txBody>
      </p:sp>
      <p:sp>
        <p:nvSpPr>
          <p:cNvPr id="112" name="Shape 108"/>
          <p:cNvSpPr/>
          <p:nvPr/>
        </p:nvSpPr>
        <p:spPr>
          <a:xfrm>
            <a:off x="6825082" y="5819699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3" name="Text 109"/>
          <p:cNvSpPr/>
          <p:nvPr/>
        </p:nvSpPr>
        <p:spPr>
          <a:xfrm>
            <a:off x="6863487" y="586468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14" name="Shape 110"/>
          <p:cNvSpPr/>
          <p:nvPr/>
        </p:nvSpPr>
        <p:spPr>
          <a:xfrm>
            <a:off x="965607" y="6120080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5" name="Text 111"/>
          <p:cNvSpPr/>
          <p:nvPr/>
        </p:nvSpPr>
        <p:spPr>
          <a:xfrm>
            <a:off x="1042416" y="619688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F52</a:t>
            </a:r>
            <a:endParaRPr lang="en-US" sz="828" dirty="0"/>
          </a:p>
        </p:txBody>
      </p:sp>
      <p:sp>
        <p:nvSpPr>
          <p:cNvPr id="116" name="Text 112"/>
          <p:cNvSpPr/>
          <p:nvPr/>
        </p:nvSpPr>
        <p:spPr>
          <a:xfrm>
            <a:off x="1470355" y="6158485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digital y trámites electrónicos</a:t>
            </a:r>
            <a:endParaRPr lang="en-US" sz="786" dirty="0"/>
          </a:p>
        </p:txBody>
      </p:sp>
      <p:sp>
        <p:nvSpPr>
          <p:cNvPr id="117" name="Shape 113"/>
          <p:cNvSpPr/>
          <p:nvPr/>
        </p:nvSpPr>
        <p:spPr>
          <a:xfrm>
            <a:off x="6825082" y="6191402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18" name="Text 114"/>
          <p:cNvSpPr/>
          <p:nvPr/>
        </p:nvSpPr>
        <p:spPr>
          <a:xfrm>
            <a:off x="6863487" y="623639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19" name="Shape 115"/>
          <p:cNvSpPr/>
          <p:nvPr/>
        </p:nvSpPr>
        <p:spPr>
          <a:xfrm>
            <a:off x="965607" y="6491783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20" name="Text 116"/>
          <p:cNvSpPr/>
          <p:nvPr/>
        </p:nvSpPr>
        <p:spPr>
          <a:xfrm>
            <a:off x="1042416" y="656859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F53</a:t>
            </a:r>
            <a:endParaRPr lang="en-US" sz="828" dirty="0"/>
          </a:p>
        </p:txBody>
      </p:sp>
      <p:sp>
        <p:nvSpPr>
          <p:cNvPr id="121" name="Text 117"/>
          <p:cNvSpPr/>
          <p:nvPr/>
        </p:nvSpPr>
        <p:spPr>
          <a:xfrm>
            <a:off x="1470355" y="6530188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 ciudadana y presupuesto participativo</a:t>
            </a:r>
            <a:endParaRPr lang="en-US" sz="786" dirty="0"/>
          </a:p>
        </p:txBody>
      </p:sp>
      <p:sp>
        <p:nvSpPr>
          <p:cNvPr id="122" name="Shape 118"/>
          <p:cNvSpPr/>
          <p:nvPr/>
        </p:nvSpPr>
        <p:spPr>
          <a:xfrm>
            <a:off x="6825082" y="6563106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23" name="Text 119"/>
          <p:cNvSpPr/>
          <p:nvPr/>
        </p:nvSpPr>
        <p:spPr>
          <a:xfrm>
            <a:off x="6863487" y="6608094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8" dirty="0"/>
          </a:p>
        </p:txBody>
      </p:sp>
      <p:sp>
        <p:nvSpPr>
          <p:cNvPr id="124" name="Shape 120"/>
          <p:cNvSpPr/>
          <p:nvPr/>
        </p:nvSpPr>
        <p:spPr>
          <a:xfrm>
            <a:off x="7340803" y="5376673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25" name="Text 121"/>
          <p:cNvSpPr/>
          <p:nvPr/>
        </p:nvSpPr>
        <p:spPr>
          <a:xfrm>
            <a:off x="7417613" y="545348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F54</a:t>
            </a:r>
            <a:endParaRPr lang="en-US" sz="828" dirty="0"/>
          </a:p>
        </p:txBody>
      </p:sp>
      <p:sp>
        <p:nvSpPr>
          <p:cNvPr id="126" name="Text 122"/>
          <p:cNvSpPr/>
          <p:nvPr/>
        </p:nvSpPr>
        <p:spPr>
          <a:xfrm>
            <a:off x="7845552" y="5415077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 y control interno</a:t>
            </a:r>
            <a:endParaRPr lang="en-US" sz="786" dirty="0"/>
          </a:p>
        </p:txBody>
      </p:sp>
      <p:sp>
        <p:nvSpPr>
          <p:cNvPr id="127" name="Shape 123"/>
          <p:cNvSpPr/>
          <p:nvPr/>
        </p:nvSpPr>
        <p:spPr>
          <a:xfrm>
            <a:off x="13200278" y="5447995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28" name="Text 124"/>
          <p:cNvSpPr/>
          <p:nvPr/>
        </p:nvSpPr>
        <p:spPr>
          <a:xfrm>
            <a:off x="13238683" y="5492983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29" name="Shape 125"/>
          <p:cNvSpPr/>
          <p:nvPr/>
        </p:nvSpPr>
        <p:spPr>
          <a:xfrm>
            <a:off x="7340803" y="5748376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30" name="Text 126"/>
          <p:cNvSpPr/>
          <p:nvPr/>
        </p:nvSpPr>
        <p:spPr>
          <a:xfrm>
            <a:off x="7417613" y="5825185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F55</a:t>
            </a:r>
            <a:endParaRPr lang="en-US" sz="828" dirty="0"/>
          </a:p>
        </p:txBody>
      </p:sp>
      <p:sp>
        <p:nvSpPr>
          <p:cNvPr id="131" name="Text 127"/>
          <p:cNvSpPr/>
          <p:nvPr/>
        </p:nvSpPr>
        <p:spPr>
          <a:xfrm>
            <a:off x="7845552" y="5786781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 y acceso a la información</a:t>
            </a:r>
            <a:endParaRPr lang="en-US" sz="786" dirty="0"/>
          </a:p>
        </p:txBody>
      </p:sp>
      <p:sp>
        <p:nvSpPr>
          <p:cNvPr id="132" name="Shape 128"/>
          <p:cNvSpPr/>
          <p:nvPr/>
        </p:nvSpPr>
        <p:spPr>
          <a:xfrm>
            <a:off x="13200278" y="5819699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33" name="Text 129"/>
          <p:cNvSpPr/>
          <p:nvPr/>
        </p:nvSpPr>
        <p:spPr>
          <a:xfrm>
            <a:off x="13238683" y="5864687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34" name="Shape 130"/>
          <p:cNvSpPr/>
          <p:nvPr/>
        </p:nvSpPr>
        <p:spPr>
          <a:xfrm>
            <a:off x="7340803" y="6120080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35" name="Text 131"/>
          <p:cNvSpPr/>
          <p:nvPr/>
        </p:nvSpPr>
        <p:spPr>
          <a:xfrm>
            <a:off x="7417613" y="6196889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F56</a:t>
            </a:r>
            <a:endParaRPr lang="en-US" sz="828" dirty="0"/>
          </a:p>
        </p:txBody>
      </p:sp>
      <p:sp>
        <p:nvSpPr>
          <p:cNvPr id="136" name="Text 132"/>
          <p:cNvSpPr/>
          <p:nvPr/>
        </p:nvSpPr>
        <p:spPr>
          <a:xfrm>
            <a:off x="7845552" y="6158485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 registros, información y reportes municipales</a:t>
            </a:r>
            <a:endParaRPr lang="en-US" sz="786" dirty="0"/>
          </a:p>
        </p:txBody>
      </p:sp>
      <p:sp>
        <p:nvSpPr>
          <p:cNvPr id="137" name="Shape 133"/>
          <p:cNvSpPr/>
          <p:nvPr/>
        </p:nvSpPr>
        <p:spPr>
          <a:xfrm>
            <a:off x="13200278" y="6191402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38" name="Text 134"/>
          <p:cNvSpPr/>
          <p:nvPr/>
        </p:nvSpPr>
        <p:spPr>
          <a:xfrm>
            <a:off x="13238683" y="6236391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88" dirty="0"/>
          </a:p>
        </p:txBody>
      </p:sp>
      <p:sp>
        <p:nvSpPr>
          <p:cNvPr id="139" name="Shape 135"/>
          <p:cNvSpPr/>
          <p:nvPr/>
        </p:nvSpPr>
        <p:spPr>
          <a:xfrm>
            <a:off x="7340803" y="6491783"/>
            <a:ext cx="6232550" cy="322326"/>
          </a:xfrm>
          <a:prstGeom prst="roundRect">
            <a:avLst>
              <a:gd name="adj" fmla="val 10213"/>
            </a:avLst>
          </a:prstGeom>
          <a:solidFill>
            <a:srgbClr val="FFFFFF"/>
          </a:solidFill>
          <a:ln w="12700">
            <a:solidFill>
              <a:srgbClr val="D8D8D8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0" name="Text 136"/>
          <p:cNvSpPr/>
          <p:nvPr/>
        </p:nvSpPr>
        <p:spPr>
          <a:xfrm>
            <a:off x="7417613" y="6568592"/>
            <a:ext cx="37307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28" b="1" dirty="0">
                <a:solidFill>
                  <a:srgbClr val="65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F57</a:t>
            </a:r>
            <a:endParaRPr lang="en-US" sz="828" dirty="0"/>
          </a:p>
        </p:txBody>
      </p:sp>
      <p:sp>
        <p:nvSpPr>
          <p:cNvPr id="141" name="Text 137"/>
          <p:cNvSpPr/>
          <p:nvPr/>
        </p:nvSpPr>
        <p:spPr>
          <a:xfrm>
            <a:off x="7845552" y="6530188"/>
            <a:ext cx="5244998" cy="267462"/>
          </a:xfrm>
          <a:prstGeom prst="rect">
            <a:avLst/>
          </a:prstGeom>
          <a:noFill/>
          <a:ln/>
        </p:spPr>
        <p:txBody>
          <a:bodyPr wrap="square" lIns="152" tIns="152" rIns="152" bIns="152" rtlCol="0" anchor="ctr">
            <a:normAutofit/>
          </a:bodyPr>
          <a:lstStyle/>
          <a:p>
            <a:r>
              <a:rPr lang="en-US" sz="786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de trámites y atención municipal</a:t>
            </a:r>
            <a:endParaRPr lang="en-US" sz="786" dirty="0"/>
          </a:p>
        </p:txBody>
      </p:sp>
      <p:sp>
        <p:nvSpPr>
          <p:cNvPr id="142" name="Shape 138"/>
          <p:cNvSpPr/>
          <p:nvPr/>
        </p:nvSpPr>
        <p:spPr>
          <a:xfrm>
            <a:off x="13200278" y="6563106"/>
            <a:ext cx="219456" cy="219456"/>
          </a:xfrm>
          <a:prstGeom prst="ellipse">
            <a:avLst/>
          </a:prstGeom>
          <a:solidFill>
            <a:srgbClr val="651126"/>
          </a:solidFill>
          <a:ln w="12700">
            <a:solidFill>
              <a:srgbClr val="651126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3" name="Text 139"/>
          <p:cNvSpPr/>
          <p:nvPr/>
        </p:nvSpPr>
        <p:spPr>
          <a:xfrm>
            <a:off x="13238683" y="6608094"/>
            <a:ext cx="142646" cy="877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algn="ctr"/>
            <a:r>
              <a:rPr lang="en-US" sz="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88" dirty="0"/>
          </a:p>
        </p:txBody>
      </p:sp>
      <p:sp>
        <p:nvSpPr>
          <p:cNvPr id="144" name="Shape 140"/>
          <p:cNvSpPr/>
          <p:nvPr/>
        </p:nvSpPr>
        <p:spPr>
          <a:xfrm>
            <a:off x="1042416" y="7242048"/>
            <a:ext cx="12563856" cy="373075"/>
          </a:xfrm>
          <a:prstGeom prst="roundRect">
            <a:avLst>
              <a:gd name="adj" fmla="val 11765"/>
            </a:avLst>
          </a:prstGeom>
          <a:solidFill>
            <a:srgbClr val="F5F6F8"/>
          </a:solidFill>
          <a:ln w="12700">
            <a:solidFill>
              <a:srgbClr val="D7DBE0"/>
            </a:solidFill>
            <a:prstDash val="solid"/>
          </a:ln>
        </p:spPr>
        <p:txBody>
          <a:bodyPr/>
          <a:lstStyle/>
          <a:p>
            <a:endParaRPr lang="es-MX" sz="2160"/>
          </a:p>
        </p:txBody>
      </p:sp>
      <p:sp>
        <p:nvSpPr>
          <p:cNvPr id="145" name="Text 141"/>
          <p:cNvSpPr/>
          <p:nvPr/>
        </p:nvSpPr>
        <p:spPr>
          <a:xfrm>
            <a:off x="1261872" y="7351776"/>
            <a:ext cx="1212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888" b="1" dirty="0">
                <a:solidFill>
                  <a:srgbClr val="7A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general: 129 indicadores organizados en 54 familias y 8 agrupaciones temáticas.</a:t>
            </a:r>
            <a:endParaRPr lang="en-US" sz="88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10312"/>
            <a:ext cx="1572768" cy="1353312"/>
          </a:xfrm>
          <a:prstGeom prst="rect">
            <a:avLst/>
          </a:prstGeom>
        </p:spPr>
      </p:pic>
      <p:pic>
        <p:nvPicPr>
          <p:cNvPr id="3" name="Image 1" descr="/mnt/data/template_extract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6384" y="274320"/>
            <a:ext cx="1783080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33172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METODOLÓGICO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233172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que sostienen el universo maestro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50008" y="1243584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es un sistema acotado, trazable y útil para la toma de decisiones municipales.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2350008" y="1627632"/>
            <a:ext cx="1828800" cy="0"/>
          </a:xfrm>
          <a:prstGeom prst="line">
            <a:avLst/>
          </a:prstGeom>
          <a:noFill/>
          <a:ln w="1778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1188720" y="237744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0E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Utilidad para decidir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349240" y="237744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Pertinencia municipal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509760" y="237744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965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6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Factibilidad de medición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188720" y="356616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6B2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B6B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 de origen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49240" y="356616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3A5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duplicidad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9509760" y="3566160"/>
            <a:ext cx="36118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65E6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Equilibrio Contexto / Actuación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5166360"/>
            <a:ext cx="2103120" cy="457200"/>
          </a:xfrm>
          <a:prstGeom prst="roundRect">
            <a:avLst/>
          </a:prstGeom>
          <a:solidFill>
            <a:srgbClr val="8B0E33"/>
          </a:solidFill>
          <a:ln w="12700">
            <a:solidFill>
              <a:srgbClr val="8B0E3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886200" y="5074920"/>
            <a:ext cx="9006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B0E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universo maestro que no pretende medirlo todo, sino concentrar la información estratégica, periódicamente actualizable y vinculada con decisiones municipales.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246120" y="6419088"/>
            <a:ext cx="8138160" cy="640080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0A4B43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 etapa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4B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Fichas técnicas, responsables, fuentes, fórmulas y reglas de actualización.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4360" y="7635240"/>
            <a:ext cx="13441680" cy="0"/>
          </a:xfrm>
          <a:prstGeom prst="line">
            <a:avLst/>
          </a:prstGeom>
          <a:noFill/>
          <a:ln w="15240">
            <a:solidFill>
              <a:srgbClr val="8B0E3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603504" y="7754112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5E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SIIP Salamanca · Universo maestro de indicadores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DD108D-CD9A-BBA7-EF1E-B8448472C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" y="0"/>
            <a:ext cx="1462262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388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1_edi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69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1503</Words>
  <Application>Microsoft Office PowerPoint</Application>
  <PresentationFormat>Personalizado</PresentationFormat>
  <Paragraphs>391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IMPLAN Salamanca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Consolidación del universo maestro de indicadores</dc:title>
  <dc:subject>SIIP Salamanca - metodología de consolidación del universo maestro</dc:subject>
  <dc:creator>OpenAI</dc:creator>
  <cp:lastModifiedBy>Eduardo Flores Palacios</cp:lastModifiedBy>
  <cp:revision>5</cp:revision>
  <dcterms:created xsi:type="dcterms:W3CDTF">2026-08-11T02:35:33Z</dcterms:created>
  <dcterms:modified xsi:type="dcterms:W3CDTF">2026-08-14T16:17:23Z</dcterms:modified>
</cp:coreProperties>
</file>