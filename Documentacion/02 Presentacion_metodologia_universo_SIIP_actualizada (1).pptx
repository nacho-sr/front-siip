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70" r:id="rId11"/>
    <p:sldId id="264" r:id="rId12"/>
    <p:sldId id="272" r:id="rId13"/>
    <p:sldId id="284" r:id="rId14"/>
    <p:sldId id="281" r:id="rId15"/>
    <p:sldId id="278" r:id="rId16"/>
    <p:sldId id="273" r:id="rId17"/>
    <p:sldId id="274" r:id="rId18"/>
    <p:sldId id="275" r:id="rId19"/>
    <p:sldId id="276" r:id="rId20"/>
    <p:sldId id="277" r:id="rId2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EFC55-760E-4168-B592-501CB5388C7B}" v="30" dt="2026-10-02T20:02:56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Flores Palacios" userId="b19f6ad770826bc0" providerId="LiveId" clId="{7C01EECD-2A10-401B-8591-6E34CD5C7A73}"/>
    <pc:docChg chg="undo redo custSel addSld delSld modSld sldOrd">
      <pc:chgData name="Eduardo Flores Palacios" userId="b19f6ad770826bc0" providerId="LiveId" clId="{7C01EECD-2A10-401B-8591-6E34CD5C7A73}" dt="2026-10-06T22:08:21.249" v="278" actId="47"/>
      <pc:docMkLst>
        <pc:docMk/>
      </pc:docMkLst>
      <pc:sldChg chg="del">
        <pc:chgData name="Eduardo Flores Palacios" userId="b19f6ad770826bc0" providerId="LiveId" clId="{7C01EECD-2A10-401B-8591-6E34CD5C7A73}" dt="2026-10-06T22:08:14.364" v="277" actId="47"/>
        <pc:sldMkLst>
          <pc:docMk/>
          <pc:sldMk cId="3136388768" sldId="265"/>
        </pc:sldMkLst>
      </pc:sldChg>
      <pc:sldChg chg="del">
        <pc:chgData name="Eduardo Flores Palacios" userId="b19f6ad770826bc0" providerId="LiveId" clId="{7C01EECD-2A10-401B-8591-6E34CD5C7A73}" dt="2026-10-06T22:08:21.249" v="278" actId="47"/>
        <pc:sldMkLst>
          <pc:docMk/>
          <pc:sldMk cId="936369546" sldId="266"/>
        </pc:sldMkLst>
      </pc:sldChg>
      <pc:sldChg chg="addSp delSp new del mod">
        <pc:chgData name="Eduardo Flores Palacios" userId="b19f6ad770826bc0" providerId="LiveId" clId="{7C01EECD-2A10-401B-8591-6E34CD5C7A73}" dt="2026-10-06T22:07:57.771" v="276" actId="47"/>
        <pc:sldMkLst>
          <pc:docMk/>
          <pc:sldMk cId="3534184097" sldId="271"/>
        </pc:sldMkLst>
      </pc:sldChg>
      <pc:sldChg chg="addSp delSp modSp add mod setBg">
        <pc:chgData name="Eduardo Flores Palacios" userId="b19f6ad770826bc0" providerId="LiveId" clId="{7C01EECD-2A10-401B-8591-6E34CD5C7A73}" dt="2026-10-02T19:11:10.768" v="220" actId="14100"/>
        <pc:sldMkLst>
          <pc:docMk/>
          <pc:sldMk cId="3011037924" sldId="272"/>
        </pc:sldMkLst>
        <pc:picChg chg="add mod">
          <ac:chgData name="Eduardo Flores Palacios" userId="b19f6ad770826bc0" providerId="LiveId" clId="{7C01EECD-2A10-401B-8591-6E34CD5C7A73}" dt="2026-10-02T19:11:03.193" v="219" actId="14100"/>
          <ac:picMkLst>
            <pc:docMk/>
            <pc:sldMk cId="3011037924" sldId="272"/>
            <ac:picMk id="8" creationId="{A2EDFA2D-BA9F-2C5B-0CC4-DB2B1F491551}"/>
          </ac:picMkLst>
        </pc:picChg>
        <pc:picChg chg="add mod">
          <ac:chgData name="Eduardo Flores Palacios" userId="b19f6ad770826bc0" providerId="LiveId" clId="{7C01EECD-2A10-401B-8591-6E34CD5C7A73}" dt="2026-10-02T19:11:10.768" v="220" actId="14100"/>
          <ac:picMkLst>
            <pc:docMk/>
            <pc:sldMk cId="3011037924" sldId="272"/>
            <ac:picMk id="19" creationId="{9248FBBF-A55D-4446-2FE8-6844144BFDD1}"/>
          </ac:picMkLst>
        </pc:picChg>
      </pc:sldChg>
      <pc:sldChg chg="addSp delSp modSp add mod">
        <pc:chgData name="Eduardo Flores Palacios" userId="b19f6ad770826bc0" providerId="LiveId" clId="{7C01EECD-2A10-401B-8591-6E34CD5C7A73}" dt="2026-10-02T19:10:16.038" v="215" actId="14100"/>
        <pc:sldMkLst>
          <pc:docMk/>
          <pc:sldMk cId="3374617701" sldId="273"/>
        </pc:sldMkLst>
        <pc:spChg chg="mod">
          <ac:chgData name="Eduardo Flores Palacios" userId="b19f6ad770826bc0" providerId="LiveId" clId="{7C01EECD-2A10-401B-8591-6E34CD5C7A73}" dt="2026-10-02T19:09:24.212" v="208" actId="20577"/>
          <ac:spMkLst>
            <pc:docMk/>
            <pc:sldMk cId="3374617701" sldId="273"/>
            <ac:spMk id="18" creationId="{3967C0C0-3098-4024-F604-F84A4C142479}"/>
          </ac:spMkLst>
        </pc:spChg>
        <pc:picChg chg="add mod">
          <ac:chgData name="Eduardo Flores Palacios" userId="b19f6ad770826bc0" providerId="LiveId" clId="{7C01EECD-2A10-401B-8591-6E34CD5C7A73}" dt="2026-10-02T19:10:16.038" v="215" actId="14100"/>
          <ac:picMkLst>
            <pc:docMk/>
            <pc:sldMk cId="3374617701" sldId="273"/>
            <ac:picMk id="4" creationId="{BBF361DA-338F-B5D8-4656-06B2CE1E8E85}"/>
          </ac:picMkLst>
        </pc:picChg>
      </pc:sldChg>
      <pc:sldChg chg="addSp modSp add mod">
        <pc:chgData name="Eduardo Flores Palacios" userId="b19f6ad770826bc0" providerId="LiveId" clId="{7C01EECD-2A10-401B-8591-6E34CD5C7A73}" dt="2026-10-02T19:12:35.037" v="226" actId="1076"/>
        <pc:sldMkLst>
          <pc:docMk/>
          <pc:sldMk cId="3126019778" sldId="274"/>
        </pc:sldMkLst>
        <pc:picChg chg="add mod">
          <ac:chgData name="Eduardo Flores Palacios" userId="b19f6ad770826bc0" providerId="LiveId" clId="{7C01EECD-2A10-401B-8591-6E34CD5C7A73}" dt="2026-10-02T19:12:35.037" v="226" actId="1076"/>
          <ac:picMkLst>
            <pc:docMk/>
            <pc:sldMk cId="3126019778" sldId="274"/>
            <ac:picMk id="4" creationId="{32921D32-47BB-DB42-0C9C-9489FFA010AB}"/>
          </ac:picMkLst>
        </pc:picChg>
      </pc:sldChg>
      <pc:sldChg chg="addSp modSp add mod">
        <pc:chgData name="Eduardo Flores Palacios" userId="b19f6ad770826bc0" providerId="LiveId" clId="{7C01EECD-2A10-401B-8591-6E34CD5C7A73}" dt="2026-10-02T19:13:07.100" v="229" actId="14100"/>
        <pc:sldMkLst>
          <pc:docMk/>
          <pc:sldMk cId="1426750196" sldId="275"/>
        </pc:sldMkLst>
        <pc:picChg chg="add mod">
          <ac:chgData name="Eduardo Flores Palacios" userId="b19f6ad770826bc0" providerId="LiveId" clId="{7C01EECD-2A10-401B-8591-6E34CD5C7A73}" dt="2026-10-02T19:13:07.100" v="229" actId="14100"/>
          <ac:picMkLst>
            <pc:docMk/>
            <pc:sldMk cId="1426750196" sldId="275"/>
            <ac:picMk id="4" creationId="{FF50EA5A-0EDA-16C6-BEFC-9064D62A761C}"/>
          </ac:picMkLst>
        </pc:picChg>
      </pc:sldChg>
      <pc:sldChg chg="addSp modSp add mod">
        <pc:chgData name="Eduardo Flores Palacios" userId="b19f6ad770826bc0" providerId="LiveId" clId="{7C01EECD-2A10-401B-8591-6E34CD5C7A73}" dt="2026-10-02T19:13:41.543" v="232" actId="14100"/>
        <pc:sldMkLst>
          <pc:docMk/>
          <pc:sldMk cId="11807048" sldId="276"/>
        </pc:sldMkLst>
        <pc:picChg chg="add mod">
          <ac:chgData name="Eduardo Flores Palacios" userId="b19f6ad770826bc0" providerId="LiveId" clId="{7C01EECD-2A10-401B-8591-6E34CD5C7A73}" dt="2026-10-02T19:13:41.543" v="232" actId="14100"/>
          <ac:picMkLst>
            <pc:docMk/>
            <pc:sldMk cId="11807048" sldId="276"/>
            <ac:picMk id="4" creationId="{C04888F3-02D2-1F7E-0F83-B91B789DBE41}"/>
          </ac:picMkLst>
        </pc:picChg>
      </pc:sldChg>
      <pc:sldChg chg="addSp modSp add mod">
        <pc:chgData name="Eduardo Flores Palacios" userId="b19f6ad770826bc0" providerId="LiveId" clId="{7C01EECD-2A10-401B-8591-6E34CD5C7A73}" dt="2026-10-02T19:14:25.810" v="235" actId="14100"/>
        <pc:sldMkLst>
          <pc:docMk/>
          <pc:sldMk cId="1469713886" sldId="277"/>
        </pc:sldMkLst>
        <pc:picChg chg="add mod">
          <ac:chgData name="Eduardo Flores Palacios" userId="b19f6ad770826bc0" providerId="LiveId" clId="{7C01EECD-2A10-401B-8591-6E34CD5C7A73}" dt="2026-10-02T19:14:25.810" v="235" actId="14100"/>
          <ac:picMkLst>
            <pc:docMk/>
            <pc:sldMk cId="1469713886" sldId="277"/>
            <ac:picMk id="4" creationId="{2A968937-47CE-2C85-3F9C-4C264A487990}"/>
          </ac:picMkLst>
        </pc:picChg>
      </pc:sldChg>
      <pc:sldChg chg="addSp delSp modSp add mod">
        <pc:chgData name="Eduardo Flores Palacios" userId="b19f6ad770826bc0" providerId="LiveId" clId="{7C01EECD-2A10-401B-8591-6E34CD5C7A73}" dt="2026-10-02T19:15:34.069" v="245" actId="14100"/>
        <pc:sldMkLst>
          <pc:docMk/>
          <pc:sldMk cId="317617112" sldId="278"/>
        </pc:sldMkLst>
        <pc:picChg chg="add mod modCrop">
          <ac:chgData name="Eduardo Flores Palacios" userId="b19f6ad770826bc0" providerId="LiveId" clId="{7C01EECD-2A10-401B-8591-6E34CD5C7A73}" dt="2026-10-02T19:15:34.069" v="245" actId="14100"/>
          <ac:picMkLst>
            <pc:docMk/>
            <pc:sldMk cId="317617112" sldId="278"/>
            <ac:picMk id="6" creationId="{9AF485F2-5FD7-C4AF-49EE-2467F12B8B21}"/>
          </ac:picMkLst>
        </pc:picChg>
      </pc:sldChg>
      <pc:sldChg chg="add del">
        <pc:chgData name="Eduardo Flores Palacios" userId="b19f6ad770826bc0" providerId="LiveId" clId="{7C01EECD-2A10-401B-8591-6E34CD5C7A73}" dt="2026-10-06T22:07:57.771" v="276" actId="47"/>
        <pc:sldMkLst>
          <pc:docMk/>
          <pc:sldMk cId="1716324212" sldId="280"/>
        </pc:sldMkLst>
      </pc:sldChg>
      <pc:sldChg chg="add">
        <pc:chgData name="Eduardo Flores Palacios" userId="b19f6ad770826bc0" providerId="LiveId" clId="{7C01EECD-2A10-401B-8591-6E34CD5C7A73}" dt="2026-10-02T20:01:56.187" v="274"/>
        <pc:sldMkLst>
          <pc:docMk/>
          <pc:sldMk cId="31076888" sldId="281"/>
        </pc:sldMkLst>
      </pc:sldChg>
      <pc:sldChg chg="add del">
        <pc:chgData name="Eduardo Flores Palacios" userId="b19f6ad770826bc0" providerId="LiveId" clId="{7C01EECD-2A10-401B-8591-6E34CD5C7A73}" dt="2026-10-06T22:07:57.771" v="276" actId="47"/>
        <pc:sldMkLst>
          <pc:docMk/>
          <pc:sldMk cId="589952154" sldId="282"/>
        </pc:sldMkLst>
      </pc:sldChg>
      <pc:sldChg chg="add del">
        <pc:chgData name="Eduardo Flores Palacios" userId="b19f6ad770826bc0" providerId="LiveId" clId="{7C01EECD-2A10-401B-8591-6E34CD5C7A73}" dt="2026-10-06T22:07:57.771" v="276" actId="47"/>
        <pc:sldMkLst>
          <pc:docMk/>
          <pc:sldMk cId="1654531336" sldId="283"/>
        </pc:sldMkLst>
      </pc:sldChg>
      <pc:sldChg chg="add">
        <pc:chgData name="Eduardo Flores Palacios" userId="b19f6ad770826bc0" providerId="LiveId" clId="{7C01EECD-2A10-401B-8591-6E34CD5C7A73}" dt="2026-10-02T20:02:56.275" v="275"/>
        <pc:sldMkLst>
          <pc:docMk/>
          <pc:sldMk cId="29026212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96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55FA-CF6A-E71C-AC21-F6EF1DE3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BE38E8-1434-0C5E-3845-06A72DCF9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A290E-CCEF-4141-D1CA-96387FB42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C7722-4089-8FA9-3627-C79944FB0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30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4E9A-2E4E-6B19-9008-1DBD894D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9885C-FD3D-EA01-ED91-26BB49FD4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024B0-E73B-4CA9-A78A-56881599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AD544-C9C2-E7EC-0BBB-5C47CBB43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73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0330-9C65-353D-12EC-9E9A434E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A2573-2575-5B27-E2CC-565081E06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1C572-0C23-F98F-32AC-853951EA1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CEB3B-FAE7-6C55-FE6C-F11354017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96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F876-746B-352A-E370-7FF212715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D70D0-B68B-BC6F-E503-F6FA835AF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3BCE6-31DB-3911-A936-CEFACF795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1DBEA-C11C-1801-45FE-9765FBC6A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51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C2193-5B2E-8CC5-21C0-2A2BCCEC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39117-FC0E-6D00-2FF2-0E224CF04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41285-5A4C-FEFF-12A3-47C80F1D8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89DC4-9B6D-7365-B5E7-19627041F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82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8DD57-B29C-47B3-1039-5496D99E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9DCA1-1DFA-2900-6655-D79F1DBA3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46D80-0889-9F40-11D8-B11133080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43C33-714A-895B-5CFA-E0E79B6A8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99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C515-7D79-CA35-F350-0F07C860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FB22-589B-FCC7-C780-D7C168686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2AC4C-39CE-0300-99B7-6B15FE03B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22914-ECB0-3F6B-BD3F-0A7BB1CA6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109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92D6-CFD1-0FD3-73A9-68F05B5D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FB6A2-714B-E621-D9BC-C7F35D9CB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5AED2-E13D-66EC-6162-2F53E6829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905AC-AE7F-22B4-F9D2-98A6D7FCA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78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3AC3-2BE6-11A9-A373-7D92CD1B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52000-E992-4DF3-2F9E-56F51F7CE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16CDC-6594-1A47-2955-021803AF5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95FAF-4BBF-6B02-9E88-81F5E5CB3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8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4754880" cy="40782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6263640"/>
            <a:ext cx="12801600" cy="0"/>
          </a:xfrm>
          <a:prstGeom prst="line">
            <a:avLst/>
          </a:prstGeom>
          <a:noFill/>
          <a:ln w="1905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914400" y="96012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Integrado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de Planeación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32688" y="23957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Consolidación del universo maestro de indicadores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2688" y="28529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 de depuración, agrupación y función del indicador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7132320" cy="475488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 maestro: 129 indicadores · 54 familias · 8 agrupaciones temáticas</a:t>
            </a:r>
            <a:endParaRPr lang="en-US" sz="1250" dirty="0"/>
          </a:p>
        </p:txBody>
      </p:sp>
      <p:pic>
        <p:nvPicPr>
          <p:cNvPr id="9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6629400"/>
            <a:ext cx="2468880" cy="12252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6903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| Instituto Municipal de Planeación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GENERAL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universo amplio a universo maestro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depuración no fue una reducción mecánica; fue una consolidación técnica para dejar un sistema estratégico y operable.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4023360" y="4206240"/>
            <a:ext cx="1463040" cy="0"/>
          </a:xfrm>
          <a:prstGeom prst="line">
            <a:avLst/>
          </a:prstGeom>
          <a:noFill/>
          <a:ln w="2921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9" name="Shape 5"/>
          <p:cNvSpPr/>
          <p:nvPr/>
        </p:nvSpPr>
        <p:spPr>
          <a:xfrm>
            <a:off x="6949440" y="4206240"/>
            <a:ext cx="1463040" cy="0"/>
          </a:xfrm>
          <a:prstGeom prst="line">
            <a:avLst/>
          </a:prstGeom>
          <a:noFill/>
          <a:ln w="2921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0" name="Text 6"/>
          <p:cNvSpPr/>
          <p:nvPr/>
        </p:nvSpPr>
        <p:spPr>
          <a:xfrm>
            <a:off x="1828800" y="3611880"/>
            <a:ext cx="219456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9DD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amplia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indicadores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486400" y="3611880"/>
            <a:ext cx="1645920" cy="114300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Depuración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agrupación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412480" y="3611880"/>
            <a:ext cx="2057400" cy="114300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maestro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828800" y="5257800"/>
            <a:ext cx="864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guía cambió de “¿qué indicadores conservar?” a “¿qué información mínima, útil y medible requiere el municipio para decidir y dar seguimiento?”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292840" y="21945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129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11704320" y="2862072"/>
            <a:ext cx="128016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1292840" y="30358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válidos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292840" y="37490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4B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1704320" y="4416552"/>
            <a:ext cx="1280160" cy="0"/>
          </a:xfrm>
          <a:prstGeom prst="line">
            <a:avLst/>
          </a:prstGeom>
          <a:noFill/>
          <a:ln w="17780">
            <a:solidFill>
              <a:srgbClr val="0A4B4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11292840" y="4590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familias temáticas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1292840" y="53035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96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11704320" y="5971032"/>
            <a:ext cx="1280160" cy="0"/>
          </a:xfrm>
          <a:prstGeom prst="line">
            <a:avLst/>
          </a:prstGeom>
          <a:noFill/>
          <a:ln w="17780">
            <a:solidFill>
              <a:srgbClr val="B896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11292840" y="6144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agrupaciones temáticas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828800" y="6446520"/>
            <a:ext cx="8641080" cy="457200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 Contexto  ·  73 Actuación municipal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METODOLÓGICA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Once pasos para consolidar el universo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ruta separa identificación, complementación, depuración técnica y cierre del universo maestro.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 sz="3600"/>
          </a:p>
        </p:txBody>
      </p:sp>
      <p:sp>
        <p:nvSpPr>
          <p:cNvPr id="8" name="Text 4"/>
          <p:cNvSpPr/>
          <p:nvPr/>
        </p:nvSpPr>
        <p:spPr>
          <a:xfrm>
            <a:off x="91440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BASE DOCUMENTAL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809232" y="2478024"/>
            <a:ext cx="210312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10" name="Shape 6"/>
          <p:cNvSpPr/>
          <p:nvPr/>
        </p:nvSpPr>
        <p:spPr>
          <a:xfrm>
            <a:off x="10171176" y="2478024"/>
            <a:ext cx="210312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11" name="Text 7"/>
          <p:cNvSpPr/>
          <p:nvPr/>
        </p:nvSpPr>
        <p:spPr>
          <a:xfrm>
            <a:off x="3657600" y="205740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Análisis de instrumentos y base inicial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19544" y="205740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Integración y sistematización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381488" y="205740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Homologación y clasificación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14400" y="3319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VACÍOS Y COMPLEMENTACIÓN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90204" y="3849624"/>
            <a:ext cx="210312" cy="0"/>
          </a:xfrm>
          <a:prstGeom prst="line">
            <a:avLst/>
          </a:prstGeom>
          <a:noFill/>
          <a:ln w="15240">
            <a:solidFill>
              <a:srgbClr val="0A4B43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16" name="Text 12"/>
          <p:cNvSpPr/>
          <p:nvPr/>
        </p:nvSpPr>
        <p:spPr>
          <a:xfrm>
            <a:off x="3657600" y="3429000"/>
            <a:ext cx="483260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Coincidencias, redundancias y vacíos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700516" y="3429000"/>
            <a:ext cx="483260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Complementación dirigida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14400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ORGANIZACIÓN Y DISEÑO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09232" y="5038344"/>
            <a:ext cx="210312" cy="0"/>
          </a:xfrm>
          <a:prstGeom prst="line">
            <a:avLst/>
          </a:prstGeom>
          <a:noFill/>
          <a:ln w="15240">
            <a:solidFill>
              <a:srgbClr val="B8965E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0" name="Shape 16"/>
          <p:cNvSpPr/>
          <p:nvPr/>
        </p:nvSpPr>
        <p:spPr>
          <a:xfrm>
            <a:off x="10171176" y="5038344"/>
            <a:ext cx="210312" cy="0"/>
          </a:xfrm>
          <a:prstGeom prst="line">
            <a:avLst/>
          </a:prstGeom>
          <a:noFill/>
          <a:ln w="15240">
            <a:solidFill>
              <a:srgbClr val="B8965E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1" name="Text 17"/>
          <p:cNvSpPr/>
          <p:nvPr/>
        </p:nvSpPr>
        <p:spPr>
          <a:xfrm>
            <a:off x="3657600" y="46177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Agrupaciones y familias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019544" y="46177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Análisis integral por familia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381488" y="46177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Selección y desarrollo técnico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14400" y="5879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VERIFICACIÓN Y CIERRE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809232" y="6409944"/>
            <a:ext cx="210312" cy="0"/>
          </a:xfrm>
          <a:prstGeom prst="line">
            <a:avLst/>
          </a:prstGeom>
          <a:noFill/>
          <a:ln w="15240">
            <a:solidFill>
              <a:srgbClr val="EB6B2C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6" name="Shape 22"/>
          <p:cNvSpPr/>
          <p:nvPr/>
        </p:nvSpPr>
        <p:spPr>
          <a:xfrm>
            <a:off x="10171176" y="6409944"/>
            <a:ext cx="210312" cy="0"/>
          </a:xfrm>
          <a:prstGeom prst="line">
            <a:avLst/>
          </a:prstGeom>
          <a:noFill/>
          <a:ln w="15240">
            <a:solidFill>
              <a:srgbClr val="EB6B2C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7" name="Text 23"/>
          <p:cNvSpPr/>
          <p:nvPr/>
        </p:nvSpPr>
        <p:spPr>
          <a:xfrm>
            <a:off x="3657600" y="59893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Factibilidad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019544" y="59893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Función del Indicador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381488" y="59893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Consolidación del universo maestro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14400" y="7132320"/>
            <a:ext cx="1261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ejecutiva: cada paso acota el universo sin perder trazabilidad ni capacidad de explicación.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8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DE INFORMACIÓN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Complementar no significa acumular indicadores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se fortaleció con fuentes dirigidas para cubrir vacíos concretos y mejorar mediciones existentes.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4251960" y="3703320"/>
            <a:ext cx="10972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9" name="Shape 5"/>
          <p:cNvSpPr/>
          <p:nvPr/>
        </p:nvSpPr>
        <p:spPr>
          <a:xfrm>
            <a:off x="7360920" y="3703320"/>
            <a:ext cx="0" cy="0"/>
          </a:xfrm>
          <a:prstGeom prst="line">
            <a:avLst/>
          </a:prstGeom>
          <a:noFill/>
          <a:ln w="15240">
            <a:solidFill>
              <a:srgbClr val="0A4B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0" name="Shape 6"/>
          <p:cNvSpPr/>
          <p:nvPr/>
        </p:nvSpPr>
        <p:spPr>
          <a:xfrm>
            <a:off x="5806440" y="5230368"/>
            <a:ext cx="0" cy="0"/>
          </a:xfrm>
          <a:prstGeom prst="line">
            <a:avLst/>
          </a:prstGeom>
          <a:noFill/>
          <a:ln w="15240">
            <a:solidFill>
              <a:srgbClr val="B896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1" name="Text 7"/>
          <p:cNvSpPr/>
          <p:nvPr/>
        </p:nvSpPr>
        <p:spPr>
          <a:xfrm>
            <a:off x="1005840" y="2788920"/>
            <a:ext cx="3657600" cy="1965960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Instrumentos municipales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planeación base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PGM · PMD 2050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PMDUOET · PIMUS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966960" y="2788920"/>
            <a:ext cx="3657600" cy="196596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y registros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municipales especializados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de Riesgos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PMPGIRSU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administrativos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34840" y="5230368"/>
            <a:ext cx="5760720" cy="146304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externas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referencia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IMCO · AVGM · SINDES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INEGI · INAFED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SEIEG · CONEVAL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73168" y="2926080"/>
            <a:ext cx="5074920" cy="1234440"/>
          </a:xfrm>
          <a:prstGeom prst="roundRect">
            <a:avLst/>
          </a:prstGeom>
          <a:solidFill>
            <a:srgbClr val="8B0E33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 maestro del SIIP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trazabilidad y pertinencia municipal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097280" y="6995160"/>
            <a:ext cx="1243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incorporación: solo se integraron elementos que cubrían un vacío, mejoraban una medición o fortalecían una función municipal relevante.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TÉCNICO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fue solo selección: también hubo construcción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procedencia de los indicadores muestra qué se conservó y qué requirió intervención técnica.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1143000" y="2313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2331720"/>
            <a:ext cx="5342021" cy="347472"/>
          </a:xfrm>
          <a:prstGeom prst="rect">
            <a:avLst/>
          </a:prstGeom>
          <a:solidFill>
            <a:srgbClr val="0A4B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10" name="Text 6"/>
          <p:cNvSpPr/>
          <p:nvPr/>
        </p:nvSpPr>
        <p:spPr>
          <a:xfrm>
            <a:off x="8942832" y="22951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7614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conservan una medición ya identificada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43000" y="3273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Reformulados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291840" y="3291840"/>
            <a:ext cx="2382252" cy="347472"/>
          </a:xfrm>
          <a:prstGeom prst="rect">
            <a:avLst/>
          </a:prstGeom>
          <a:solidFill>
            <a:srgbClr val="8B0E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14" name="Text 10"/>
          <p:cNvSpPr/>
          <p:nvPr/>
        </p:nvSpPr>
        <p:spPr>
          <a:xfrm>
            <a:off x="8942832" y="32552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91840" y="3721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ajustan definición, alcance o factibilidad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43000" y="4233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Integrados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291840" y="4251960"/>
            <a:ext cx="794084" cy="347472"/>
          </a:xfrm>
          <a:prstGeom prst="rect">
            <a:avLst/>
          </a:prstGeom>
          <a:solidFill>
            <a:srgbClr val="B896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18" name="Text 14"/>
          <p:cNvSpPr/>
          <p:nvPr/>
        </p:nvSpPr>
        <p:spPr>
          <a:xfrm>
            <a:off x="8942832" y="421538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91840" y="4681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combinan mediciones relacionadas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43000" y="51937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291840" y="5212080"/>
            <a:ext cx="794084" cy="347472"/>
          </a:xfrm>
          <a:prstGeom prst="rect">
            <a:avLst/>
          </a:prstGeom>
          <a:solidFill>
            <a:srgbClr val="EB6B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22" name="Text 18"/>
          <p:cNvSpPr/>
          <p:nvPr/>
        </p:nvSpPr>
        <p:spPr>
          <a:xfrm>
            <a:off x="8942832" y="517550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291840" y="56418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atienden vacíos no cubiertos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555480" y="2423160"/>
            <a:ext cx="3337560" cy="1051560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de 129 indicadores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implican intervención técnica propia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0131552" y="37490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43 % aprox.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9555480" y="44165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Reformulación, integración o diseño de nuevas mediciones.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463040" y="6903720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trazabilidad se mantiene mediante Procedencia e ID(s) de origen: permite explicar de dónde viene cada indicador y por qué cambió.</a:t>
            </a:r>
            <a:endParaRPr lang="en-US" sz="1420" dirty="0"/>
          </a:p>
        </p:txBody>
      </p:sp>
      <p:sp>
        <p:nvSpPr>
          <p:cNvPr id="28" name="Shape 24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ppt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 Y FAMILIA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96012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niveles para ordenar el SIIP: lectura ejecutiva y análisis específico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10424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agrupación temática organiza grandes ámbitos; la familia delimita el fenómeno, servicio o función que se analiza.</a:t>
            </a:r>
            <a:endParaRPr lang="en-US" sz="132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18288"/>
          </a:xfrm>
          <a:prstGeom prst="rect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1005840" y="1865376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1060704" y="1883664"/>
            <a:ext cx="8961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176272" y="1892808"/>
            <a:ext cx="320040" cy="384048"/>
          </a:xfrm>
          <a:prstGeom prst="chevron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2724912" y="1865376"/>
            <a:ext cx="2606040" cy="438912"/>
          </a:xfrm>
          <a:prstGeom prst="roundRect">
            <a:avLst>
              <a:gd name="adj" fmla="val 20833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2779776" y="1883664"/>
            <a:ext cx="24963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532120" y="1892808"/>
            <a:ext cx="320040" cy="384048"/>
          </a:xfrm>
          <a:prstGeom prst="chevron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6080760" y="1865376"/>
            <a:ext cx="1508760" cy="438912"/>
          </a:xfrm>
          <a:prstGeom prst="roundRect">
            <a:avLst>
              <a:gd name="adj" fmla="val 20833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6135624" y="1883664"/>
            <a:ext cx="139903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818120" y="1892808"/>
            <a:ext cx="320040" cy="384048"/>
          </a:xfrm>
          <a:prstGeom prst="chevron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8366760" y="1865376"/>
            <a:ext cx="1600200" cy="438912"/>
          </a:xfrm>
          <a:prstGeom prst="roundRect">
            <a:avLst>
              <a:gd name="adj" fmla="val 20833"/>
            </a:avLst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8421624" y="1883664"/>
            <a:ext cx="1490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241280" y="1929384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i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+ Actuación municipal</a:t>
            </a:r>
            <a:endParaRPr lang="en-US" sz="1220" dirty="0"/>
          </a:p>
        </p:txBody>
      </p:sp>
      <p:sp>
        <p:nvSpPr>
          <p:cNvPr id="20" name="Shape 16"/>
          <p:cNvSpPr/>
          <p:nvPr/>
        </p:nvSpPr>
        <p:spPr>
          <a:xfrm>
            <a:off x="822960" y="2606040"/>
            <a:ext cx="6053328" cy="3090672"/>
          </a:xfrm>
          <a:prstGeom prst="roundRect">
            <a:avLst>
              <a:gd name="adj" fmla="val 2367"/>
            </a:avLst>
          </a:prstGeom>
          <a:solidFill>
            <a:srgbClr val="F8F3F5"/>
          </a:solidFill>
          <a:ln w="15240">
            <a:solidFill>
              <a:srgbClr val="D9B6C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7452360" y="2606040"/>
            <a:ext cx="6053328" cy="3090672"/>
          </a:xfrm>
          <a:prstGeom prst="roundRect">
            <a:avLst>
              <a:gd name="adj" fmla="val 2367"/>
            </a:avLst>
          </a:prstGeom>
          <a:solidFill>
            <a:srgbClr val="F8F4EA"/>
          </a:solidFill>
          <a:ln w="15240">
            <a:solidFill>
              <a:srgbClr val="DEC89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1170432" y="2852928"/>
            <a:ext cx="438912" cy="438912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1170432" y="2862072"/>
            <a:ext cx="4389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755648" y="2816352"/>
            <a:ext cx="4023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755648" y="3127248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nivel de lectura ejecutiva.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005840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Responde: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1920240" y="3547872"/>
            <a:ext cx="4343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gran ámbito de gestión o desarrollo municipal estamos?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1051560" y="4233672"/>
            <a:ext cx="82296" cy="8229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1197864" y="4160520"/>
            <a:ext cx="4425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grandes temas estratégicos.</a:t>
            </a:r>
            <a:endParaRPr lang="en-US" sz="1060" dirty="0"/>
          </a:p>
        </p:txBody>
      </p:sp>
      <p:sp>
        <p:nvSpPr>
          <p:cNvPr id="30" name="Shape 26"/>
          <p:cNvSpPr/>
          <p:nvPr/>
        </p:nvSpPr>
        <p:spPr>
          <a:xfrm>
            <a:off x="1051560" y="4590288"/>
            <a:ext cx="82296" cy="8229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1197864" y="4517136"/>
            <a:ext cx="4425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navegación, reportes y visión ejecutiva.</a:t>
            </a:r>
            <a:endParaRPr lang="en-US" sz="1060" dirty="0"/>
          </a:p>
        </p:txBody>
      </p:sp>
      <p:sp>
        <p:nvSpPr>
          <p:cNvPr id="32" name="Shape 28"/>
          <p:cNvSpPr/>
          <p:nvPr/>
        </p:nvSpPr>
        <p:spPr>
          <a:xfrm>
            <a:off x="1051560" y="4946904"/>
            <a:ext cx="82296" cy="8229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1197864" y="4873752"/>
            <a:ext cx="4425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familias con afinidad sustantiva.</a:t>
            </a:r>
            <a:endParaRPr lang="en-US" sz="1060" dirty="0"/>
          </a:p>
        </p:txBody>
      </p:sp>
      <p:sp>
        <p:nvSpPr>
          <p:cNvPr id="34" name="Text 30"/>
          <p:cNvSpPr/>
          <p:nvPr/>
        </p:nvSpPr>
        <p:spPr>
          <a:xfrm>
            <a:off x="1051560" y="5266944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Ejemplos:</a:t>
            </a:r>
            <a:endParaRPr lang="en-US" sz="1060" dirty="0"/>
          </a:p>
        </p:txBody>
      </p:sp>
      <p:sp>
        <p:nvSpPr>
          <p:cNvPr id="35" name="Shape 31"/>
          <p:cNvSpPr/>
          <p:nvPr/>
        </p:nvSpPr>
        <p:spPr>
          <a:xfrm>
            <a:off x="1828800" y="5230368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1883664" y="5248656"/>
            <a:ext cx="7863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80" dirty="0"/>
          </a:p>
        </p:txBody>
      </p:sp>
      <p:sp>
        <p:nvSpPr>
          <p:cNvPr id="37" name="Shape 33"/>
          <p:cNvSpPr/>
          <p:nvPr/>
        </p:nvSpPr>
        <p:spPr>
          <a:xfrm>
            <a:off x="2834640" y="5230368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2889504" y="5248656"/>
            <a:ext cx="7863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Bienestar</a:t>
            </a:r>
            <a:endParaRPr lang="en-US" sz="880" dirty="0"/>
          </a:p>
        </p:txBody>
      </p:sp>
      <p:sp>
        <p:nvSpPr>
          <p:cNvPr id="39" name="Shape 35"/>
          <p:cNvSpPr/>
          <p:nvPr/>
        </p:nvSpPr>
        <p:spPr>
          <a:xfrm>
            <a:off x="3840480" y="5230368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6"/>
          <p:cNvSpPr/>
          <p:nvPr/>
        </p:nvSpPr>
        <p:spPr>
          <a:xfrm>
            <a:off x="3895344" y="5248656"/>
            <a:ext cx="12161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públicos</a:t>
            </a:r>
            <a:endParaRPr lang="en-US" sz="880" dirty="0"/>
          </a:p>
        </p:txBody>
      </p:sp>
      <p:sp>
        <p:nvSpPr>
          <p:cNvPr id="41" name="Shape 37"/>
          <p:cNvSpPr/>
          <p:nvPr/>
        </p:nvSpPr>
        <p:spPr>
          <a:xfrm>
            <a:off x="5276088" y="5230368"/>
            <a:ext cx="804672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/>
          <p:nvPr/>
        </p:nvSpPr>
        <p:spPr>
          <a:xfrm>
            <a:off x="5330952" y="5248656"/>
            <a:ext cx="6949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Finanzas</a:t>
            </a:r>
            <a:endParaRPr lang="en-US" sz="880" dirty="0"/>
          </a:p>
        </p:txBody>
      </p:sp>
      <p:sp>
        <p:nvSpPr>
          <p:cNvPr id="43" name="Shape 39"/>
          <p:cNvSpPr/>
          <p:nvPr/>
        </p:nvSpPr>
        <p:spPr>
          <a:xfrm>
            <a:off x="7799832" y="2852928"/>
            <a:ext cx="438912" cy="438912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0"/>
          <p:cNvSpPr/>
          <p:nvPr/>
        </p:nvSpPr>
        <p:spPr>
          <a:xfrm>
            <a:off x="7799832" y="2862072"/>
            <a:ext cx="4389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8385048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99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</a:t>
            </a:r>
            <a:endParaRPr lang="en-US" sz="1700" dirty="0"/>
          </a:p>
        </p:txBody>
      </p:sp>
      <p:sp>
        <p:nvSpPr>
          <p:cNvPr id="46" name="Text 42"/>
          <p:cNvSpPr/>
          <p:nvPr/>
        </p:nvSpPr>
        <p:spPr>
          <a:xfrm>
            <a:off x="8385048" y="3127248"/>
            <a:ext cx="44805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principal de análisis del indicador.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7635240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99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Responde:</a:t>
            </a:r>
            <a:endParaRPr lang="en-US" sz="1080" dirty="0"/>
          </a:p>
        </p:txBody>
      </p:sp>
      <p:sp>
        <p:nvSpPr>
          <p:cNvPr id="48" name="Text 44"/>
          <p:cNvSpPr/>
          <p:nvPr/>
        </p:nvSpPr>
        <p:spPr>
          <a:xfrm>
            <a:off x="8549640" y="3547872"/>
            <a:ext cx="4389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fenómeno, servicio o función específica queremos observar?</a:t>
            </a:r>
            <a:endParaRPr lang="en-US" sz="1350" dirty="0"/>
          </a:p>
        </p:txBody>
      </p:sp>
      <p:sp>
        <p:nvSpPr>
          <p:cNvPr id="49" name="Shape 45"/>
          <p:cNvSpPr/>
          <p:nvPr/>
        </p:nvSpPr>
        <p:spPr>
          <a:xfrm>
            <a:off x="7680960" y="4233672"/>
            <a:ext cx="82296" cy="8229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6"/>
          <p:cNvSpPr/>
          <p:nvPr/>
        </p:nvSpPr>
        <p:spPr>
          <a:xfrm>
            <a:off x="7827264" y="4160520"/>
            <a:ext cx="4608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Reúne indicadores que explican un mismo tema.</a:t>
            </a:r>
            <a:endParaRPr lang="en-US" sz="1060" dirty="0"/>
          </a:p>
        </p:txBody>
      </p:sp>
      <p:sp>
        <p:nvSpPr>
          <p:cNvPr id="51" name="Shape 47"/>
          <p:cNvSpPr/>
          <p:nvPr/>
        </p:nvSpPr>
        <p:spPr>
          <a:xfrm>
            <a:off x="7680960" y="4590288"/>
            <a:ext cx="82296" cy="8229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8"/>
          <p:cNvSpPr/>
          <p:nvPr/>
        </p:nvSpPr>
        <p:spPr>
          <a:xfrm>
            <a:off x="7827264" y="4517136"/>
            <a:ext cx="4608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duplicidades y mediciones repetidas.</a:t>
            </a:r>
            <a:endParaRPr lang="en-US" sz="1060" dirty="0"/>
          </a:p>
        </p:txBody>
      </p:sp>
      <p:sp>
        <p:nvSpPr>
          <p:cNvPr id="53" name="Shape 49"/>
          <p:cNvSpPr/>
          <p:nvPr/>
        </p:nvSpPr>
        <p:spPr>
          <a:xfrm>
            <a:off x="7680960" y="4946904"/>
            <a:ext cx="82296" cy="8229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0"/>
          <p:cNvSpPr/>
          <p:nvPr/>
        </p:nvSpPr>
        <p:spPr>
          <a:xfrm>
            <a:off x="7827264" y="4873752"/>
            <a:ext cx="4608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Contexto con Actuación municipal.</a:t>
            </a:r>
            <a:endParaRPr lang="en-US" sz="1060" dirty="0"/>
          </a:p>
        </p:txBody>
      </p:sp>
      <p:sp>
        <p:nvSpPr>
          <p:cNvPr id="55" name="Text 51"/>
          <p:cNvSpPr/>
          <p:nvPr/>
        </p:nvSpPr>
        <p:spPr>
          <a:xfrm>
            <a:off x="7680960" y="5266944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B99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Ejemplos:</a:t>
            </a:r>
            <a:endParaRPr lang="en-US" sz="1060" dirty="0"/>
          </a:p>
        </p:txBody>
      </p:sp>
      <p:sp>
        <p:nvSpPr>
          <p:cNvPr id="56" name="Shape 52"/>
          <p:cNvSpPr/>
          <p:nvPr/>
        </p:nvSpPr>
        <p:spPr>
          <a:xfrm>
            <a:off x="8458200" y="5230368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3"/>
          <p:cNvSpPr/>
          <p:nvPr/>
        </p:nvSpPr>
        <p:spPr>
          <a:xfrm>
            <a:off x="8513064" y="5248656"/>
            <a:ext cx="9418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Agua potable</a:t>
            </a:r>
            <a:endParaRPr lang="en-US" sz="880" dirty="0"/>
          </a:p>
        </p:txBody>
      </p:sp>
      <p:sp>
        <p:nvSpPr>
          <p:cNvPr id="58" name="Shape 54"/>
          <p:cNvSpPr/>
          <p:nvPr/>
        </p:nvSpPr>
        <p:spPr>
          <a:xfrm>
            <a:off x="9619488" y="5230368"/>
            <a:ext cx="841248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5"/>
          <p:cNvSpPr/>
          <p:nvPr/>
        </p:nvSpPr>
        <p:spPr>
          <a:xfrm>
            <a:off x="9674352" y="5248656"/>
            <a:ext cx="7315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Residuos</a:t>
            </a:r>
            <a:endParaRPr lang="en-US" sz="880" dirty="0"/>
          </a:p>
        </p:txBody>
      </p:sp>
      <p:sp>
        <p:nvSpPr>
          <p:cNvPr id="60" name="Shape 56"/>
          <p:cNvSpPr/>
          <p:nvPr/>
        </p:nvSpPr>
        <p:spPr>
          <a:xfrm>
            <a:off x="10570464" y="5230368"/>
            <a:ext cx="932688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7"/>
          <p:cNvSpPr/>
          <p:nvPr/>
        </p:nvSpPr>
        <p:spPr>
          <a:xfrm>
            <a:off x="10625328" y="5248656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Alumbrado</a:t>
            </a:r>
            <a:endParaRPr lang="en-US" sz="880" dirty="0"/>
          </a:p>
        </p:txBody>
      </p:sp>
      <p:sp>
        <p:nvSpPr>
          <p:cNvPr id="62" name="Shape 58"/>
          <p:cNvSpPr/>
          <p:nvPr/>
        </p:nvSpPr>
        <p:spPr>
          <a:xfrm>
            <a:off x="11612880" y="5230368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59"/>
          <p:cNvSpPr/>
          <p:nvPr/>
        </p:nvSpPr>
        <p:spPr>
          <a:xfrm>
            <a:off x="11667744" y="5248656"/>
            <a:ext cx="7863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Panteones</a:t>
            </a:r>
            <a:endParaRPr lang="en-US" sz="880" dirty="0"/>
          </a:p>
        </p:txBody>
      </p:sp>
      <p:sp>
        <p:nvSpPr>
          <p:cNvPr id="64" name="Shape 60"/>
          <p:cNvSpPr/>
          <p:nvPr/>
        </p:nvSpPr>
        <p:spPr>
          <a:xfrm>
            <a:off x="1051560" y="6217920"/>
            <a:ext cx="12527280" cy="868680"/>
          </a:xfrm>
          <a:prstGeom prst="roundRect">
            <a:avLst>
              <a:gd name="adj" fmla="val 8421"/>
            </a:avLst>
          </a:prstGeom>
          <a:solidFill>
            <a:srgbClr val="F7F7F8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1"/>
          <p:cNvSpPr/>
          <p:nvPr/>
        </p:nvSpPr>
        <p:spPr>
          <a:xfrm>
            <a:off x="1325880" y="6382512"/>
            <a:ext cx="21488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EN EL SISTEMA</a:t>
            </a:r>
            <a:endParaRPr lang="en-US" sz="1100" dirty="0"/>
          </a:p>
        </p:txBody>
      </p:sp>
      <p:sp>
        <p:nvSpPr>
          <p:cNvPr id="66" name="Text 62"/>
          <p:cNvSpPr/>
          <p:nvPr/>
        </p:nvSpPr>
        <p:spPr>
          <a:xfrm>
            <a:off x="3703320" y="6318504"/>
            <a:ext cx="8869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agrupación temática da la lectura ejecutiva; la familia permite el análisis fino y define qué indicadores deben revisarse.</a:t>
            </a:r>
            <a:endParaRPr lang="en-US" sz="1320" dirty="0"/>
          </a:p>
        </p:txBody>
      </p:sp>
      <p:sp>
        <p:nvSpPr>
          <p:cNvPr id="67" name="Text 63"/>
          <p:cNvSpPr/>
          <p:nvPr/>
        </p:nvSpPr>
        <p:spPr>
          <a:xfrm>
            <a:off x="3703320" y="6711696"/>
            <a:ext cx="88696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el SIIP evita una lista aislada de indicadores y organiza la información por temas que apoyan decisiones municipales.</a:t>
            </a:r>
            <a:endParaRPr lang="en-US" sz="1060" dirty="0"/>
          </a:p>
        </p:txBody>
      </p:sp>
      <p:sp>
        <p:nvSpPr>
          <p:cNvPr id="68" name="Shape 64"/>
          <p:cNvSpPr/>
          <p:nvPr/>
        </p:nvSpPr>
        <p:spPr>
          <a:xfrm>
            <a:off x="594360" y="7635240"/>
            <a:ext cx="13441680" cy="18288"/>
          </a:xfrm>
          <a:prstGeom prst="rect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5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DEL INDICADOR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y Actuación municipal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columna Función del Indicador define qué papel cumple la medición dentro del SIIP.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960120" y="2103120"/>
            <a:ext cx="5897880" cy="548640"/>
          </a:xfrm>
          <a:prstGeom prst="roundRect">
            <a:avLst/>
          </a:prstGeom>
          <a:solidFill>
            <a:srgbClr val="8B0E33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772400" y="2103120"/>
            <a:ext cx="5897880" cy="548640"/>
          </a:xfrm>
          <a:prstGeom prst="roundRect">
            <a:avLst/>
          </a:prstGeom>
          <a:solidFill>
            <a:srgbClr val="0A4B43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Actuación municipal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097280" y="2971800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condiciones, demandas o problemas del municipio.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3648456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provenir de fuentes externas o registros consolidados.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4325112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exige atribución directa al Ayuntamiento.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5001768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dimensionar, priorizar y contextualizar decisiones.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09560" y="2971800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acciones, capacidades, coberturas o cumplimiento municipal.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09560" y="3648456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vincula con servicios, programas, infraestructura u organismos municipales.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909560" y="4325112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tener responsable operativo y posibilidad de actualización.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09560" y="5001768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evaluar respuesta y desempeño de la gestión.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187184" y="3822192"/>
            <a:ext cx="256032" cy="0"/>
          </a:xfrm>
          <a:prstGeom prst="line">
            <a:avLst/>
          </a:prstGeom>
          <a:noFill/>
          <a:ln w="21590">
            <a:solidFill>
              <a:srgbClr val="B8965E"/>
            </a:solidFill>
            <a:prstDash val="solid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9" name="Text 15"/>
          <p:cNvSpPr/>
          <p:nvPr/>
        </p:nvSpPr>
        <p:spPr>
          <a:xfrm>
            <a:off x="4480560" y="5989320"/>
            <a:ext cx="5669280" cy="86868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decisión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¿Describe la situación que debe conocerse?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¿O mide lo que el municipio hace, cubre, gestiona o logra?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ma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4"/>
            <a:ext cx="1316736" cy="1207008"/>
          </a:xfrm>
          <a:prstGeom prst="rect">
            <a:avLst/>
          </a:prstGeom>
        </p:spPr>
      </p:pic>
      <p:pic>
        <p:nvPicPr>
          <p:cNvPr id="3" name="Image 1" descr="/mnt/data/format_unzi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84048"/>
            <a:ext cx="1514246" cy="801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9152" y="362103"/>
            <a:ext cx="949147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2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POR AGRUPACIÓN TEMÁTICA</a:t>
            </a:r>
            <a:endParaRPr lang="en-US" sz="2220" dirty="0"/>
          </a:p>
        </p:txBody>
      </p:sp>
      <p:sp>
        <p:nvSpPr>
          <p:cNvPr id="5" name="Text 1"/>
          <p:cNvSpPr/>
          <p:nvPr/>
        </p:nvSpPr>
        <p:spPr>
          <a:xfrm>
            <a:off x="2359152" y="801015"/>
            <a:ext cx="982065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pública, justicia cívica y bienestar social</a:t>
            </a:r>
            <a:endParaRPr lang="en-US" sz="2040" dirty="0"/>
          </a:p>
        </p:txBody>
      </p:sp>
      <p:sp>
        <p:nvSpPr>
          <p:cNvPr id="6" name="Text 2"/>
          <p:cNvSpPr/>
          <p:nvPr/>
        </p:nvSpPr>
        <p:spPr>
          <a:xfrm>
            <a:off x="2359152" y="1338682"/>
            <a:ext cx="111373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familias e indicadores por los primeros dos ámbitos del universo maestro.</a:t>
            </a:r>
            <a:endParaRPr lang="en-US" sz="1260" dirty="0"/>
          </a:p>
        </p:txBody>
      </p:sp>
      <p:sp>
        <p:nvSpPr>
          <p:cNvPr id="7" name="Shape 3"/>
          <p:cNvSpPr/>
          <p:nvPr/>
        </p:nvSpPr>
        <p:spPr>
          <a:xfrm>
            <a:off x="2359152" y="1645920"/>
            <a:ext cx="186537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" name="Shape 4"/>
          <p:cNvSpPr/>
          <p:nvPr/>
        </p:nvSpPr>
        <p:spPr>
          <a:xfrm>
            <a:off x="603504" y="7680960"/>
            <a:ext cx="1366113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" name="Text 5"/>
          <p:cNvSpPr/>
          <p:nvPr/>
        </p:nvSpPr>
        <p:spPr>
          <a:xfrm>
            <a:off x="603504" y="7845552"/>
            <a:ext cx="4608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SIIP Salamanca · Universo maestro de indicadores</a:t>
            </a:r>
            <a:endParaRPr lang="en-US" sz="864" dirty="0"/>
          </a:p>
        </p:txBody>
      </p:sp>
      <p:sp>
        <p:nvSpPr>
          <p:cNvPr id="10" name="Shape 6"/>
          <p:cNvSpPr/>
          <p:nvPr/>
        </p:nvSpPr>
        <p:spPr>
          <a:xfrm>
            <a:off x="8833104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7A1733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" name="Text 7"/>
          <p:cNvSpPr/>
          <p:nvPr/>
        </p:nvSpPr>
        <p:spPr>
          <a:xfrm>
            <a:off x="8953805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03690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agrupaciones</a:t>
            </a:r>
            <a:endParaRPr lang="en-US" sz="804" dirty="0"/>
          </a:p>
        </p:txBody>
      </p:sp>
      <p:sp>
        <p:nvSpPr>
          <p:cNvPr id="13" name="Shape 9"/>
          <p:cNvSpPr/>
          <p:nvPr/>
        </p:nvSpPr>
        <p:spPr>
          <a:xfrm>
            <a:off x="10391241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B9985A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" name="Text 10"/>
          <p:cNvSpPr/>
          <p:nvPr/>
        </p:nvSpPr>
        <p:spPr>
          <a:xfrm>
            <a:off x="10511943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61827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804" dirty="0"/>
          </a:p>
        </p:txBody>
      </p:sp>
      <p:sp>
        <p:nvSpPr>
          <p:cNvPr id="16" name="Shape 12"/>
          <p:cNvSpPr/>
          <p:nvPr/>
        </p:nvSpPr>
        <p:spPr>
          <a:xfrm>
            <a:off x="11949379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E5A4B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7" name="Text 13"/>
          <p:cNvSpPr/>
          <p:nvPr/>
        </p:nvSpPr>
        <p:spPr>
          <a:xfrm>
            <a:off x="12070080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519965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804" dirty="0"/>
          </a:p>
        </p:txBody>
      </p:sp>
      <p:sp>
        <p:nvSpPr>
          <p:cNvPr id="19" name="Shape 15"/>
          <p:cNvSpPr/>
          <p:nvPr/>
        </p:nvSpPr>
        <p:spPr>
          <a:xfrm>
            <a:off x="822960" y="2084832"/>
            <a:ext cx="8284464" cy="4882896"/>
          </a:xfrm>
          <a:prstGeom prst="roundRect">
            <a:avLst>
              <a:gd name="adj" fmla="val 1236"/>
            </a:avLst>
          </a:prstGeom>
          <a:solidFill>
            <a:srgbClr val="F8EEF2"/>
          </a:solidFill>
          <a:ln w="12700">
            <a:solidFill>
              <a:srgbClr val="7A17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0" name="Shape 16"/>
          <p:cNvSpPr/>
          <p:nvPr/>
        </p:nvSpPr>
        <p:spPr>
          <a:xfrm>
            <a:off x="899770" y="2161642"/>
            <a:ext cx="8130845" cy="482803"/>
          </a:xfrm>
          <a:prstGeom prst="roundRect">
            <a:avLst>
              <a:gd name="adj" fmla="val 9091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1" name="Text 17"/>
          <p:cNvSpPr/>
          <p:nvPr/>
        </p:nvSpPr>
        <p:spPr>
          <a:xfrm>
            <a:off x="1042416" y="2282343"/>
            <a:ext cx="6858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05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Seguridad pública, justicia cívica y protección civil</a:t>
            </a:r>
            <a:endParaRPr lang="en-US" sz="1056" dirty="0"/>
          </a:p>
        </p:txBody>
      </p:sp>
      <p:sp>
        <p:nvSpPr>
          <p:cNvPr id="22" name="Text 18"/>
          <p:cNvSpPr/>
          <p:nvPr/>
        </p:nvSpPr>
        <p:spPr>
          <a:xfrm>
            <a:off x="8097926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80" dirty="0"/>
          </a:p>
        </p:txBody>
      </p:sp>
      <p:sp>
        <p:nvSpPr>
          <p:cNvPr id="23" name="Text 19"/>
          <p:cNvSpPr/>
          <p:nvPr/>
        </p:nvSpPr>
        <p:spPr>
          <a:xfrm>
            <a:off x="8427110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24" name="Shape 20"/>
          <p:cNvSpPr/>
          <p:nvPr/>
        </p:nvSpPr>
        <p:spPr>
          <a:xfrm>
            <a:off x="965607" y="2765146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5" name="Text 21"/>
          <p:cNvSpPr/>
          <p:nvPr/>
        </p:nvSpPr>
        <p:spPr>
          <a:xfrm>
            <a:off x="104241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</a:t>
            </a:r>
            <a:endParaRPr lang="en-US" sz="840" dirty="0"/>
          </a:p>
        </p:txBody>
      </p:sp>
      <p:sp>
        <p:nvSpPr>
          <p:cNvPr id="26" name="Text 22"/>
          <p:cNvSpPr/>
          <p:nvPr/>
        </p:nvSpPr>
        <p:spPr>
          <a:xfrm>
            <a:off x="1470355" y="2803551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ciudadana: incidencia delictiva y percepción</a:t>
            </a:r>
            <a:endParaRPr lang="en-US" sz="786" dirty="0"/>
          </a:p>
        </p:txBody>
      </p:sp>
      <p:sp>
        <p:nvSpPr>
          <p:cNvPr id="27" name="Shape 23"/>
          <p:cNvSpPr/>
          <p:nvPr/>
        </p:nvSpPr>
        <p:spPr>
          <a:xfrm>
            <a:off x="8591702" y="2836469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8" name="Text 24"/>
          <p:cNvSpPr/>
          <p:nvPr/>
        </p:nvSpPr>
        <p:spPr>
          <a:xfrm>
            <a:off x="8630107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29" name="Shape 25"/>
          <p:cNvSpPr/>
          <p:nvPr/>
        </p:nvSpPr>
        <p:spPr>
          <a:xfrm>
            <a:off x="965607" y="3136725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0" name="Text 26"/>
          <p:cNvSpPr/>
          <p:nvPr/>
        </p:nvSpPr>
        <p:spPr>
          <a:xfrm>
            <a:off x="1042416" y="321353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1470355" y="3175130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operativa policial</a:t>
            </a:r>
            <a:endParaRPr lang="en-US" sz="786" dirty="0"/>
          </a:p>
        </p:txBody>
      </p:sp>
      <p:sp>
        <p:nvSpPr>
          <p:cNvPr id="32" name="Shape 28"/>
          <p:cNvSpPr/>
          <p:nvPr/>
        </p:nvSpPr>
        <p:spPr>
          <a:xfrm>
            <a:off x="8591702" y="3208048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3" name="Text 29"/>
          <p:cNvSpPr/>
          <p:nvPr/>
        </p:nvSpPr>
        <p:spPr>
          <a:xfrm>
            <a:off x="8630107" y="325303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4" name="Shape 30"/>
          <p:cNvSpPr/>
          <p:nvPr/>
        </p:nvSpPr>
        <p:spPr>
          <a:xfrm>
            <a:off x="965607" y="3508304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5" name="Text 31"/>
          <p:cNvSpPr/>
          <p:nvPr/>
        </p:nvSpPr>
        <p:spPr>
          <a:xfrm>
            <a:off x="1042416" y="3585113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</a:t>
            </a:r>
            <a:endParaRPr lang="en-US" sz="840" dirty="0"/>
          </a:p>
        </p:txBody>
      </p:sp>
      <p:sp>
        <p:nvSpPr>
          <p:cNvPr id="36" name="Text 32"/>
          <p:cNvSpPr/>
          <p:nvPr/>
        </p:nvSpPr>
        <p:spPr>
          <a:xfrm>
            <a:off x="1470355" y="3546709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Profesionalización y fortalecimiento policial</a:t>
            </a:r>
            <a:endParaRPr lang="en-US" sz="786" dirty="0"/>
          </a:p>
        </p:txBody>
      </p:sp>
      <p:sp>
        <p:nvSpPr>
          <p:cNvPr id="37" name="Shape 33"/>
          <p:cNvSpPr/>
          <p:nvPr/>
        </p:nvSpPr>
        <p:spPr>
          <a:xfrm>
            <a:off x="8591702" y="3579626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8" name="Text 34"/>
          <p:cNvSpPr/>
          <p:nvPr/>
        </p:nvSpPr>
        <p:spPr>
          <a:xfrm>
            <a:off x="8630107" y="362461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9" name="Shape 35"/>
          <p:cNvSpPr/>
          <p:nvPr/>
        </p:nvSpPr>
        <p:spPr>
          <a:xfrm>
            <a:off x="965607" y="3879883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0" name="Text 36"/>
          <p:cNvSpPr/>
          <p:nvPr/>
        </p:nvSpPr>
        <p:spPr>
          <a:xfrm>
            <a:off x="1042416" y="395669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F04</a:t>
            </a:r>
            <a:endParaRPr lang="en-US" sz="840" dirty="0"/>
          </a:p>
        </p:txBody>
      </p:sp>
      <p:sp>
        <p:nvSpPr>
          <p:cNvPr id="41" name="Text 37"/>
          <p:cNvSpPr/>
          <p:nvPr/>
        </p:nvSpPr>
        <p:spPr>
          <a:xfrm>
            <a:off x="1470355" y="3918288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y desempeño de la policía municipal</a:t>
            </a:r>
            <a:endParaRPr lang="en-US" sz="786" dirty="0"/>
          </a:p>
        </p:txBody>
      </p:sp>
      <p:sp>
        <p:nvSpPr>
          <p:cNvPr id="42" name="Shape 38"/>
          <p:cNvSpPr/>
          <p:nvPr/>
        </p:nvSpPr>
        <p:spPr>
          <a:xfrm>
            <a:off x="8591702" y="3951205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3" name="Text 39"/>
          <p:cNvSpPr/>
          <p:nvPr/>
        </p:nvSpPr>
        <p:spPr>
          <a:xfrm>
            <a:off x="8630107" y="3996195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4" name="Shape 40"/>
          <p:cNvSpPr/>
          <p:nvPr/>
        </p:nvSpPr>
        <p:spPr>
          <a:xfrm>
            <a:off x="965607" y="4251462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5" name="Text 41"/>
          <p:cNvSpPr/>
          <p:nvPr/>
        </p:nvSpPr>
        <p:spPr>
          <a:xfrm>
            <a:off x="1042416" y="432827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F05</a:t>
            </a:r>
            <a:endParaRPr lang="en-US" sz="840" dirty="0"/>
          </a:p>
        </p:txBody>
      </p:sp>
      <p:sp>
        <p:nvSpPr>
          <p:cNvPr id="46" name="Text 42"/>
          <p:cNvSpPr/>
          <p:nvPr/>
        </p:nvSpPr>
        <p:spPr>
          <a:xfrm>
            <a:off x="1470355" y="4289866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social y participación comunitaria en seguridad</a:t>
            </a:r>
            <a:endParaRPr lang="en-US" sz="786" dirty="0"/>
          </a:p>
        </p:txBody>
      </p:sp>
      <p:sp>
        <p:nvSpPr>
          <p:cNvPr id="47" name="Shape 43"/>
          <p:cNvSpPr/>
          <p:nvPr/>
        </p:nvSpPr>
        <p:spPr>
          <a:xfrm>
            <a:off x="8591702" y="4322784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8" name="Text 44"/>
          <p:cNvSpPr/>
          <p:nvPr/>
        </p:nvSpPr>
        <p:spPr>
          <a:xfrm>
            <a:off x="8630107" y="436777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49" name="Shape 45"/>
          <p:cNvSpPr/>
          <p:nvPr/>
        </p:nvSpPr>
        <p:spPr>
          <a:xfrm>
            <a:off x="965607" y="4623040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0" name="Text 46"/>
          <p:cNvSpPr/>
          <p:nvPr/>
        </p:nvSpPr>
        <p:spPr>
          <a:xfrm>
            <a:off x="1042416" y="469984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F06</a:t>
            </a:r>
            <a:endParaRPr lang="en-US" sz="840" dirty="0"/>
          </a:p>
        </p:txBody>
      </p:sp>
      <p:sp>
        <p:nvSpPr>
          <p:cNvPr id="51" name="Text 47"/>
          <p:cNvSpPr/>
          <p:nvPr/>
        </p:nvSpPr>
        <p:spPr>
          <a:xfrm>
            <a:off x="1470355" y="4661445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Vigilancia territorial y monitoreo de seguridad</a:t>
            </a:r>
            <a:endParaRPr lang="en-US" sz="786" dirty="0"/>
          </a:p>
        </p:txBody>
      </p:sp>
      <p:sp>
        <p:nvSpPr>
          <p:cNvPr id="52" name="Shape 48"/>
          <p:cNvSpPr/>
          <p:nvPr/>
        </p:nvSpPr>
        <p:spPr>
          <a:xfrm>
            <a:off x="8591702" y="4694363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3" name="Text 49"/>
          <p:cNvSpPr/>
          <p:nvPr/>
        </p:nvSpPr>
        <p:spPr>
          <a:xfrm>
            <a:off x="8630107" y="473935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54" name="Shape 50"/>
          <p:cNvSpPr/>
          <p:nvPr/>
        </p:nvSpPr>
        <p:spPr>
          <a:xfrm>
            <a:off x="965607" y="4994620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5" name="Text 51"/>
          <p:cNvSpPr/>
          <p:nvPr/>
        </p:nvSpPr>
        <p:spPr>
          <a:xfrm>
            <a:off x="1042416" y="507142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F07</a:t>
            </a:r>
            <a:endParaRPr lang="en-US" sz="840" dirty="0"/>
          </a:p>
        </p:txBody>
      </p:sp>
      <p:sp>
        <p:nvSpPr>
          <p:cNvPr id="56" name="Text 52"/>
          <p:cNvSpPr/>
          <p:nvPr/>
        </p:nvSpPr>
        <p:spPr>
          <a:xfrm>
            <a:off x="1470355" y="5033025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Justicia cívica</a:t>
            </a:r>
            <a:endParaRPr lang="en-US" sz="786" dirty="0"/>
          </a:p>
        </p:txBody>
      </p:sp>
      <p:sp>
        <p:nvSpPr>
          <p:cNvPr id="57" name="Shape 53"/>
          <p:cNvSpPr/>
          <p:nvPr/>
        </p:nvSpPr>
        <p:spPr>
          <a:xfrm>
            <a:off x="8591702" y="5065943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8" name="Text 54"/>
          <p:cNvSpPr/>
          <p:nvPr/>
        </p:nvSpPr>
        <p:spPr>
          <a:xfrm>
            <a:off x="8630107" y="511093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59" name="Shape 55"/>
          <p:cNvSpPr/>
          <p:nvPr/>
        </p:nvSpPr>
        <p:spPr>
          <a:xfrm>
            <a:off x="965607" y="5366199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0" name="Text 56"/>
          <p:cNvSpPr/>
          <p:nvPr/>
        </p:nvSpPr>
        <p:spPr>
          <a:xfrm>
            <a:off x="1042416" y="5443008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F08</a:t>
            </a:r>
            <a:endParaRPr lang="en-US" sz="840" dirty="0"/>
          </a:p>
        </p:txBody>
      </p:sp>
      <p:sp>
        <p:nvSpPr>
          <p:cNvPr id="61" name="Text 57"/>
          <p:cNvSpPr/>
          <p:nvPr/>
        </p:nvSpPr>
        <p:spPr>
          <a:xfrm>
            <a:off x="1470355" y="5404604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a víctimas</a:t>
            </a:r>
            <a:endParaRPr lang="en-US" sz="786" dirty="0"/>
          </a:p>
        </p:txBody>
      </p:sp>
      <p:sp>
        <p:nvSpPr>
          <p:cNvPr id="62" name="Shape 58"/>
          <p:cNvSpPr/>
          <p:nvPr/>
        </p:nvSpPr>
        <p:spPr>
          <a:xfrm>
            <a:off x="8591702" y="5437522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3" name="Text 59"/>
          <p:cNvSpPr/>
          <p:nvPr/>
        </p:nvSpPr>
        <p:spPr>
          <a:xfrm>
            <a:off x="8630107" y="5482510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64" name="Shape 60"/>
          <p:cNvSpPr/>
          <p:nvPr/>
        </p:nvSpPr>
        <p:spPr>
          <a:xfrm>
            <a:off x="965607" y="5737778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5" name="Text 61"/>
          <p:cNvSpPr/>
          <p:nvPr/>
        </p:nvSpPr>
        <p:spPr>
          <a:xfrm>
            <a:off x="1042416" y="5814587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F09</a:t>
            </a:r>
            <a:endParaRPr lang="en-US" sz="840" dirty="0"/>
          </a:p>
        </p:txBody>
      </p:sp>
      <p:sp>
        <p:nvSpPr>
          <p:cNvPr id="66" name="Text 62"/>
          <p:cNvSpPr/>
          <p:nvPr/>
        </p:nvSpPr>
        <p:spPr>
          <a:xfrm>
            <a:off x="1470355" y="5776183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Violencia contra las mujeres</a:t>
            </a:r>
            <a:endParaRPr lang="en-US" sz="786" dirty="0"/>
          </a:p>
        </p:txBody>
      </p:sp>
      <p:sp>
        <p:nvSpPr>
          <p:cNvPr id="67" name="Shape 63"/>
          <p:cNvSpPr/>
          <p:nvPr/>
        </p:nvSpPr>
        <p:spPr>
          <a:xfrm>
            <a:off x="8591702" y="5809100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8" name="Text 64"/>
          <p:cNvSpPr/>
          <p:nvPr/>
        </p:nvSpPr>
        <p:spPr>
          <a:xfrm>
            <a:off x="8630107" y="5854089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69" name="Shape 65"/>
          <p:cNvSpPr/>
          <p:nvPr/>
        </p:nvSpPr>
        <p:spPr>
          <a:xfrm>
            <a:off x="965607" y="6109357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0" name="Text 66"/>
          <p:cNvSpPr/>
          <p:nvPr/>
        </p:nvSpPr>
        <p:spPr>
          <a:xfrm>
            <a:off x="1042416" y="618616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F10</a:t>
            </a:r>
            <a:endParaRPr lang="en-US" sz="840" dirty="0"/>
          </a:p>
        </p:txBody>
      </p:sp>
      <p:sp>
        <p:nvSpPr>
          <p:cNvPr id="71" name="Text 67"/>
          <p:cNvSpPr/>
          <p:nvPr/>
        </p:nvSpPr>
        <p:spPr>
          <a:xfrm>
            <a:off x="1470355" y="6147762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Riesgos, protección civil y emergencias</a:t>
            </a:r>
            <a:endParaRPr lang="en-US" sz="786" dirty="0"/>
          </a:p>
        </p:txBody>
      </p:sp>
      <p:sp>
        <p:nvSpPr>
          <p:cNvPr id="72" name="Shape 68"/>
          <p:cNvSpPr/>
          <p:nvPr/>
        </p:nvSpPr>
        <p:spPr>
          <a:xfrm>
            <a:off x="8591702" y="6180679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3" name="Text 69"/>
          <p:cNvSpPr/>
          <p:nvPr/>
        </p:nvSpPr>
        <p:spPr>
          <a:xfrm>
            <a:off x="8630107" y="622566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74" name="Shape 70"/>
          <p:cNvSpPr/>
          <p:nvPr/>
        </p:nvSpPr>
        <p:spPr>
          <a:xfrm>
            <a:off x="965607" y="6480936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5" name="Text 71"/>
          <p:cNvSpPr/>
          <p:nvPr/>
        </p:nvSpPr>
        <p:spPr>
          <a:xfrm>
            <a:off x="1042416" y="655774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</a:t>
            </a:r>
            <a:endParaRPr lang="en-US" sz="840" dirty="0"/>
          </a:p>
        </p:txBody>
      </p:sp>
      <p:sp>
        <p:nvSpPr>
          <p:cNvPr id="76" name="Text 72"/>
          <p:cNvSpPr/>
          <p:nvPr/>
        </p:nvSpPr>
        <p:spPr>
          <a:xfrm>
            <a:off x="1470355" y="6519340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 y supervisión de seguridad privada</a:t>
            </a:r>
            <a:endParaRPr lang="en-US" sz="786" dirty="0"/>
          </a:p>
        </p:txBody>
      </p:sp>
      <p:sp>
        <p:nvSpPr>
          <p:cNvPr id="77" name="Shape 73"/>
          <p:cNvSpPr/>
          <p:nvPr/>
        </p:nvSpPr>
        <p:spPr>
          <a:xfrm>
            <a:off x="8591702" y="6552258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8" name="Text 74"/>
          <p:cNvSpPr/>
          <p:nvPr/>
        </p:nvSpPr>
        <p:spPr>
          <a:xfrm>
            <a:off x="8630107" y="659724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79" name="Shape 75"/>
          <p:cNvSpPr/>
          <p:nvPr/>
        </p:nvSpPr>
        <p:spPr>
          <a:xfrm>
            <a:off x="9381744" y="2084832"/>
            <a:ext cx="4334256" cy="4882896"/>
          </a:xfrm>
          <a:prstGeom prst="roundRect">
            <a:avLst>
              <a:gd name="adj" fmla="val 1392"/>
            </a:avLst>
          </a:prstGeom>
          <a:solidFill>
            <a:srgbClr val="F8F3E8"/>
          </a:solidFill>
          <a:ln w="12700">
            <a:solidFill>
              <a:srgbClr val="B9985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0" name="Shape 76"/>
          <p:cNvSpPr/>
          <p:nvPr/>
        </p:nvSpPr>
        <p:spPr>
          <a:xfrm>
            <a:off x="9458554" y="2161642"/>
            <a:ext cx="4180637" cy="482803"/>
          </a:xfrm>
          <a:prstGeom prst="roundRect">
            <a:avLst>
              <a:gd name="adj" fmla="val 9091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1" name="Text 77"/>
          <p:cNvSpPr/>
          <p:nvPr/>
        </p:nvSpPr>
        <p:spPr>
          <a:xfrm>
            <a:off x="9601200" y="2282343"/>
            <a:ext cx="290779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Bienestar y desarrollo social</a:t>
            </a:r>
            <a:endParaRPr lang="en-US" sz="984" dirty="0"/>
          </a:p>
        </p:txBody>
      </p:sp>
      <p:sp>
        <p:nvSpPr>
          <p:cNvPr id="82" name="Text 78"/>
          <p:cNvSpPr/>
          <p:nvPr/>
        </p:nvSpPr>
        <p:spPr>
          <a:xfrm>
            <a:off x="12706502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80" dirty="0"/>
          </a:p>
        </p:txBody>
      </p:sp>
      <p:sp>
        <p:nvSpPr>
          <p:cNvPr id="83" name="Text 79"/>
          <p:cNvSpPr/>
          <p:nvPr/>
        </p:nvSpPr>
        <p:spPr>
          <a:xfrm>
            <a:off x="13035686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84" name="Shape 80"/>
          <p:cNvSpPr/>
          <p:nvPr/>
        </p:nvSpPr>
        <p:spPr>
          <a:xfrm>
            <a:off x="9524391" y="2765146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5" name="Text 81"/>
          <p:cNvSpPr/>
          <p:nvPr/>
        </p:nvSpPr>
        <p:spPr>
          <a:xfrm>
            <a:off x="9601200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F12</a:t>
            </a:r>
            <a:endParaRPr lang="en-US" sz="864" dirty="0"/>
          </a:p>
        </p:txBody>
      </p:sp>
      <p:sp>
        <p:nvSpPr>
          <p:cNvPr id="86" name="Text 82"/>
          <p:cNvSpPr/>
          <p:nvPr/>
        </p:nvSpPr>
        <p:spPr>
          <a:xfrm>
            <a:off x="10029139" y="2803551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Pobreza y rezago social</a:t>
            </a:r>
            <a:endParaRPr lang="en-US" sz="852" dirty="0"/>
          </a:p>
        </p:txBody>
      </p:sp>
      <p:sp>
        <p:nvSpPr>
          <p:cNvPr id="87" name="Shape 83"/>
          <p:cNvSpPr/>
          <p:nvPr/>
        </p:nvSpPr>
        <p:spPr>
          <a:xfrm>
            <a:off x="13200278" y="2836469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8" name="Text 84"/>
          <p:cNvSpPr/>
          <p:nvPr/>
        </p:nvSpPr>
        <p:spPr>
          <a:xfrm>
            <a:off x="13238683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89" name="Shape 85"/>
          <p:cNvSpPr/>
          <p:nvPr/>
        </p:nvSpPr>
        <p:spPr>
          <a:xfrm>
            <a:off x="9524391" y="3352191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0" name="Text 86"/>
          <p:cNvSpPr/>
          <p:nvPr/>
        </p:nvSpPr>
        <p:spPr>
          <a:xfrm>
            <a:off x="9601200" y="342900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F13</a:t>
            </a:r>
            <a:endParaRPr lang="en-US" sz="864" dirty="0"/>
          </a:p>
        </p:txBody>
      </p:sp>
      <p:sp>
        <p:nvSpPr>
          <p:cNvPr id="91" name="Text 87"/>
          <p:cNvSpPr/>
          <p:nvPr/>
        </p:nvSpPr>
        <p:spPr>
          <a:xfrm>
            <a:off x="10029139" y="3390595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humano</a:t>
            </a:r>
            <a:endParaRPr lang="en-US" sz="852" dirty="0"/>
          </a:p>
        </p:txBody>
      </p:sp>
      <p:sp>
        <p:nvSpPr>
          <p:cNvPr id="92" name="Shape 88"/>
          <p:cNvSpPr/>
          <p:nvPr/>
        </p:nvSpPr>
        <p:spPr>
          <a:xfrm>
            <a:off x="13200278" y="3423514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3" name="Text 89"/>
          <p:cNvSpPr/>
          <p:nvPr/>
        </p:nvSpPr>
        <p:spPr>
          <a:xfrm>
            <a:off x="13238683" y="346850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4" name="Shape 90"/>
          <p:cNvSpPr/>
          <p:nvPr/>
        </p:nvSpPr>
        <p:spPr>
          <a:xfrm>
            <a:off x="9524391" y="3939235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5" name="Text 91"/>
          <p:cNvSpPr/>
          <p:nvPr/>
        </p:nvSpPr>
        <p:spPr>
          <a:xfrm>
            <a:off x="9601200" y="401604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F14</a:t>
            </a:r>
            <a:endParaRPr lang="en-US" sz="864" dirty="0"/>
          </a:p>
        </p:txBody>
      </p:sp>
      <p:sp>
        <p:nvSpPr>
          <p:cNvPr id="96" name="Text 92"/>
          <p:cNvSpPr/>
          <p:nvPr/>
        </p:nvSpPr>
        <p:spPr>
          <a:xfrm>
            <a:off x="10029139" y="3977640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y rezago educativo</a:t>
            </a:r>
            <a:endParaRPr lang="en-US" sz="852" dirty="0"/>
          </a:p>
        </p:txBody>
      </p:sp>
      <p:sp>
        <p:nvSpPr>
          <p:cNvPr id="97" name="Shape 93"/>
          <p:cNvSpPr/>
          <p:nvPr/>
        </p:nvSpPr>
        <p:spPr>
          <a:xfrm>
            <a:off x="13200278" y="4010558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8" name="Text 94"/>
          <p:cNvSpPr/>
          <p:nvPr/>
        </p:nvSpPr>
        <p:spPr>
          <a:xfrm>
            <a:off x="13238683" y="405554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9" name="Shape 95"/>
          <p:cNvSpPr/>
          <p:nvPr/>
        </p:nvSpPr>
        <p:spPr>
          <a:xfrm>
            <a:off x="9524391" y="4526280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0" name="Text 96"/>
          <p:cNvSpPr/>
          <p:nvPr/>
        </p:nvSpPr>
        <p:spPr>
          <a:xfrm>
            <a:off x="9601200" y="460309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</a:t>
            </a:r>
            <a:endParaRPr lang="en-US" sz="864" dirty="0"/>
          </a:p>
        </p:txBody>
      </p:sp>
      <p:sp>
        <p:nvSpPr>
          <p:cNvPr id="101" name="Text 97"/>
          <p:cNvSpPr/>
          <p:nvPr/>
        </p:nvSpPr>
        <p:spPr>
          <a:xfrm>
            <a:off x="10029139" y="4564685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Salud, prevención y acceso a servicios</a:t>
            </a:r>
            <a:endParaRPr lang="en-US" sz="852" dirty="0"/>
          </a:p>
        </p:txBody>
      </p:sp>
      <p:sp>
        <p:nvSpPr>
          <p:cNvPr id="102" name="Shape 98"/>
          <p:cNvSpPr/>
          <p:nvPr/>
        </p:nvSpPr>
        <p:spPr>
          <a:xfrm>
            <a:off x="13200278" y="4597603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3" name="Text 99"/>
          <p:cNvSpPr/>
          <p:nvPr/>
        </p:nvSpPr>
        <p:spPr>
          <a:xfrm>
            <a:off x="13238683" y="464259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4" name="Shape 100"/>
          <p:cNvSpPr/>
          <p:nvPr/>
        </p:nvSpPr>
        <p:spPr>
          <a:xfrm>
            <a:off x="9524391" y="5113325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5" name="Text 101"/>
          <p:cNvSpPr/>
          <p:nvPr/>
        </p:nvSpPr>
        <p:spPr>
          <a:xfrm>
            <a:off x="9601200" y="519013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F16</a:t>
            </a:r>
            <a:endParaRPr lang="en-US" sz="864" dirty="0"/>
          </a:p>
        </p:txBody>
      </p:sp>
      <p:sp>
        <p:nvSpPr>
          <p:cNvPr id="106" name="Text 102"/>
          <p:cNvSpPr/>
          <p:nvPr/>
        </p:nvSpPr>
        <p:spPr>
          <a:xfrm>
            <a:off x="10029139" y="5151730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Carencia de servicios básicos en la vivienda</a:t>
            </a:r>
            <a:endParaRPr lang="en-US" sz="852" dirty="0"/>
          </a:p>
        </p:txBody>
      </p:sp>
      <p:sp>
        <p:nvSpPr>
          <p:cNvPr id="107" name="Shape 103"/>
          <p:cNvSpPr/>
          <p:nvPr/>
        </p:nvSpPr>
        <p:spPr>
          <a:xfrm>
            <a:off x="13200278" y="5184648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8" name="Text 104"/>
          <p:cNvSpPr/>
          <p:nvPr/>
        </p:nvSpPr>
        <p:spPr>
          <a:xfrm>
            <a:off x="13238683" y="522963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9" name="Shape 105"/>
          <p:cNvSpPr/>
          <p:nvPr/>
        </p:nvSpPr>
        <p:spPr>
          <a:xfrm>
            <a:off x="9524391" y="5700370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0" name="Text 106"/>
          <p:cNvSpPr/>
          <p:nvPr/>
        </p:nvSpPr>
        <p:spPr>
          <a:xfrm>
            <a:off x="9601200" y="577717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F17</a:t>
            </a:r>
            <a:endParaRPr lang="en-US" sz="864" dirty="0"/>
          </a:p>
        </p:txBody>
      </p:sp>
      <p:sp>
        <p:nvSpPr>
          <p:cNvPr id="111" name="Text 107"/>
          <p:cNvSpPr/>
          <p:nvPr/>
        </p:nvSpPr>
        <p:spPr>
          <a:xfrm>
            <a:off x="10029139" y="5738775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cultural y gestión del patrimonio</a:t>
            </a:r>
            <a:endParaRPr lang="en-US" sz="852" dirty="0"/>
          </a:p>
        </p:txBody>
      </p:sp>
      <p:sp>
        <p:nvSpPr>
          <p:cNvPr id="112" name="Shape 108"/>
          <p:cNvSpPr/>
          <p:nvPr/>
        </p:nvSpPr>
        <p:spPr>
          <a:xfrm>
            <a:off x="13200278" y="5771693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3" name="Text 109"/>
          <p:cNvSpPr/>
          <p:nvPr/>
        </p:nvSpPr>
        <p:spPr>
          <a:xfrm>
            <a:off x="13238683" y="581668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14" name="Shape 110"/>
          <p:cNvSpPr/>
          <p:nvPr/>
        </p:nvSpPr>
        <p:spPr>
          <a:xfrm>
            <a:off x="1042416" y="7242048"/>
            <a:ext cx="12563856" cy="373075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5" name="Text 111"/>
          <p:cNvSpPr/>
          <p:nvPr/>
        </p:nvSpPr>
        <p:spPr>
          <a:xfrm>
            <a:off x="1261872" y="7351776"/>
            <a:ext cx="1212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88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ejecutiva: Seguridad concentra la mayor cantidad de familias; Bienestar integra seis temas sociales prioritarios.</a:t>
            </a:r>
            <a:endParaRPr lang="en-US" sz="8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ma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4"/>
            <a:ext cx="1316736" cy="1207008"/>
          </a:xfrm>
          <a:prstGeom prst="rect">
            <a:avLst/>
          </a:prstGeom>
        </p:spPr>
      </p:pic>
      <p:pic>
        <p:nvPicPr>
          <p:cNvPr id="3" name="Image 1" descr="/mnt/data/format_unzi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84048"/>
            <a:ext cx="1514246" cy="801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9152" y="362103"/>
            <a:ext cx="949147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2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POR AGRUPACIÓN TEMÁTICA</a:t>
            </a:r>
            <a:endParaRPr lang="en-US" sz="2220" dirty="0"/>
          </a:p>
        </p:txBody>
      </p:sp>
      <p:sp>
        <p:nvSpPr>
          <p:cNvPr id="5" name="Text 1"/>
          <p:cNvSpPr/>
          <p:nvPr/>
        </p:nvSpPr>
        <p:spPr>
          <a:xfrm>
            <a:off x="2359152" y="801015"/>
            <a:ext cx="982065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económico, territorio y medio ambiente</a:t>
            </a:r>
            <a:endParaRPr lang="en-US" sz="2040" dirty="0"/>
          </a:p>
        </p:txBody>
      </p:sp>
      <p:sp>
        <p:nvSpPr>
          <p:cNvPr id="6" name="Text 2"/>
          <p:cNvSpPr/>
          <p:nvPr/>
        </p:nvSpPr>
        <p:spPr>
          <a:xfrm>
            <a:off x="2359152" y="1338682"/>
            <a:ext cx="111373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familias orientadas a actividad económica, ordenamiento territorial, ambiente y agua.</a:t>
            </a:r>
            <a:endParaRPr lang="en-US" sz="1260" dirty="0"/>
          </a:p>
        </p:txBody>
      </p:sp>
      <p:sp>
        <p:nvSpPr>
          <p:cNvPr id="7" name="Shape 3"/>
          <p:cNvSpPr/>
          <p:nvPr/>
        </p:nvSpPr>
        <p:spPr>
          <a:xfrm>
            <a:off x="2359152" y="1645920"/>
            <a:ext cx="186537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" name="Shape 4"/>
          <p:cNvSpPr/>
          <p:nvPr/>
        </p:nvSpPr>
        <p:spPr>
          <a:xfrm>
            <a:off x="603504" y="7680960"/>
            <a:ext cx="1366113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" name="Text 5"/>
          <p:cNvSpPr/>
          <p:nvPr/>
        </p:nvSpPr>
        <p:spPr>
          <a:xfrm>
            <a:off x="603504" y="7845552"/>
            <a:ext cx="4608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SIIP Salamanca · Universo maestro de indicadores</a:t>
            </a:r>
            <a:endParaRPr lang="en-US" sz="864" dirty="0"/>
          </a:p>
        </p:txBody>
      </p:sp>
      <p:sp>
        <p:nvSpPr>
          <p:cNvPr id="10" name="Shape 6"/>
          <p:cNvSpPr/>
          <p:nvPr/>
        </p:nvSpPr>
        <p:spPr>
          <a:xfrm>
            <a:off x="8833104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E86E2E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" name="Text 7"/>
          <p:cNvSpPr/>
          <p:nvPr/>
        </p:nvSpPr>
        <p:spPr>
          <a:xfrm>
            <a:off x="8953805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03690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agrupaciones</a:t>
            </a:r>
            <a:endParaRPr lang="en-US" sz="804" dirty="0"/>
          </a:p>
        </p:txBody>
      </p:sp>
      <p:sp>
        <p:nvSpPr>
          <p:cNvPr id="13" name="Shape 9"/>
          <p:cNvSpPr/>
          <p:nvPr/>
        </p:nvSpPr>
        <p:spPr>
          <a:xfrm>
            <a:off x="10391241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B9985A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" name="Text 10"/>
          <p:cNvSpPr/>
          <p:nvPr/>
        </p:nvSpPr>
        <p:spPr>
          <a:xfrm>
            <a:off x="10511943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61827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804" dirty="0"/>
          </a:p>
        </p:txBody>
      </p:sp>
      <p:sp>
        <p:nvSpPr>
          <p:cNvPr id="16" name="Shape 12"/>
          <p:cNvSpPr/>
          <p:nvPr/>
        </p:nvSpPr>
        <p:spPr>
          <a:xfrm>
            <a:off x="11949379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E5A4B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7" name="Text 13"/>
          <p:cNvSpPr/>
          <p:nvPr/>
        </p:nvSpPr>
        <p:spPr>
          <a:xfrm>
            <a:off x="12070080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519965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804" dirty="0"/>
          </a:p>
        </p:txBody>
      </p:sp>
      <p:sp>
        <p:nvSpPr>
          <p:cNvPr id="19" name="Shape 15"/>
          <p:cNvSpPr/>
          <p:nvPr/>
        </p:nvSpPr>
        <p:spPr>
          <a:xfrm>
            <a:off x="822960" y="2084832"/>
            <a:ext cx="5925312" cy="4882896"/>
          </a:xfrm>
          <a:prstGeom prst="roundRect">
            <a:avLst>
              <a:gd name="adj" fmla="val 1236"/>
            </a:avLst>
          </a:prstGeom>
          <a:solidFill>
            <a:srgbClr val="EFF7F4"/>
          </a:solidFill>
          <a:ln w="12700">
            <a:solidFill>
              <a:srgbClr val="0E5A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0" name="Shape 16"/>
          <p:cNvSpPr/>
          <p:nvPr/>
        </p:nvSpPr>
        <p:spPr>
          <a:xfrm>
            <a:off x="899770" y="2161642"/>
            <a:ext cx="5771693" cy="482803"/>
          </a:xfrm>
          <a:prstGeom prst="roundRect">
            <a:avLst>
              <a:gd name="adj" fmla="val 9091"/>
            </a:avLst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1" name="Text 17"/>
          <p:cNvSpPr/>
          <p:nvPr/>
        </p:nvSpPr>
        <p:spPr>
          <a:xfrm>
            <a:off x="1042416" y="2282343"/>
            <a:ext cx="4498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Desarrollo económico y empleo</a:t>
            </a:r>
            <a:endParaRPr lang="en-US" sz="1008" dirty="0"/>
          </a:p>
        </p:txBody>
      </p:sp>
      <p:sp>
        <p:nvSpPr>
          <p:cNvPr id="22" name="Text 18"/>
          <p:cNvSpPr/>
          <p:nvPr/>
        </p:nvSpPr>
        <p:spPr>
          <a:xfrm>
            <a:off x="5738774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80" dirty="0"/>
          </a:p>
        </p:txBody>
      </p:sp>
      <p:sp>
        <p:nvSpPr>
          <p:cNvPr id="23" name="Text 19"/>
          <p:cNvSpPr/>
          <p:nvPr/>
        </p:nvSpPr>
        <p:spPr>
          <a:xfrm>
            <a:off x="6067958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24" name="Shape 20"/>
          <p:cNvSpPr/>
          <p:nvPr/>
        </p:nvSpPr>
        <p:spPr>
          <a:xfrm>
            <a:off x="965607" y="2765145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5" name="Text 21"/>
          <p:cNvSpPr/>
          <p:nvPr/>
        </p:nvSpPr>
        <p:spPr>
          <a:xfrm>
            <a:off x="104241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F18</a:t>
            </a:r>
            <a:endParaRPr lang="en-US" sz="864" dirty="0"/>
          </a:p>
        </p:txBody>
      </p:sp>
      <p:sp>
        <p:nvSpPr>
          <p:cNvPr id="26" name="Text 22"/>
          <p:cNvSpPr/>
          <p:nvPr/>
        </p:nvSpPr>
        <p:spPr>
          <a:xfrm>
            <a:off x="1470355" y="2803550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 y experiencia turística</a:t>
            </a:r>
            <a:endParaRPr lang="en-US" sz="834" dirty="0"/>
          </a:p>
        </p:txBody>
      </p:sp>
      <p:sp>
        <p:nvSpPr>
          <p:cNvPr id="27" name="Shape 23"/>
          <p:cNvSpPr/>
          <p:nvPr/>
        </p:nvSpPr>
        <p:spPr>
          <a:xfrm>
            <a:off x="6232550" y="2836469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8" name="Text 24"/>
          <p:cNvSpPr/>
          <p:nvPr/>
        </p:nvSpPr>
        <p:spPr>
          <a:xfrm>
            <a:off x="6270955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29" name="Shape 25"/>
          <p:cNvSpPr/>
          <p:nvPr/>
        </p:nvSpPr>
        <p:spPr>
          <a:xfrm>
            <a:off x="965607" y="3275381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0" name="Text 26"/>
          <p:cNvSpPr/>
          <p:nvPr/>
        </p:nvSpPr>
        <p:spPr>
          <a:xfrm>
            <a:off x="1042416" y="335219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F19</a:t>
            </a:r>
            <a:endParaRPr lang="en-US" sz="864" dirty="0"/>
          </a:p>
        </p:txBody>
      </p:sp>
      <p:sp>
        <p:nvSpPr>
          <p:cNvPr id="31" name="Text 27"/>
          <p:cNvSpPr/>
          <p:nvPr/>
        </p:nvSpPr>
        <p:spPr>
          <a:xfrm>
            <a:off x="1470355" y="3313785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Empleo, precariedad e informalidad laboral</a:t>
            </a:r>
            <a:endParaRPr lang="en-US" sz="834" dirty="0"/>
          </a:p>
        </p:txBody>
      </p:sp>
      <p:sp>
        <p:nvSpPr>
          <p:cNvPr id="32" name="Shape 28"/>
          <p:cNvSpPr/>
          <p:nvPr/>
        </p:nvSpPr>
        <p:spPr>
          <a:xfrm>
            <a:off x="6232550" y="3346704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3" name="Text 29"/>
          <p:cNvSpPr/>
          <p:nvPr/>
        </p:nvSpPr>
        <p:spPr>
          <a:xfrm>
            <a:off x="6270955" y="339169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4" name="Shape 30"/>
          <p:cNvSpPr/>
          <p:nvPr/>
        </p:nvSpPr>
        <p:spPr>
          <a:xfrm>
            <a:off x="965607" y="3785616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5" name="Text 31"/>
          <p:cNvSpPr/>
          <p:nvPr/>
        </p:nvSpPr>
        <p:spPr>
          <a:xfrm>
            <a:off x="1042416" y="386242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F20</a:t>
            </a:r>
            <a:endParaRPr lang="en-US" sz="864" dirty="0"/>
          </a:p>
        </p:txBody>
      </p:sp>
      <p:sp>
        <p:nvSpPr>
          <p:cNvPr id="36" name="Text 32"/>
          <p:cNvSpPr/>
          <p:nvPr/>
        </p:nvSpPr>
        <p:spPr>
          <a:xfrm>
            <a:off x="1470355" y="3824021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Formalidad y dinamismo comercial</a:t>
            </a:r>
            <a:endParaRPr lang="en-US" sz="834" dirty="0"/>
          </a:p>
        </p:txBody>
      </p:sp>
      <p:sp>
        <p:nvSpPr>
          <p:cNvPr id="37" name="Shape 33"/>
          <p:cNvSpPr/>
          <p:nvPr/>
        </p:nvSpPr>
        <p:spPr>
          <a:xfrm>
            <a:off x="6232550" y="3856939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8" name="Text 34"/>
          <p:cNvSpPr/>
          <p:nvPr/>
        </p:nvSpPr>
        <p:spPr>
          <a:xfrm>
            <a:off x="6270955" y="390192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39" name="Shape 35"/>
          <p:cNvSpPr/>
          <p:nvPr/>
        </p:nvSpPr>
        <p:spPr>
          <a:xfrm>
            <a:off x="965607" y="4295851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0" name="Text 36"/>
          <p:cNvSpPr/>
          <p:nvPr/>
        </p:nvSpPr>
        <p:spPr>
          <a:xfrm>
            <a:off x="1042416" y="4372661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F21</a:t>
            </a:r>
            <a:endParaRPr lang="en-US" sz="864" dirty="0"/>
          </a:p>
        </p:txBody>
      </p:sp>
      <p:sp>
        <p:nvSpPr>
          <p:cNvPr id="41" name="Text 37"/>
          <p:cNvSpPr/>
          <p:nvPr/>
        </p:nvSpPr>
        <p:spPr>
          <a:xfrm>
            <a:off x="1470355" y="4334256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empresarial y desarrollo productivo</a:t>
            </a:r>
            <a:endParaRPr lang="en-US" sz="834" dirty="0"/>
          </a:p>
        </p:txBody>
      </p:sp>
      <p:sp>
        <p:nvSpPr>
          <p:cNvPr id="42" name="Shape 38"/>
          <p:cNvSpPr/>
          <p:nvPr/>
        </p:nvSpPr>
        <p:spPr>
          <a:xfrm>
            <a:off x="6232550" y="4367174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3" name="Text 39"/>
          <p:cNvSpPr/>
          <p:nvPr/>
        </p:nvSpPr>
        <p:spPr>
          <a:xfrm>
            <a:off x="6270955" y="441216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4" name="Shape 40"/>
          <p:cNvSpPr/>
          <p:nvPr/>
        </p:nvSpPr>
        <p:spPr>
          <a:xfrm>
            <a:off x="965607" y="4806086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5" name="Text 41"/>
          <p:cNvSpPr/>
          <p:nvPr/>
        </p:nvSpPr>
        <p:spPr>
          <a:xfrm>
            <a:off x="1042416" y="488289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F23</a:t>
            </a:r>
            <a:endParaRPr lang="en-US" sz="864" dirty="0"/>
          </a:p>
        </p:txBody>
      </p:sp>
      <p:sp>
        <p:nvSpPr>
          <p:cNvPr id="46" name="Text 42"/>
          <p:cNvSpPr/>
          <p:nvPr/>
        </p:nvSpPr>
        <p:spPr>
          <a:xfrm>
            <a:off x="1470355" y="4844491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Atracción y retención de inversión</a:t>
            </a:r>
            <a:endParaRPr lang="en-US" sz="834" dirty="0"/>
          </a:p>
        </p:txBody>
      </p:sp>
      <p:sp>
        <p:nvSpPr>
          <p:cNvPr id="47" name="Shape 43"/>
          <p:cNvSpPr/>
          <p:nvPr/>
        </p:nvSpPr>
        <p:spPr>
          <a:xfrm>
            <a:off x="6232550" y="4877410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8" name="Text 44"/>
          <p:cNvSpPr/>
          <p:nvPr/>
        </p:nvSpPr>
        <p:spPr>
          <a:xfrm>
            <a:off x="6270955" y="4922398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9" name="Shape 45"/>
          <p:cNvSpPr/>
          <p:nvPr/>
        </p:nvSpPr>
        <p:spPr>
          <a:xfrm>
            <a:off x="965607" y="5316321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0" name="Text 46"/>
          <p:cNvSpPr/>
          <p:nvPr/>
        </p:nvSpPr>
        <p:spPr>
          <a:xfrm>
            <a:off x="1042416" y="5393131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F24</a:t>
            </a:r>
            <a:endParaRPr lang="en-US" sz="864" dirty="0"/>
          </a:p>
        </p:txBody>
      </p:sp>
      <p:sp>
        <p:nvSpPr>
          <p:cNvPr id="51" name="Text 47"/>
          <p:cNvSpPr/>
          <p:nvPr/>
        </p:nvSpPr>
        <p:spPr>
          <a:xfrm>
            <a:off x="1470355" y="5354726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rural y productividad agropecuaria</a:t>
            </a:r>
            <a:endParaRPr lang="en-US" sz="834" dirty="0"/>
          </a:p>
        </p:txBody>
      </p:sp>
      <p:sp>
        <p:nvSpPr>
          <p:cNvPr id="52" name="Shape 48"/>
          <p:cNvSpPr/>
          <p:nvPr/>
        </p:nvSpPr>
        <p:spPr>
          <a:xfrm>
            <a:off x="6232550" y="5387645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3" name="Text 49"/>
          <p:cNvSpPr/>
          <p:nvPr/>
        </p:nvSpPr>
        <p:spPr>
          <a:xfrm>
            <a:off x="6270955" y="543263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54" name="Shape 50"/>
          <p:cNvSpPr/>
          <p:nvPr/>
        </p:nvSpPr>
        <p:spPr>
          <a:xfrm>
            <a:off x="965607" y="5826557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5" name="Text 51"/>
          <p:cNvSpPr/>
          <p:nvPr/>
        </p:nvSpPr>
        <p:spPr>
          <a:xfrm>
            <a:off x="1042416" y="590336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F26</a:t>
            </a:r>
            <a:endParaRPr lang="en-US" sz="864" dirty="0"/>
          </a:p>
        </p:txBody>
      </p:sp>
      <p:sp>
        <p:nvSpPr>
          <p:cNvPr id="56" name="Text 52"/>
          <p:cNvSpPr/>
          <p:nvPr/>
        </p:nvSpPr>
        <p:spPr>
          <a:xfrm>
            <a:off x="1470355" y="5864961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digital e internet</a:t>
            </a:r>
            <a:endParaRPr lang="en-US" sz="834" dirty="0"/>
          </a:p>
        </p:txBody>
      </p:sp>
      <p:sp>
        <p:nvSpPr>
          <p:cNvPr id="57" name="Shape 53"/>
          <p:cNvSpPr/>
          <p:nvPr/>
        </p:nvSpPr>
        <p:spPr>
          <a:xfrm>
            <a:off x="6232550" y="5897880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8" name="Text 54"/>
          <p:cNvSpPr/>
          <p:nvPr/>
        </p:nvSpPr>
        <p:spPr>
          <a:xfrm>
            <a:off x="6270955" y="5942868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59" name="Shape 55"/>
          <p:cNvSpPr/>
          <p:nvPr/>
        </p:nvSpPr>
        <p:spPr>
          <a:xfrm>
            <a:off x="7077456" y="2084832"/>
            <a:ext cx="6638544" cy="4882896"/>
          </a:xfrm>
          <a:prstGeom prst="roundRect">
            <a:avLst>
              <a:gd name="adj" fmla="val 1236"/>
            </a:avLst>
          </a:prstGeom>
          <a:solidFill>
            <a:srgbClr val="FFF4ED"/>
          </a:solidFill>
          <a:ln w="12700">
            <a:solidFill>
              <a:srgbClr val="E86E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0" name="Shape 56"/>
          <p:cNvSpPr/>
          <p:nvPr/>
        </p:nvSpPr>
        <p:spPr>
          <a:xfrm>
            <a:off x="7154266" y="2161642"/>
            <a:ext cx="6484925" cy="482803"/>
          </a:xfrm>
          <a:prstGeom prst="roundRect">
            <a:avLst>
              <a:gd name="adj" fmla="val 9091"/>
            </a:avLst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1" name="Text 57"/>
          <p:cNvSpPr/>
          <p:nvPr/>
        </p:nvSpPr>
        <p:spPr>
          <a:xfrm>
            <a:off x="7296912" y="2282343"/>
            <a:ext cx="521208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Territorio, desarrollo urbano y medio ambiente</a:t>
            </a:r>
            <a:endParaRPr lang="en-US" sz="972" dirty="0"/>
          </a:p>
        </p:txBody>
      </p:sp>
      <p:sp>
        <p:nvSpPr>
          <p:cNvPr id="62" name="Text 58"/>
          <p:cNvSpPr/>
          <p:nvPr/>
        </p:nvSpPr>
        <p:spPr>
          <a:xfrm>
            <a:off x="12706502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80" dirty="0"/>
          </a:p>
        </p:txBody>
      </p:sp>
      <p:sp>
        <p:nvSpPr>
          <p:cNvPr id="63" name="Text 59"/>
          <p:cNvSpPr/>
          <p:nvPr/>
        </p:nvSpPr>
        <p:spPr>
          <a:xfrm>
            <a:off x="13035686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64" name="Shape 60"/>
          <p:cNvSpPr/>
          <p:nvPr/>
        </p:nvSpPr>
        <p:spPr>
          <a:xfrm>
            <a:off x="7220103" y="2765146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5" name="Text 61"/>
          <p:cNvSpPr/>
          <p:nvPr/>
        </p:nvSpPr>
        <p:spPr>
          <a:xfrm>
            <a:off x="7296912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F27</a:t>
            </a:r>
            <a:endParaRPr lang="en-US" sz="840" dirty="0"/>
          </a:p>
        </p:txBody>
      </p:sp>
      <p:sp>
        <p:nvSpPr>
          <p:cNvPr id="66" name="Text 62"/>
          <p:cNvSpPr/>
          <p:nvPr/>
        </p:nvSpPr>
        <p:spPr>
          <a:xfrm>
            <a:off x="7724851" y="2803550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 urbana y ordenamiento ecológico</a:t>
            </a:r>
            <a:endParaRPr lang="en-US" sz="804" dirty="0"/>
          </a:p>
        </p:txBody>
      </p:sp>
      <p:sp>
        <p:nvSpPr>
          <p:cNvPr id="67" name="Shape 63"/>
          <p:cNvSpPr/>
          <p:nvPr/>
        </p:nvSpPr>
        <p:spPr>
          <a:xfrm>
            <a:off x="13200278" y="2836469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8" name="Text 64"/>
          <p:cNvSpPr/>
          <p:nvPr/>
        </p:nvSpPr>
        <p:spPr>
          <a:xfrm>
            <a:off x="13238683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69" name="Shape 65"/>
          <p:cNvSpPr/>
          <p:nvPr/>
        </p:nvSpPr>
        <p:spPr>
          <a:xfrm>
            <a:off x="7220103" y="3209544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0" name="Text 66"/>
          <p:cNvSpPr/>
          <p:nvPr/>
        </p:nvSpPr>
        <p:spPr>
          <a:xfrm>
            <a:off x="7296912" y="328635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F28</a:t>
            </a:r>
            <a:endParaRPr lang="en-US" sz="840" dirty="0"/>
          </a:p>
        </p:txBody>
      </p:sp>
      <p:sp>
        <p:nvSpPr>
          <p:cNvPr id="71" name="Text 67"/>
          <p:cNvSpPr/>
          <p:nvPr/>
        </p:nvSpPr>
        <p:spPr>
          <a:xfrm>
            <a:off x="7724851" y="3247949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 y expansión urbana</a:t>
            </a:r>
            <a:endParaRPr lang="en-US" sz="804" dirty="0"/>
          </a:p>
        </p:txBody>
      </p:sp>
      <p:sp>
        <p:nvSpPr>
          <p:cNvPr id="72" name="Shape 68"/>
          <p:cNvSpPr/>
          <p:nvPr/>
        </p:nvSpPr>
        <p:spPr>
          <a:xfrm>
            <a:off x="13200278" y="3280867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3" name="Text 69"/>
          <p:cNvSpPr/>
          <p:nvPr/>
        </p:nvSpPr>
        <p:spPr>
          <a:xfrm>
            <a:off x="13238683" y="3325855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4" name="Shape 70"/>
          <p:cNvSpPr/>
          <p:nvPr/>
        </p:nvSpPr>
        <p:spPr>
          <a:xfrm>
            <a:off x="7220103" y="3653942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5" name="Text 71"/>
          <p:cNvSpPr/>
          <p:nvPr/>
        </p:nvSpPr>
        <p:spPr>
          <a:xfrm>
            <a:off x="7296912" y="373075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F29</a:t>
            </a:r>
            <a:endParaRPr lang="en-US" sz="840" dirty="0"/>
          </a:p>
        </p:txBody>
      </p:sp>
      <p:sp>
        <p:nvSpPr>
          <p:cNvPr id="76" name="Text 72"/>
          <p:cNvSpPr/>
          <p:nvPr/>
        </p:nvSpPr>
        <p:spPr>
          <a:xfrm>
            <a:off x="7724851" y="3692347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Asentamientos irregulares</a:t>
            </a:r>
            <a:endParaRPr lang="en-US" sz="804" dirty="0"/>
          </a:p>
        </p:txBody>
      </p:sp>
      <p:sp>
        <p:nvSpPr>
          <p:cNvPr id="77" name="Shape 73"/>
          <p:cNvSpPr/>
          <p:nvPr/>
        </p:nvSpPr>
        <p:spPr>
          <a:xfrm>
            <a:off x="13200278" y="3725266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8" name="Text 74"/>
          <p:cNvSpPr/>
          <p:nvPr/>
        </p:nvSpPr>
        <p:spPr>
          <a:xfrm>
            <a:off x="13238683" y="377025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9" name="Shape 75"/>
          <p:cNvSpPr/>
          <p:nvPr/>
        </p:nvSpPr>
        <p:spPr>
          <a:xfrm>
            <a:off x="7220103" y="4098341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0" name="Text 76"/>
          <p:cNvSpPr/>
          <p:nvPr/>
        </p:nvSpPr>
        <p:spPr>
          <a:xfrm>
            <a:off x="7296912" y="417515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F30</a:t>
            </a:r>
            <a:endParaRPr lang="en-US" sz="840" dirty="0"/>
          </a:p>
        </p:txBody>
      </p:sp>
      <p:sp>
        <p:nvSpPr>
          <p:cNvPr id="81" name="Text 77"/>
          <p:cNvSpPr/>
          <p:nvPr/>
        </p:nvSpPr>
        <p:spPr>
          <a:xfrm>
            <a:off x="7724851" y="4136746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catastral y regularización predial</a:t>
            </a:r>
            <a:endParaRPr lang="en-US" sz="804" dirty="0"/>
          </a:p>
        </p:txBody>
      </p:sp>
      <p:sp>
        <p:nvSpPr>
          <p:cNvPr id="82" name="Shape 78"/>
          <p:cNvSpPr/>
          <p:nvPr/>
        </p:nvSpPr>
        <p:spPr>
          <a:xfrm>
            <a:off x="13200278" y="4169664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3" name="Text 79"/>
          <p:cNvSpPr/>
          <p:nvPr/>
        </p:nvSpPr>
        <p:spPr>
          <a:xfrm>
            <a:off x="13238683" y="421465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84" name="Shape 80"/>
          <p:cNvSpPr/>
          <p:nvPr/>
        </p:nvSpPr>
        <p:spPr>
          <a:xfrm>
            <a:off x="7220103" y="4542739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5" name="Text 81"/>
          <p:cNvSpPr/>
          <p:nvPr/>
        </p:nvSpPr>
        <p:spPr>
          <a:xfrm>
            <a:off x="7296912" y="461954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F31</a:t>
            </a:r>
            <a:endParaRPr lang="en-US" sz="840" dirty="0"/>
          </a:p>
        </p:txBody>
      </p:sp>
      <p:sp>
        <p:nvSpPr>
          <p:cNvPr id="86" name="Text 82"/>
          <p:cNvSpPr/>
          <p:nvPr/>
        </p:nvSpPr>
        <p:spPr>
          <a:xfrm>
            <a:off x="7724851" y="4581144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Asentamientos y población en zonas de riesgo</a:t>
            </a:r>
            <a:endParaRPr lang="en-US" sz="804" dirty="0"/>
          </a:p>
        </p:txBody>
      </p:sp>
      <p:sp>
        <p:nvSpPr>
          <p:cNvPr id="87" name="Shape 83"/>
          <p:cNvSpPr/>
          <p:nvPr/>
        </p:nvSpPr>
        <p:spPr>
          <a:xfrm>
            <a:off x="13200278" y="4614062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8" name="Text 84"/>
          <p:cNvSpPr/>
          <p:nvPr/>
        </p:nvSpPr>
        <p:spPr>
          <a:xfrm>
            <a:off x="13238683" y="465905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89" name="Shape 85"/>
          <p:cNvSpPr/>
          <p:nvPr/>
        </p:nvSpPr>
        <p:spPr>
          <a:xfrm>
            <a:off x="7220103" y="4987138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0" name="Text 86"/>
          <p:cNvSpPr/>
          <p:nvPr/>
        </p:nvSpPr>
        <p:spPr>
          <a:xfrm>
            <a:off x="7296912" y="5063947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F33</a:t>
            </a:r>
            <a:endParaRPr lang="en-US" sz="840" dirty="0"/>
          </a:p>
        </p:txBody>
      </p:sp>
      <p:sp>
        <p:nvSpPr>
          <p:cNvPr id="91" name="Text 87"/>
          <p:cNvSpPr/>
          <p:nvPr/>
        </p:nvSpPr>
        <p:spPr>
          <a:xfrm>
            <a:off x="7724851" y="5025542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Espacios públicos, áreas verdes y calidad del entorno urbano</a:t>
            </a:r>
            <a:endParaRPr lang="en-US" sz="804" dirty="0"/>
          </a:p>
        </p:txBody>
      </p:sp>
      <p:sp>
        <p:nvSpPr>
          <p:cNvPr id="92" name="Shape 88"/>
          <p:cNvSpPr/>
          <p:nvPr/>
        </p:nvSpPr>
        <p:spPr>
          <a:xfrm>
            <a:off x="13200278" y="5058461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3" name="Text 89"/>
          <p:cNvSpPr/>
          <p:nvPr/>
        </p:nvSpPr>
        <p:spPr>
          <a:xfrm>
            <a:off x="13238683" y="5103449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4" name="Shape 90"/>
          <p:cNvSpPr/>
          <p:nvPr/>
        </p:nvSpPr>
        <p:spPr>
          <a:xfrm>
            <a:off x="7220103" y="5431536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5" name="Text 91"/>
          <p:cNvSpPr/>
          <p:nvPr/>
        </p:nvSpPr>
        <p:spPr>
          <a:xfrm>
            <a:off x="7296912" y="550834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F35</a:t>
            </a:r>
            <a:endParaRPr lang="en-US" sz="840" dirty="0"/>
          </a:p>
        </p:txBody>
      </p:sp>
      <p:sp>
        <p:nvSpPr>
          <p:cNvPr id="96" name="Text 92"/>
          <p:cNvSpPr/>
          <p:nvPr/>
        </p:nvSpPr>
        <p:spPr>
          <a:xfrm>
            <a:off x="7724851" y="5469941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Conservación y restauración ecosistémica</a:t>
            </a:r>
            <a:endParaRPr lang="en-US" sz="804" dirty="0"/>
          </a:p>
        </p:txBody>
      </p:sp>
      <p:sp>
        <p:nvSpPr>
          <p:cNvPr id="97" name="Shape 93"/>
          <p:cNvSpPr/>
          <p:nvPr/>
        </p:nvSpPr>
        <p:spPr>
          <a:xfrm>
            <a:off x="13200278" y="5502859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8" name="Text 94"/>
          <p:cNvSpPr/>
          <p:nvPr/>
        </p:nvSpPr>
        <p:spPr>
          <a:xfrm>
            <a:off x="13238683" y="554784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9" name="Shape 95"/>
          <p:cNvSpPr/>
          <p:nvPr/>
        </p:nvSpPr>
        <p:spPr>
          <a:xfrm>
            <a:off x="7220103" y="5875934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0" name="Text 96"/>
          <p:cNvSpPr/>
          <p:nvPr/>
        </p:nvSpPr>
        <p:spPr>
          <a:xfrm>
            <a:off x="7296912" y="595274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F36</a:t>
            </a:r>
            <a:endParaRPr lang="en-US" sz="840" dirty="0"/>
          </a:p>
        </p:txBody>
      </p:sp>
      <p:sp>
        <p:nvSpPr>
          <p:cNvPr id="101" name="Text 97"/>
          <p:cNvSpPr/>
          <p:nvPr/>
        </p:nvSpPr>
        <p:spPr>
          <a:xfrm>
            <a:off x="7724851" y="5914339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aire y control ambiental</a:t>
            </a:r>
            <a:endParaRPr lang="en-US" sz="804" dirty="0"/>
          </a:p>
        </p:txBody>
      </p:sp>
      <p:sp>
        <p:nvSpPr>
          <p:cNvPr id="102" name="Shape 98"/>
          <p:cNvSpPr/>
          <p:nvPr/>
        </p:nvSpPr>
        <p:spPr>
          <a:xfrm>
            <a:off x="13200278" y="5947258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3" name="Text 99"/>
          <p:cNvSpPr/>
          <p:nvPr/>
        </p:nvSpPr>
        <p:spPr>
          <a:xfrm>
            <a:off x="13238683" y="599224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4" name="Shape 100"/>
          <p:cNvSpPr/>
          <p:nvPr/>
        </p:nvSpPr>
        <p:spPr>
          <a:xfrm>
            <a:off x="7220103" y="6320333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5" name="Text 101"/>
          <p:cNvSpPr/>
          <p:nvPr/>
        </p:nvSpPr>
        <p:spPr>
          <a:xfrm>
            <a:off x="7296912" y="639714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F37</a:t>
            </a:r>
            <a:endParaRPr lang="en-US" sz="840" dirty="0"/>
          </a:p>
        </p:txBody>
      </p:sp>
      <p:sp>
        <p:nvSpPr>
          <p:cNvPr id="106" name="Text 102"/>
          <p:cNvSpPr/>
          <p:nvPr/>
        </p:nvSpPr>
        <p:spPr>
          <a:xfrm>
            <a:off x="7724851" y="6358738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Disponibilidad, consumo y sostenibilidad hídrica</a:t>
            </a:r>
            <a:endParaRPr lang="en-US" sz="804" dirty="0"/>
          </a:p>
        </p:txBody>
      </p:sp>
      <p:sp>
        <p:nvSpPr>
          <p:cNvPr id="107" name="Shape 103"/>
          <p:cNvSpPr/>
          <p:nvPr/>
        </p:nvSpPr>
        <p:spPr>
          <a:xfrm>
            <a:off x="13200278" y="6391656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8" name="Text 104"/>
          <p:cNvSpPr/>
          <p:nvPr/>
        </p:nvSpPr>
        <p:spPr>
          <a:xfrm>
            <a:off x="13238683" y="643664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9" name="Shape 105"/>
          <p:cNvSpPr/>
          <p:nvPr/>
        </p:nvSpPr>
        <p:spPr>
          <a:xfrm>
            <a:off x="1042416" y="7242048"/>
            <a:ext cx="12563856" cy="373075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0" name="Text 106"/>
          <p:cNvSpPr/>
          <p:nvPr/>
        </p:nvSpPr>
        <p:spPr>
          <a:xfrm>
            <a:off x="1261872" y="7351776"/>
            <a:ext cx="1212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88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ejecutiva: la agrupación territorial concentra familias de ordenamiento, riesgo, espacios públicos, ambiente y agua.</a:t>
            </a:r>
            <a:endParaRPr lang="en-US" sz="8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ma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4"/>
            <a:ext cx="1316736" cy="1207008"/>
          </a:xfrm>
          <a:prstGeom prst="rect">
            <a:avLst/>
          </a:prstGeom>
        </p:spPr>
      </p:pic>
      <p:pic>
        <p:nvPicPr>
          <p:cNvPr id="3" name="Image 1" descr="/mnt/data/format_unzi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84048"/>
            <a:ext cx="1514246" cy="801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9152" y="362103"/>
            <a:ext cx="949147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2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POR AGRUPACIÓN TEMÁTICA</a:t>
            </a:r>
            <a:endParaRPr lang="en-US" sz="2220" dirty="0"/>
          </a:p>
        </p:txBody>
      </p:sp>
      <p:sp>
        <p:nvSpPr>
          <p:cNvPr id="5" name="Text 1"/>
          <p:cNvSpPr/>
          <p:nvPr/>
        </p:nvSpPr>
        <p:spPr>
          <a:xfrm>
            <a:off x="2359152" y="801015"/>
            <a:ext cx="982065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públicos, movilidad, gobierno y finanzas</a:t>
            </a:r>
            <a:endParaRPr lang="en-US" sz="2040" dirty="0"/>
          </a:p>
        </p:txBody>
      </p:sp>
      <p:sp>
        <p:nvSpPr>
          <p:cNvPr id="6" name="Text 2"/>
          <p:cNvSpPr/>
          <p:nvPr/>
        </p:nvSpPr>
        <p:spPr>
          <a:xfrm>
            <a:off x="2359152" y="1338682"/>
            <a:ext cx="111373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estructura temática con los ámbitos de operación, accesibilidad, gestión institucional y recursos.</a:t>
            </a:r>
            <a:endParaRPr lang="en-US" sz="1260" dirty="0"/>
          </a:p>
        </p:txBody>
      </p:sp>
      <p:sp>
        <p:nvSpPr>
          <p:cNvPr id="7" name="Shape 3"/>
          <p:cNvSpPr/>
          <p:nvPr/>
        </p:nvSpPr>
        <p:spPr>
          <a:xfrm>
            <a:off x="2359152" y="1645920"/>
            <a:ext cx="186537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" name="Shape 4"/>
          <p:cNvSpPr/>
          <p:nvPr/>
        </p:nvSpPr>
        <p:spPr>
          <a:xfrm>
            <a:off x="603504" y="7680960"/>
            <a:ext cx="1366113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" name="Text 5"/>
          <p:cNvSpPr/>
          <p:nvPr/>
        </p:nvSpPr>
        <p:spPr>
          <a:xfrm>
            <a:off x="603504" y="7845552"/>
            <a:ext cx="4608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SIIP Salamanca · Universo maestro de indicadores</a:t>
            </a:r>
            <a:endParaRPr lang="en-US" sz="864" dirty="0"/>
          </a:p>
        </p:txBody>
      </p:sp>
      <p:sp>
        <p:nvSpPr>
          <p:cNvPr id="10" name="Shape 6"/>
          <p:cNvSpPr/>
          <p:nvPr/>
        </p:nvSpPr>
        <p:spPr>
          <a:xfrm>
            <a:off x="8833104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C2544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" name="Text 7"/>
          <p:cNvSpPr/>
          <p:nvPr/>
        </p:nvSpPr>
        <p:spPr>
          <a:xfrm>
            <a:off x="8953805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03690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agrupaciones</a:t>
            </a:r>
            <a:endParaRPr lang="en-US" sz="804" dirty="0"/>
          </a:p>
        </p:txBody>
      </p:sp>
      <p:sp>
        <p:nvSpPr>
          <p:cNvPr id="13" name="Shape 9"/>
          <p:cNvSpPr/>
          <p:nvPr/>
        </p:nvSpPr>
        <p:spPr>
          <a:xfrm>
            <a:off x="10391241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B9985A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" name="Text 10"/>
          <p:cNvSpPr/>
          <p:nvPr/>
        </p:nvSpPr>
        <p:spPr>
          <a:xfrm>
            <a:off x="10511943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61827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804" dirty="0"/>
          </a:p>
        </p:txBody>
      </p:sp>
      <p:sp>
        <p:nvSpPr>
          <p:cNvPr id="16" name="Shape 12"/>
          <p:cNvSpPr/>
          <p:nvPr/>
        </p:nvSpPr>
        <p:spPr>
          <a:xfrm>
            <a:off x="11949379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E5A4B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7" name="Text 13"/>
          <p:cNvSpPr/>
          <p:nvPr/>
        </p:nvSpPr>
        <p:spPr>
          <a:xfrm>
            <a:off x="12070080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519965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804" dirty="0"/>
          </a:p>
        </p:txBody>
      </p:sp>
      <p:sp>
        <p:nvSpPr>
          <p:cNvPr id="19" name="Shape 15"/>
          <p:cNvSpPr/>
          <p:nvPr/>
        </p:nvSpPr>
        <p:spPr>
          <a:xfrm>
            <a:off x="822960" y="2084832"/>
            <a:ext cx="4169664" cy="2359152"/>
          </a:xfrm>
          <a:prstGeom prst="roundRect">
            <a:avLst>
              <a:gd name="adj" fmla="val 2558"/>
            </a:avLst>
          </a:prstGeom>
          <a:solidFill>
            <a:srgbClr val="EFFBFD"/>
          </a:solidFill>
          <a:ln w="12700">
            <a:solidFill>
              <a:srgbClr val="00A5B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0" name="Shape 16"/>
          <p:cNvSpPr/>
          <p:nvPr/>
        </p:nvSpPr>
        <p:spPr>
          <a:xfrm>
            <a:off x="899770" y="2161642"/>
            <a:ext cx="4016045" cy="482803"/>
          </a:xfrm>
          <a:prstGeom prst="roundRect">
            <a:avLst>
              <a:gd name="adj" fmla="val 9091"/>
            </a:avLst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1" name="Text 17"/>
          <p:cNvSpPr/>
          <p:nvPr/>
        </p:nvSpPr>
        <p:spPr>
          <a:xfrm>
            <a:off x="1042416" y="2282343"/>
            <a:ext cx="27432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Servicios públicos municipales</a:t>
            </a:r>
            <a:endParaRPr lang="en-US" sz="876" dirty="0"/>
          </a:p>
        </p:txBody>
      </p:sp>
      <p:sp>
        <p:nvSpPr>
          <p:cNvPr id="22" name="Text 18"/>
          <p:cNvSpPr/>
          <p:nvPr/>
        </p:nvSpPr>
        <p:spPr>
          <a:xfrm>
            <a:off x="3983126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80" dirty="0"/>
          </a:p>
        </p:txBody>
      </p:sp>
      <p:sp>
        <p:nvSpPr>
          <p:cNvPr id="23" name="Text 19"/>
          <p:cNvSpPr/>
          <p:nvPr/>
        </p:nvSpPr>
        <p:spPr>
          <a:xfrm>
            <a:off x="4312310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24" name="Shape 20"/>
          <p:cNvSpPr/>
          <p:nvPr/>
        </p:nvSpPr>
        <p:spPr>
          <a:xfrm>
            <a:off x="965607" y="2765146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5" name="Text 21"/>
          <p:cNvSpPr/>
          <p:nvPr/>
        </p:nvSpPr>
        <p:spPr>
          <a:xfrm>
            <a:off x="104241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F38</a:t>
            </a:r>
            <a:endParaRPr lang="en-US" sz="816" dirty="0"/>
          </a:p>
        </p:txBody>
      </p:sp>
      <p:sp>
        <p:nvSpPr>
          <p:cNvPr id="26" name="Text 22"/>
          <p:cNvSpPr/>
          <p:nvPr/>
        </p:nvSpPr>
        <p:spPr>
          <a:xfrm>
            <a:off x="1470355" y="2803551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 agua potable y saneamiento</a:t>
            </a:r>
            <a:endParaRPr lang="en-US" sz="786" dirty="0"/>
          </a:p>
        </p:txBody>
      </p:sp>
      <p:sp>
        <p:nvSpPr>
          <p:cNvPr id="27" name="Shape 23"/>
          <p:cNvSpPr/>
          <p:nvPr/>
        </p:nvSpPr>
        <p:spPr>
          <a:xfrm>
            <a:off x="4476902" y="2836469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8" name="Text 24"/>
          <p:cNvSpPr/>
          <p:nvPr/>
        </p:nvSpPr>
        <p:spPr>
          <a:xfrm>
            <a:off x="4515307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8" dirty="0"/>
          </a:p>
        </p:txBody>
      </p:sp>
      <p:sp>
        <p:nvSpPr>
          <p:cNvPr id="29" name="Shape 25"/>
          <p:cNvSpPr/>
          <p:nvPr/>
        </p:nvSpPr>
        <p:spPr>
          <a:xfrm>
            <a:off x="965607" y="3077871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0" name="Text 26"/>
          <p:cNvSpPr/>
          <p:nvPr/>
        </p:nvSpPr>
        <p:spPr>
          <a:xfrm>
            <a:off x="1042416" y="315468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F39</a:t>
            </a:r>
            <a:endParaRPr lang="en-US" sz="816" dirty="0"/>
          </a:p>
        </p:txBody>
      </p:sp>
      <p:sp>
        <p:nvSpPr>
          <p:cNvPr id="31" name="Text 27"/>
          <p:cNvSpPr/>
          <p:nvPr/>
        </p:nvSpPr>
        <p:spPr>
          <a:xfrm>
            <a:off x="1470355" y="311627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Alumbrado público</a:t>
            </a:r>
            <a:endParaRPr lang="en-US" sz="786" dirty="0"/>
          </a:p>
        </p:txBody>
      </p:sp>
      <p:sp>
        <p:nvSpPr>
          <p:cNvPr id="32" name="Shape 28"/>
          <p:cNvSpPr/>
          <p:nvPr/>
        </p:nvSpPr>
        <p:spPr>
          <a:xfrm>
            <a:off x="4476902" y="3149194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3" name="Text 29"/>
          <p:cNvSpPr/>
          <p:nvPr/>
        </p:nvSpPr>
        <p:spPr>
          <a:xfrm>
            <a:off x="4515307" y="319418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4" name="Shape 30"/>
          <p:cNvSpPr/>
          <p:nvPr/>
        </p:nvSpPr>
        <p:spPr>
          <a:xfrm>
            <a:off x="965607" y="339059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5" name="Text 31"/>
          <p:cNvSpPr/>
          <p:nvPr/>
        </p:nvSpPr>
        <p:spPr>
          <a:xfrm>
            <a:off x="1042416" y="346740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F40</a:t>
            </a:r>
            <a:endParaRPr lang="en-US" sz="816" dirty="0"/>
          </a:p>
        </p:txBody>
      </p:sp>
      <p:sp>
        <p:nvSpPr>
          <p:cNvPr id="36" name="Text 32"/>
          <p:cNvSpPr/>
          <p:nvPr/>
        </p:nvSpPr>
        <p:spPr>
          <a:xfrm>
            <a:off x="1470355" y="342900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integral de residuos sólidos urbanos</a:t>
            </a:r>
            <a:endParaRPr lang="en-US" sz="786" dirty="0"/>
          </a:p>
        </p:txBody>
      </p:sp>
      <p:sp>
        <p:nvSpPr>
          <p:cNvPr id="37" name="Shape 33"/>
          <p:cNvSpPr/>
          <p:nvPr/>
        </p:nvSpPr>
        <p:spPr>
          <a:xfrm>
            <a:off x="4476902" y="3461918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8" name="Text 34"/>
          <p:cNvSpPr/>
          <p:nvPr/>
        </p:nvSpPr>
        <p:spPr>
          <a:xfrm>
            <a:off x="4515307" y="350690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9" name="Shape 35"/>
          <p:cNvSpPr/>
          <p:nvPr/>
        </p:nvSpPr>
        <p:spPr>
          <a:xfrm>
            <a:off x="965607" y="3703320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0" name="Text 36"/>
          <p:cNvSpPr/>
          <p:nvPr/>
        </p:nvSpPr>
        <p:spPr>
          <a:xfrm>
            <a:off x="1042416" y="378013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F42</a:t>
            </a:r>
            <a:endParaRPr lang="en-US" sz="816" dirty="0"/>
          </a:p>
        </p:txBody>
      </p:sp>
      <p:sp>
        <p:nvSpPr>
          <p:cNvPr id="41" name="Text 37"/>
          <p:cNvSpPr/>
          <p:nvPr/>
        </p:nvSpPr>
        <p:spPr>
          <a:xfrm>
            <a:off x="1470355" y="374172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Panteones</a:t>
            </a:r>
            <a:endParaRPr lang="en-US" sz="786" dirty="0"/>
          </a:p>
        </p:txBody>
      </p:sp>
      <p:sp>
        <p:nvSpPr>
          <p:cNvPr id="42" name="Shape 38"/>
          <p:cNvSpPr/>
          <p:nvPr/>
        </p:nvSpPr>
        <p:spPr>
          <a:xfrm>
            <a:off x="4476902" y="3774643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3" name="Text 39"/>
          <p:cNvSpPr/>
          <p:nvPr/>
        </p:nvSpPr>
        <p:spPr>
          <a:xfrm>
            <a:off x="4515307" y="381963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8" dirty="0"/>
          </a:p>
        </p:txBody>
      </p:sp>
      <p:sp>
        <p:nvSpPr>
          <p:cNvPr id="44" name="Shape 40"/>
          <p:cNvSpPr/>
          <p:nvPr/>
        </p:nvSpPr>
        <p:spPr>
          <a:xfrm>
            <a:off x="965607" y="401604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5" name="Text 41"/>
          <p:cNvSpPr/>
          <p:nvPr/>
        </p:nvSpPr>
        <p:spPr>
          <a:xfrm>
            <a:off x="1042416" y="409285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F43</a:t>
            </a:r>
            <a:endParaRPr lang="en-US" sz="816" dirty="0"/>
          </a:p>
        </p:txBody>
      </p:sp>
      <p:sp>
        <p:nvSpPr>
          <p:cNvPr id="46" name="Text 42"/>
          <p:cNvSpPr/>
          <p:nvPr/>
        </p:nvSpPr>
        <p:spPr>
          <a:xfrm>
            <a:off x="1470355" y="405445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 municipal</a:t>
            </a:r>
            <a:endParaRPr lang="en-US" sz="786" dirty="0"/>
          </a:p>
        </p:txBody>
      </p:sp>
      <p:sp>
        <p:nvSpPr>
          <p:cNvPr id="47" name="Shape 43"/>
          <p:cNvSpPr/>
          <p:nvPr/>
        </p:nvSpPr>
        <p:spPr>
          <a:xfrm>
            <a:off x="4476902" y="4087368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8" name="Text 44"/>
          <p:cNvSpPr/>
          <p:nvPr/>
        </p:nvSpPr>
        <p:spPr>
          <a:xfrm>
            <a:off x="4515307" y="413235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9" name="Shape 45"/>
          <p:cNvSpPr/>
          <p:nvPr/>
        </p:nvSpPr>
        <p:spPr>
          <a:xfrm>
            <a:off x="5212080" y="2084832"/>
            <a:ext cx="4169664" cy="2359152"/>
          </a:xfrm>
          <a:prstGeom prst="roundRect">
            <a:avLst>
              <a:gd name="adj" fmla="val 2558"/>
            </a:avLst>
          </a:prstGeom>
          <a:solidFill>
            <a:srgbClr val="EFF5FC"/>
          </a:solidFill>
          <a:ln w="12700">
            <a:solidFill>
              <a:srgbClr val="2E73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0" name="Shape 46"/>
          <p:cNvSpPr/>
          <p:nvPr/>
        </p:nvSpPr>
        <p:spPr>
          <a:xfrm>
            <a:off x="5288890" y="2161642"/>
            <a:ext cx="4016045" cy="482803"/>
          </a:xfrm>
          <a:prstGeom prst="roundRect">
            <a:avLst>
              <a:gd name="adj" fmla="val 9091"/>
            </a:avLst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1" name="Text 47"/>
          <p:cNvSpPr/>
          <p:nvPr/>
        </p:nvSpPr>
        <p:spPr>
          <a:xfrm>
            <a:off x="5431536" y="2282343"/>
            <a:ext cx="27432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Movilidad y accesibilidad</a:t>
            </a:r>
            <a:endParaRPr lang="en-US" sz="888" dirty="0"/>
          </a:p>
        </p:txBody>
      </p:sp>
      <p:sp>
        <p:nvSpPr>
          <p:cNvPr id="52" name="Text 48"/>
          <p:cNvSpPr/>
          <p:nvPr/>
        </p:nvSpPr>
        <p:spPr>
          <a:xfrm>
            <a:off x="8372246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80" dirty="0"/>
          </a:p>
        </p:txBody>
      </p:sp>
      <p:sp>
        <p:nvSpPr>
          <p:cNvPr id="53" name="Text 49"/>
          <p:cNvSpPr/>
          <p:nvPr/>
        </p:nvSpPr>
        <p:spPr>
          <a:xfrm>
            <a:off x="8701430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54" name="Shape 50"/>
          <p:cNvSpPr/>
          <p:nvPr/>
        </p:nvSpPr>
        <p:spPr>
          <a:xfrm>
            <a:off x="5354727" y="2765146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5" name="Text 51"/>
          <p:cNvSpPr/>
          <p:nvPr/>
        </p:nvSpPr>
        <p:spPr>
          <a:xfrm>
            <a:off x="543153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F44</a:t>
            </a:r>
            <a:endParaRPr lang="en-US" sz="816" dirty="0"/>
          </a:p>
        </p:txBody>
      </p:sp>
      <p:sp>
        <p:nvSpPr>
          <p:cNvPr id="56" name="Text 52"/>
          <p:cNvSpPr/>
          <p:nvPr/>
        </p:nvSpPr>
        <p:spPr>
          <a:xfrm>
            <a:off x="5859475" y="2803551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estado de vialidades</a:t>
            </a:r>
            <a:endParaRPr lang="en-US" sz="786" dirty="0"/>
          </a:p>
        </p:txBody>
      </p:sp>
      <p:sp>
        <p:nvSpPr>
          <p:cNvPr id="57" name="Shape 53"/>
          <p:cNvSpPr/>
          <p:nvPr/>
        </p:nvSpPr>
        <p:spPr>
          <a:xfrm>
            <a:off x="8866022" y="2836469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8" name="Text 54"/>
          <p:cNvSpPr/>
          <p:nvPr/>
        </p:nvSpPr>
        <p:spPr>
          <a:xfrm>
            <a:off x="8904427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59" name="Shape 55"/>
          <p:cNvSpPr/>
          <p:nvPr/>
        </p:nvSpPr>
        <p:spPr>
          <a:xfrm>
            <a:off x="5354727" y="3077871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0" name="Text 56"/>
          <p:cNvSpPr/>
          <p:nvPr/>
        </p:nvSpPr>
        <p:spPr>
          <a:xfrm>
            <a:off x="5431536" y="315468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F45</a:t>
            </a:r>
            <a:endParaRPr lang="en-US" sz="816" dirty="0"/>
          </a:p>
        </p:txBody>
      </p:sp>
      <p:sp>
        <p:nvSpPr>
          <p:cNvPr id="61" name="Text 57"/>
          <p:cNvSpPr/>
          <p:nvPr/>
        </p:nvSpPr>
        <p:spPr>
          <a:xfrm>
            <a:off x="5859475" y="311627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peatonal y accesibilidad universal</a:t>
            </a:r>
            <a:endParaRPr lang="en-US" sz="786" dirty="0"/>
          </a:p>
        </p:txBody>
      </p:sp>
      <p:sp>
        <p:nvSpPr>
          <p:cNvPr id="62" name="Shape 58"/>
          <p:cNvSpPr/>
          <p:nvPr/>
        </p:nvSpPr>
        <p:spPr>
          <a:xfrm>
            <a:off x="8866022" y="3149194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3" name="Text 59"/>
          <p:cNvSpPr/>
          <p:nvPr/>
        </p:nvSpPr>
        <p:spPr>
          <a:xfrm>
            <a:off x="8904427" y="319418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64" name="Shape 60"/>
          <p:cNvSpPr/>
          <p:nvPr/>
        </p:nvSpPr>
        <p:spPr>
          <a:xfrm>
            <a:off x="5354727" y="339059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5" name="Text 61"/>
          <p:cNvSpPr/>
          <p:nvPr/>
        </p:nvSpPr>
        <p:spPr>
          <a:xfrm>
            <a:off x="5431536" y="346740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F46</a:t>
            </a:r>
            <a:endParaRPr lang="en-US" sz="816" dirty="0"/>
          </a:p>
        </p:txBody>
      </p:sp>
      <p:sp>
        <p:nvSpPr>
          <p:cNvPr id="66" name="Text 62"/>
          <p:cNvSpPr/>
          <p:nvPr/>
        </p:nvSpPr>
        <p:spPr>
          <a:xfrm>
            <a:off x="5859475" y="342900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movilidad ciclista</a:t>
            </a:r>
            <a:endParaRPr lang="en-US" sz="786" dirty="0"/>
          </a:p>
        </p:txBody>
      </p:sp>
      <p:sp>
        <p:nvSpPr>
          <p:cNvPr id="67" name="Shape 63"/>
          <p:cNvSpPr/>
          <p:nvPr/>
        </p:nvSpPr>
        <p:spPr>
          <a:xfrm>
            <a:off x="8866022" y="3461918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8" name="Text 64"/>
          <p:cNvSpPr/>
          <p:nvPr/>
        </p:nvSpPr>
        <p:spPr>
          <a:xfrm>
            <a:off x="8904427" y="350690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69" name="Shape 65"/>
          <p:cNvSpPr/>
          <p:nvPr/>
        </p:nvSpPr>
        <p:spPr>
          <a:xfrm>
            <a:off x="5354727" y="3703320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0" name="Text 66"/>
          <p:cNvSpPr/>
          <p:nvPr/>
        </p:nvSpPr>
        <p:spPr>
          <a:xfrm>
            <a:off x="5431536" y="378013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F47</a:t>
            </a:r>
            <a:endParaRPr lang="en-US" sz="816" dirty="0"/>
          </a:p>
        </p:txBody>
      </p:sp>
      <p:sp>
        <p:nvSpPr>
          <p:cNvPr id="71" name="Text 67"/>
          <p:cNvSpPr/>
          <p:nvPr/>
        </p:nvSpPr>
        <p:spPr>
          <a:xfrm>
            <a:off x="5859475" y="374172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público</a:t>
            </a:r>
            <a:endParaRPr lang="en-US" sz="786" dirty="0"/>
          </a:p>
        </p:txBody>
      </p:sp>
      <p:sp>
        <p:nvSpPr>
          <p:cNvPr id="72" name="Shape 68"/>
          <p:cNvSpPr/>
          <p:nvPr/>
        </p:nvSpPr>
        <p:spPr>
          <a:xfrm>
            <a:off x="8866022" y="3774643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3" name="Text 69"/>
          <p:cNvSpPr/>
          <p:nvPr/>
        </p:nvSpPr>
        <p:spPr>
          <a:xfrm>
            <a:off x="8904427" y="381963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4" name="Shape 70"/>
          <p:cNvSpPr/>
          <p:nvPr/>
        </p:nvSpPr>
        <p:spPr>
          <a:xfrm>
            <a:off x="5354727" y="401604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5" name="Text 71"/>
          <p:cNvSpPr/>
          <p:nvPr/>
        </p:nvSpPr>
        <p:spPr>
          <a:xfrm>
            <a:off x="5431536" y="409285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F48</a:t>
            </a:r>
            <a:endParaRPr lang="en-US" sz="816" dirty="0"/>
          </a:p>
        </p:txBody>
      </p:sp>
      <p:sp>
        <p:nvSpPr>
          <p:cNvPr id="76" name="Text 72"/>
          <p:cNvSpPr/>
          <p:nvPr/>
        </p:nvSpPr>
        <p:spPr>
          <a:xfrm>
            <a:off x="5859475" y="405445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Accidentes y seguridad vial</a:t>
            </a:r>
            <a:endParaRPr lang="en-US" sz="786" dirty="0"/>
          </a:p>
        </p:txBody>
      </p:sp>
      <p:sp>
        <p:nvSpPr>
          <p:cNvPr id="77" name="Shape 73"/>
          <p:cNvSpPr/>
          <p:nvPr/>
        </p:nvSpPr>
        <p:spPr>
          <a:xfrm>
            <a:off x="8866022" y="4087368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8" name="Text 74"/>
          <p:cNvSpPr/>
          <p:nvPr/>
        </p:nvSpPr>
        <p:spPr>
          <a:xfrm>
            <a:off x="8904427" y="413235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9" name="Shape 75"/>
          <p:cNvSpPr/>
          <p:nvPr/>
        </p:nvSpPr>
        <p:spPr>
          <a:xfrm>
            <a:off x="9601200" y="2084832"/>
            <a:ext cx="4114800" cy="2359152"/>
          </a:xfrm>
          <a:prstGeom prst="roundRect">
            <a:avLst>
              <a:gd name="adj" fmla="val 2558"/>
            </a:avLst>
          </a:prstGeom>
          <a:solidFill>
            <a:srgbClr val="EEF2F7"/>
          </a:solidFill>
          <a:ln w="12700">
            <a:solidFill>
              <a:srgbClr val="0C254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0" name="Shape 76"/>
          <p:cNvSpPr/>
          <p:nvPr/>
        </p:nvSpPr>
        <p:spPr>
          <a:xfrm>
            <a:off x="9678010" y="2161642"/>
            <a:ext cx="3961181" cy="482803"/>
          </a:xfrm>
          <a:prstGeom prst="roundRect">
            <a:avLst>
              <a:gd name="adj" fmla="val 9091"/>
            </a:avLst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1" name="Text 77"/>
          <p:cNvSpPr/>
          <p:nvPr/>
        </p:nvSpPr>
        <p:spPr>
          <a:xfrm>
            <a:off x="9820656" y="2282343"/>
            <a:ext cx="268833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Finanzas públicas y gestión de recursos</a:t>
            </a:r>
            <a:endParaRPr lang="en-US" sz="876" dirty="0"/>
          </a:p>
        </p:txBody>
      </p:sp>
      <p:sp>
        <p:nvSpPr>
          <p:cNvPr id="82" name="Text 78"/>
          <p:cNvSpPr/>
          <p:nvPr/>
        </p:nvSpPr>
        <p:spPr>
          <a:xfrm>
            <a:off x="12706502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80" dirty="0"/>
          </a:p>
        </p:txBody>
      </p:sp>
      <p:sp>
        <p:nvSpPr>
          <p:cNvPr id="83" name="Text 79"/>
          <p:cNvSpPr/>
          <p:nvPr/>
        </p:nvSpPr>
        <p:spPr>
          <a:xfrm>
            <a:off x="13035686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84" name="Shape 80"/>
          <p:cNvSpPr/>
          <p:nvPr/>
        </p:nvSpPr>
        <p:spPr>
          <a:xfrm>
            <a:off x="9743847" y="2765146"/>
            <a:ext cx="3829507" cy="4389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5" name="Text 81"/>
          <p:cNvSpPr/>
          <p:nvPr/>
        </p:nvSpPr>
        <p:spPr>
          <a:xfrm>
            <a:off x="982065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F58</a:t>
            </a:r>
            <a:endParaRPr lang="en-US" sz="840" dirty="0"/>
          </a:p>
        </p:txBody>
      </p:sp>
      <p:sp>
        <p:nvSpPr>
          <p:cNvPr id="86" name="Text 82"/>
          <p:cNvSpPr/>
          <p:nvPr/>
        </p:nvSpPr>
        <p:spPr>
          <a:xfrm>
            <a:off x="10248595" y="2803550"/>
            <a:ext cx="2841955" cy="384048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1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 financiera e ingresos propios</a:t>
            </a:r>
            <a:endParaRPr lang="en-US" sz="816" dirty="0"/>
          </a:p>
        </p:txBody>
      </p:sp>
      <p:sp>
        <p:nvSpPr>
          <p:cNvPr id="87" name="Shape 83"/>
          <p:cNvSpPr/>
          <p:nvPr/>
        </p:nvSpPr>
        <p:spPr>
          <a:xfrm>
            <a:off x="13200278" y="2836469"/>
            <a:ext cx="219456" cy="219456"/>
          </a:xfrm>
          <a:prstGeom prst="ellipse">
            <a:avLst/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8" name="Text 84"/>
          <p:cNvSpPr/>
          <p:nvPr/>
        </p:nvSpPr>
        <p:spPr>
          <a:xfrm>
            <a:off x="13238683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89" name="Shape 85"/>
          <p:cNvSpPr/>
          <p:nvPr/>
        </p:nvSpPr>
        <p:spPr>
          <a:xfrm>
            <a:off x="9743847" y="3253435"/>
            <a:ext cx="3829507" cy="4389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0" name="Text 86"/>
          <p:cNvSpPr/>
          <p:nvPr/>
        </p:nvSpPr>
        <p:spPr>
          <a:xfrm>
            <a:off x="9820656" y="333024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F59</a:t>
            </a:r>
            <a:endParaRPr lang="en-US" sz="840" dirty="0"/>
          </a:p>
        </p:txBody>
      </p:sp>
      <p:sp>
        <p:nvSpPr>
          <p:cNvPr id="91" name="Text 87"/>
          <p:cNvSpPr/>
          <p:nvPr/>
        </p:nvSpPr>
        <p:spPr>
          <a:xfrm>
            <a:off x="10248595" y="3291840"/>
            <a:ext cx="2841955" cy="384048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1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presupuestaria y sostenibilidad financiera</a:t>
            </a:r>
            <a:endParaRPr lang="en-US" sz="816" dirty="0"/>
          </a:p>
        </p:txBody>
      </p:sp>
      <p:sp>
        <p:nvSpPr>
          <p:cNvPr id="92" name="Shape 88"/>
          <p:cNvSpPr/>
          <p:nvPr/>
        </p:nvSpPr>
        <p:spPr>
          <a:xfrm>
            <a:off x="13200278" y="3324758"/>
            <a:ext cx="219456" cy="219456"/>
          </a:xfrm>
          <a:prstGeom prst="ellipse">
            <a:avLst/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3" name="Text 89"/>
          <p:cNvSpPr/>
          <p:nvPr/>
        </p:nvSpPr>
        <p:spPr>
          <a:xfrm>
            <a:off x="13238683" y="336974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4" name="Shape 90"/>
          <p:cNvSpPr/>
          <p:nvPr/>
        </p:nvSpPr>
        <p:spPr>
          <a:xfrm>
            <a:off x="9743847" y="3741725"/>
            <a:ext cx="3829507" cy="4389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5" name="Text 91"/>
          <p:cNvSpPr/>
          <p:nvPr/>
        </p:nvSpPr>
        <p:spPr>
          <a:xfrm>
            <a:off x="9820656" y="381853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F60</a:t>
            </a:r>
            <a:endParaRPr lang="en-US" sz="840" dirty="0"/>
          </a:p>
        </p:txBody>
      </p:sp>
      <p:sp>
        <p:nvSpPr>
          <p:cNvPr id="96" name="Text 92"/>
          <p:cNvSpPr/>
          <p:nvPr/>
        </p:nvSpPr>
        <p:spPr>
          <a:xfrm>
            <a:off x="10248595" y="3780130"/>
            <a:ext cx="2841955" cy="384048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1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 municipal</a:t>
            </a:r>
            <a:endParaRPr lang="en-US" sz="816" dirty="0"/>
          </a:p>
        </p:txBody>
      </p:sp>
      <p:sp>
        <p:nvSpPr>
          <p:cNvPr id="97" name="Shape 93"/>
          <p:cNvSpPr/>
          <p:nvPr/>
        </p:nvSpPr>
        <p:spPr>
          <a:xfrm>
            <a:off x="13200278" y="3813048"/>
            <a:ext cx="219456" cy="219456"/>
          </a:xfrm>
          <a:prstGeom prst="ellipse">
            <a:avLst/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8" name="Text 94"/>
          <p:cNvSpPr/>
          <p:nvPr/>
        </p:nvSpPr>
        <p:spPr>
          <a:xfrm>
            <a:off x="13238683" y="385803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9" name="Shape 95"/>
          <p:cNvSpPr/>
          <p:nvPr/>
        </p:nvSpPr>
        <p:spPr>
          <a:xfrm>
            <a:off x="822960" y="4696359"/>
            <a:ext cx="12893040" cy="2282342"/>
          </a:xfrm>
          <a:prstGeom prst="roundRect">
            <a:avLst>
              <a:gd name="adj" fmla="val 2644"/>
            </a:avLst>
          </a:prstGeom>
          <a:solidFill>
            <a:srgbClr val="F8EEF2"/>
          </a:solidFill>
          <a:ln w="12700">
            <a:solidFill>
              <a:srgbClr val="65112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0" name="Shape 96"/>
          <p:cNvSpPr/>
          <p:nvPr/>
        </p:nvSpPr>
        <p:spPr>
          <a:xfrm>
            <a:off x="899770" y="4773168"/>
            <a:ext cx="12739421" cy="482803"/>
          </a:xfrm>
          <a:prstGeom prst="roundRect">
            <a:avLst>
              <a:gd name="adj" fmla="val 9091"/>
            </a:avLst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1" name="Text 97"/>
          <p:cNvSpPr/>
          <p:nvPr/>
        </p:nvSpPr>
        <p:spPr>
          <a:xfrm>
            <a:off x="1042416" y="4893869"/>
            <a:ext cx="11466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Gobierno y gestión institucional</a:t>
            </a:r>
            <a:endParaRPr lang="en-US" sz="1008" dirty="0"/>
          </a:p>
        </p:txBody>
      </p:sp>
      <p:sp>
        <p:nvSpPr>
          <p:cNvPr id="102" name="Text 98"/>
          <p:cNvSpPr/>
          <p:nvPr/>
        </p:nvSpPr>
        <p:spPr>
          <a:xfrm>
            <a:off x="12706502" y="4839005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80" dirty="0"/>
          </a:p>
        </p:txBody>
      </p:sp>
      <p:sp>
        <p:nvSpPr>
          <p:cNvPr id="103" name="Text 99"/>
          <p:cNvSpPr/>
          <p:nvPr/>
        </p:nvSpPr>
        <p:spPr>
          <a:xfrm>
            <a:off x="13035686" y="4904842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104" name="Shape 100"/>
          <p:cNvSpPr/>
          <p:nvPr/>
        </p:nvSpPr>
        <p:spPr>
          <a:xfrm>
            <a:off x="965607" y="537667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5" name="Text 101"/>
          <p:cNvSpPr/>
          <p:nvPr/>
        </p:nvSpPr>
        <p:spPr>
          <a:xfrm>
            <a:off x="1042416" y="545348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F50</a:t>
            </a:r>
            <a:endParaRPr lang="en-US" sz="828" dirty="0"/>
          </a:p>
        </p:txBody>
      </p:sp>
      <p:sp>
        <p:nvSpPr>
          <p:cNvPr id="106" name="Text 102"/>
          <p:cNvSpPr/>
          <p:nvPr/>
        </p:nvSpPr>
        <p:spPr>
          <a:xfrm>
            <a:off x="1470355" y="5415077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Planeación, evaluación y gestión para resultados</a:t>
            </a:r>
            <a:endParaRPr lang="en-US" sz="786" dirty="0"/>
          </a:p>
        </p:txBody>
      </p:sp>
      <p:sp>
        <p:nvSpPr>
          <p:cNvPr id="107" name="Shape 103"/>
          <p:cNvSpPr/>
          <p:nvPr/>
        </p:nvSpPr>
        <p:spPr>
          <a:xfrm>
            <a:off x="6825082" y="5447995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8" name="Text 104"/>
          <p:cNvSpPr/>
          <p:nvPr/>
        </p:nvSpPr>
        <p:spPr>
          <a:xfrm>
            <a:off x="6863487" y="549298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09" name="Shape 105"/>
          <p:cNvSpPr/>
          <p:nvPr/>
        </p:nvSpPr>
        <p:spPr>
          <a:xfrm>
            <a:off x="965607" y="5748376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0" name="Text 106"/>
          <p:cNvSpPr/>
          <p:nvPr/>
        </p:nvSpPr>
        <p:spPr>
          <a:xfrm>
            <a:off x="1042416" y="582518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F51</a:t>
            </a:r>
            <a:endParaRPr lang="en-US" sz="828" dirty="0"/>
          </a:p>
        </p:txBody>
      </p:sp>
      <p:sp>
        <p:nvSpPr>
          <p:cNvPr id="111" name="Text 107"/>
          <p:cNvSpPr/>
          <p:nvPr/>
        </p:nvSpPr>
        <p:spPr>
          <a:xfrm>
            <a:off x="1470355" y="5786781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institucional y eficiencia administrativa</a:t>
            </a:r>
            <a:endParaRPr lang="en-US" sz="786" dirty="0"/>
          </a:p>
        </p:txBody>
      </p:sp>
      <p:sp>
        <p:nvSpPr>
          <p:cNvPr id="112" name="Shape 108"/>
          <p:cNvSpPr/>
          <p:nvPr/>
        </p:nvSpPr>
        <p:spPr>
          <a:xfrm>
            <a:off x="6825082" y="5819699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3" name="Text 109"/>
          <p:cNvSpPr/>
          <p:nvPr/>
        </p:nvSpPr>
        <p:spPr>
          <a:xfrm>
            <a:off x="6863487" y="586468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14" name="Shape 110"/>
          <p:cNvSpPr/>
          <p:nvPr/>
        </p:nvSpPr>
        <p:spPr>
          <a:xfrm>
            <a:off x="965607" y="6120080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5" name="Text 111"/>
          <p:cNvSpPr/>
          <p:nvPr/>
        </p:nvSpPr>
        <p:spPr>
          <a:xfrm>
            <a:off x="1042416" y="619688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F52</a:t>
            </a:r>
            <a:endParaRPr lang="en-US" sz="828" dirty="0"/>
          </a:p>
        </p:txBody>
      </p:sp>
      <p:sp>
        <p:nvSpPr>
          <p:cNvPr id="116" name="Text 112"/>
          <p:cNvSpPr/>
          <p:nvPr/>
        </p:nvSpPr>
        <p:spPr>
          <a:xfrm>
            <a:off x="1470355" y="6158485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digital y trámites electrónicos</a:t>
            </a:r>
            <a:endParaRPr lang="en-US" sz="786" dirty="0"/>
          </a:p>
        </p:txBody>
      </p:sp>
      <p:sp>
        <p:nvSpPr>
          <p:cNvPr id="117" name="Shape 113"/>
          <p:cNvSpPr/>
          <p:nvPr/>
        </p:nvSpPr>
        <p:spPr>
          <a:xfrm>
            <a:off x="6825082" y="6191402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8" name="Text 114"/>
          <p:cNvSpPr/>
          <p:nvPr/>
        </p:nvSpPr>
        <p:spPr>
          <a:xfrm>
            <a:off x="6863487" y="623639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19" name="Shape 115"/>
          <p:cNvSpPr/>
          <p:nvPr/>
        </p:nvSpPr>
        <p:spPr>
          <a:xfrm>
            <a:off x="965607" y="649178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0" name="Text 116"/>
          <p:cNvSpPr/>
          <p:nvPr/>
        </p:nvSpPr>
        <p:spPr>
          <a:xfrm>
            <a:off x="1042416" y="656859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F53</a:t>
            </a:r>
            <a:endParaRPr lang="en-US" sz="828" dirty="0"/>
          </a:p>
        </p:txBody>
      </p:sp>
      <p:sp>
        <p:nvSpPr>
          <p:cNvPr id="121" name="Text 117"/>
          <p:cNvSpPr/>
          <p:nvPr/>
        </p:nvSpPr>
        <p:spPr>
          <a:xfrm>
            <a:off x="1470355" y="6530188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ciudadana y presupuesto participativo</a:t>
            </a:r>
            <a:endParaRPr lang="en-US" sz="786" dirty="0"/>
          </a:p>
        </p:txBody>
      </p:sp>
      <p:sp>
        <p:nvSpPr>
          <p:cNvPr id="122" name="Shape 118"/>
          <p:cNvSpPr/>
          <p:nvPr/>
        </p:nvSpPr>
        <p:spPr>
          <a:xfrm>
            <a:off x="6825082" y="6563106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3" name="Text 119"/>
          <p:cNvSpPr/>
          <p:nvPr/>
        </p:nvSpPr>
        <p:spPr>
          <a:xfrm>
            <a:off x="6863487" y="660809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24" name="Shape 120"/>
          <p:cNvSpPr/>
          <p:nvPr/>
        </p:nvSpPr>
        <p:spPr>
          <a:xfrm>
            <a:off x="7340803" y="537667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5" name="Text 121"/>
          <p:cNvSpPr/>
          <p:nvPr/>
        </p:nvSpPr>
        <p:spPr>
          <a:xfrm>
            <a:off x="7417613" y="545348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F54</a:t>
            </a:r>
            <a:endParaRPr lang="en-US" sz="828" dirty="0"/>
          </a:p>
        </p:txBody>
      </p:sp>
      <p:sp>
        <p:nvSpPr>
          <p:cNvPr id="126" name="Text 122"/>
          <p:cNvSpPr/>
          <p:nvPr/>
        </p:nvSpPr>
        <p:spPr>
          <a:xfrm>
            <a:off x="7845552" y="5415077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control interno</a:t>
            </a:r>
            <a:endParaRPr lang="en-US" sz="786" dirty="0"/>
          </a:p>
        </p:txBody>
      </p:sp>
      <p:sp>
        <p:nvSpPr>
          <p:cNvPr id="127" name="Shape 123"/>
          <p:cNvSpPr/>
          <p:nvPr/>
        </p:nvSpPr>
        <p:spPr>
          <a:xfrm>
            <a:off x="13200278" y="5447995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8" name="Text 124"/>
          <p:cNvSpPr/>
          <p:nvPr/>
        </p:nvSpPr>
        <p:spPr>
          <a:xfrm>
            <a:off x="13238683" y="549298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29" name="Shape 125"/>
          <p:cNvSpPr/>
          <p:nvPr/>
        </p:nvSpPr>
        <p:spPr>
          <a:xfrm>
            <a:off x="7340803" y="5748376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0" name="Text 126"/>
          <p:cNvSpPr/>
          <p:nvPr/>
        </p:nvSpPr>
        <p:spPr>
          <a:xfrm>
            <a:off x="7417613" y="582518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F55</a:t>
            </a:r>
            <a:endParaRPr lang="en-US" sz="828" dirty="0"/>
          </a:p>
        </p:txBody>
      </p:sp>
      <p:sp>
        <p:nvSpPr>
          <p:cNvPr id="131" name="Text 127"/>
          <p:cNvSpPr/>
          <p:nvPr/>
        </p:nvSpPr>
        <p:spPr>
          <a:xfrm>
            <a:off x="7845552" y="5786781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y acceso a la información</a:t>
            </a:r>
            <a:endParaRPr lang="en-US" sz="786" dirty="0"/>
          </a:p>
        </p:txBody>
      </p:sp>
      <p:sp>
        <p:nvSpPr>
          <p:cNvPr id="132" name="Shape 128"/>
          <p:cNvSpPr/>
          <p:nvPr/>
        </p:nvSpPr>
        <p:spPr>
          <a:xfrm>
            <a:off x="13200278" y="5819699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3" name="Text 129"/>
          <p:cNvSpPr/>
          <p:nvPr/>
        </p:nvSpPr>
        <p:spPr>
          <a:xfrm>
            <a:off x="13238683" y="586468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34" name="Shape 130"/>
          <p:cNvSpPr/>
          <p:nvPr/>
        </p:nvSpPr>
        <p:spPr>
          <a:xfrm>
            <a:off x="7340803" y="6120080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5" name="Text 131"/>
          <p:cNvSpPr/>
          <p:nvPr/>
        </p:nvSpPr>
        <p:spPr>
          <a:xfrm>
            <a:off x="7417613" y="619688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F56</a:t>
            </a:r>
            <a:endParaRPr lang="en-US" sz="828" dirty="0"/>
          </a:p>
        </p:txBody>
      </p:sp>
      <p:sp>
        <p:nvSpPr>
          <p:cNvPr id="136" name="Text 132"/>
          <p:cNvSpPr/>
          <p:nvPr/>
        </p:nvSpPr>
        <p:spPr>
          <a:xfrm>
            <a:off x="7845552" y="6158485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registros, información y reportes municipales</a:t>
            </a:r>
            <a:endParaRPr lang="en-US" sz="786" dirty="0"/>
          </a:p>
        </p:txBody>
      </p:sp>
      <p:sp>
        <p:nvSpPr>
          <p:cNvPr id="137" name="Shape 133"/>
          <p:cNvSpPr/>
          <p:nvPr/>
        </p:nvSpPr>
        <p:spPr>
          <a:xfrm>
            <a:off x="13200278" y="6191402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8" name="Text 134"/>
          <p:cNvSpPr/>
          <p:nvPr/>
        </p:nvSpPr>
        <p:spPr>
          <a:xfrm>
            <a:off x="13238683" y="623639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8" dirty="0"/>
          </a:p>
        </p:txBody>
      </p:sp>
      <p:sp>
        <p:nvSpPr>
          <p:cNvPr id="139" name="Shape 135"/>
          <p:cNvSpPr/>
          <p:nvPr/>
        </p:nvSpPr>
        <p:spPr>
          <a:xfrm>
            <a:off x="7340803" y="649178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0" name="Text 136"/>
          <p:cNvSpPr/>
          <p:nvPr/>
        </p:nvSpPr>
        <p:spPr>
          <a:xfrm>
            <a:off x="7417613" y="656859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F57</a:t>
            </a:r>
            <a:endParaRPr lang="en-US" sz="828" dirty="0"/>
          </a:p>
        </p:txBody>
      </p:sp>
      <p:sp>
        <p:nvSpPr>
          <p:cNvPr id="141" name="Text 137"/>
          <p:cNvSpPr/>
          <p:nvPr/>
        </p:nvSpPr>
        <p:spPr>
          <a:xfrm>
            <a:off x="7845552" y="6530188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de trámites y atención municipal</a:t>
            </a:r>
            <a:endParaRPr lang="en-US" sz="786" dirty="0"/>
          </a:p>
        </p:txBody>
      </p:sp>
      <p:sp>
        <p:nvSpPr>
          <p:cNvPr id="142" name="Shape 138"/>
          <p:cNvSpPr/>
          <p:nvPr/>
        </p:nvSpPr>
        <p:spPr>
          <a:xfrm>
            <a:off x="13200278" y="6563106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3" name="Text 139"/>
          <p:cNvSpPr/>
          <p:nvPr/>
        </p:nvSpPr>
        <p:spPr>
          <a:xfrm>
            <a:off x="13238683" y="660809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44" name="Shape 140"/>
          <p:cNvSpPr/>
          <p:nvPr/>
        </p:nvSpPr>
        <p:spPr>
          <a:xfrm>
            <a:off x="1042416" y="7242048"/>
            <a:ext cx="12563856" cy="373075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5" name="Text 141"/>
          <p:cNvSpPr/>
          <p:nvPr/>
        </p:nvSpPr>
        <p:spPr>
          <a:xfrm>
            <a:off x="1261872" y="7351776"/>
            <a:ext cx="1212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88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general: 129 indicadores organizados en 54 familias y 8 agrupaciones temáticas.</a:t>
            </a:r>
            <a:endParaRPr lang="en-US" sz="8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METODOLÓGICO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que sostienen el universo maestro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es un sistema acotado, trazable y útil para la toma de decisiones municipales.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1188720" y="237744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Utilidad para decidir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349240" y="237744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Pertinencia municipal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509760" y="237744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Factibilidad de medición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88720" y="356616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de origen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49240" y="356616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3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duplicidad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509760" y="356616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6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Equilibrio Contexto / Actuación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5166360"/>
            <a:ext cx="2103120" cy="457200"/>
          </a:xfrm>
          <a:prstGeom prst="roundRect">
            <a:avLst/>
          </a:prstGeom>
          <a:solidFill>
            <a:srgbClr val="8B0E33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886200" y="5074920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universo maestro que no pretende medirlo todo, sino concentrar la información estratégica, periódicamente actualizable y vinculada con decisiones municipales.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246120" y="6419088"/>
            <a:ext cx="8138160" cy="64008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etapa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Fichas técnicas, responsables, fuentes, fórmulas y reglas de actualización.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9398-77FC-63C0-9209-D0B281BE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4139233E-2B43-E6FD-DF5C-91D431BC8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052B22A1-6662-642E-E37A-F18B5C04B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A3EB3115-89E4-3802-E154-CCCEA1591FD3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F906945-0585-DA19-DC72-162547948715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C0F07FD-87EC-9762-D196-F9C6C43486CB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  <p:pic>
        <p:nvPicPr>
          <p:cNvPr id="19" name="Imagen 18" descr="Vista previa de imagen">
            <a:extLst>
              <a:ext uri="{FF2B5EF4-FFF2-40B4-BE49-F238E27FC236}">
                <a16:creationId xmlns:a16="http://schemas.microsoft.com/office/drawing/2014/main" id="{9248FBBF-A55D-4446-2FE8-6844144BF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232" y="-53340"/>
            <a:ext cx="5530152" cy="829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1" descr="/mnt/data/extracted_docs/model/word/media/image7.png">
            <a:extLst>
              <a:ext uri="{FF2B5EF4-FFF2-40B4-BE49-F238E27FC236}">
                <a16:creationId xmlns:a16="http://schemas.microsoft.com/office/drawing/2014/main" id="{A2EDFA2D-BA9F-2C5B-0CC4-DB2B1F491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7" y="2504666"/>
            <a:ext cx="6372321" cy="400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37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435B-352A-C601-CE3C-012AE05E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7631EE27-1CB7-727B-69F4-6C4AB050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70860E24-EB1A-2CEA-C608-DC6EA5674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6D219C44-7114-2A43-E77F-4179DAC8E8C6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9EA02B0-2A41-33F5-E446-FE88A4158F98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78678BD-8C9C-0C22-8259-FE5E75EB86E2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318A0E-124D-D7CC-B148-A4CF92E067BC}"/>
              </a:ext>
            </a:extLst>
          </p:cNvPr>
          <p:cNvSpPr txBox="1"/>
          <p:nvPr/>
        </p:nvSpPr>
        <p:spPr>
          <a:xfrm>
            <a:off x="2196548" y="3866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34AE39-2D7E-40C5-B21F-30920F1ED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598" y="549529"/>
            <a:ext cx="10402794" cy="746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AA3E-C8F2-0686-44EE-8FBA3C17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475E500E-7E36-497D-39C2-90418487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4F3AD360-955B-7183-9BE2-EC98DDEB6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0DA969DD-AB23-07B6-2664-725C12CA0E7F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66EDBD0D-753E-7834-40B2-9B877D05E096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2596207-718C-8D4D-3BBD-00D96D1B9B08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4287C5-B857-7286-CA34-E45FD1E99DD4}"/>
              </a:ext>
            </a:extLst>
          </p:cNvPr>
          <p:cNvSpPr txBox="1"/>
          <p:nvPr/>
        </p:nvSpPr>
        <p:spPr>
          <a:xfrm>
            <a:off x="2196548" y="3866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F821FCF-08FD-3CB8-9DCA-7AF6EEF1F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598" y="549529"/>
            <a:ext cx="10402794" cy="746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7786-8892-2149-E0CB-1B5A24AA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DAFFEEF6-DD25-E4A3-47DC-00BBD1CDB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D97A13DF-763C-0499-CF76-EA0E19E99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234001CE-9B38-6B2E-7277-8DBECD38EE8D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EF9F988A-0005-58E9-5789-F5FA6D658E8C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C874983-932F-5FC5-7060-6FADA1815F0A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F485F2-5FD7-C4AF-49EE-2467F12B8B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46"/>
          <a:stretch>
            <a:fillRect/>
          </a:stretch>
        </p:blipFill>
        <p:spPr>
          <a:xfrm>
            <a:off x="608946" y="11447"/>
            <a:ext cx="12689611" cy="809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7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3272-A124-5613-8A58-789A0A85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7312AD7C-A915-F1C4-9333-F28734C27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F35E620D-9DE2-A63A-09DE-8B93BE73B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C3FC0426-08B4-56ED-A8E3-83D5708DAA50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0B1EB11-4554-26C2-7A82-A10BECA535E0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967C0C0-3098-4024-F604-F84A4C142479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F361DA-338F-B5D8-4656-06B2CE1E8E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76" y="1328584"/>
            <a:ext cx="11503698" cy="60164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461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107A-F1FD-9552-6998-5248981BA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A147C156-B233-2453-AE01-C54BDFBFF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1A57A22B-3DF5-D606-962D-5AA77BCEA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DC15B31-6CA8-3278-9599-A40C5D684F12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174A4A5-AE68-A2E0-4316-88440928780F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DA613A9-1607-033A-F471-851EEAD35C66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921D32-47BB-DB42-0C9C-9489FFA010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239" y="427393"/>
            <a:ext cx="10990072" cy="73267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6019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B0F2-BFF8-D46C-6574-74BC8C2B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D68E41A5-FE85-B5D1-7F5D-FBD1CF8DD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E807CC8D-2974-D414-05B9-2C495FB7D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C51E3950-769E-D11F-609C-878627F0D63A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96DAC79-D1A7-6D83-CAD7-8F477A50BFC3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8F3C308-913E-54CE-2937-B0474E869076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50EA5A-0EDA-16C6-BEFC-9064D62A761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0"/>
          <a:stretch>
            <a:fillRect/>
          </a:stretch>
        </p:blipFill>
        <p:spPr bwMode="auto">
          <a:xfrm>
            <a:off x="2445996" y="1733228"/>
            <a:ext cx="8278326" cy="57831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6750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A84A-9FB8-5634-E3FB-44A6A288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73CB3357-C3F9-338A-1C2B-B6246FF4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5F37AA35-6815-D5EE-1119-02FA6E1C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6B721F0D-C149-4D4D-0FF9-FAE28BEB7E42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212C9C2-65F1-DA6F-9344-CF3CED20D7D4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694E409-4657-1E98-A0CD-34AEA65F4B88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4888F3-02D2-1F7E-0F83-B91B789DB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233" y="439128"/>
            <a:ext cx="9248151" cy="6935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07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48214-A274-DA95-1BA0-E5F44C7FE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941ADD65-8655-D5D2-25CB-D228BA482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>
            <a:extLst>
              <a:ext uri="{FF2B5EF4-FFF2-40B4-BE49-F238E27FC236}">
                <a16:creationId xmlns:a16="http://schemas.microsoft.com/office/drawing/2014/main" id="{75EAE0DB-A129-4500-1A92-74AE34FE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0F4DB3FC-C1DA-A780-632E-DE3FF26E8270}"/>
              </a:ext>
            </a:extLst>
          </p:cNvPr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ECE467A0-BEE9-546F-918E-D90294D5175F}"/>
              </a:ext>
            </a:extLst>
          </p:cNvPr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8775217-6053-27D3-FA96-DB490CDDA799}"/>
              </a:ext>
            </a:extLst>
          </p:cNvPr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</a:t>
            </a:r>
            <a:endParaRPr lang="en-US" sz="8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968937-47CE-2C85-3F9C-4C264A4879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3"/>
          <a:stretch>
            <a:fillRect/>
          </a:stretch>
        </p:blipFill>
        <p:spPr bwMode="auto">
          <a:xfrm>
            <a:off x="2009199" y="55990"/>
            <a:ext cx="11637227" cy="74603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9713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1543</Words>
  <Application>Microsoft Office PowerPoint</Application>
  <PresentationFormat>Personalizado</PresentationFormat>
  <Paragraphs>409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IMPLAN Salamanca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Consolidación del universo maestro de indicadores</dc:title>
  <dc:subject>SIIP Salamanca - metodología de consolidación del universo maestro</dc:subject>
  <dc:creator>OpenAI</dc:creator>
  <cp:lastModifiedBy>Eduardo Flores Palacios</cp:lastModifiedBy>
  <cp:revision>5</cp:revision>
  <dcterms:created xsi:type="dcterms:W3CDTF">2026-08-11T02:35:33Z</dcterms:created>
  <dcterms:modified xsi:type="dcterms:W3CDTF">2026-10-06T22:08:27Z</dcterms:modified>
</cp:coreProperties>
</file>