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Flores Palacios" userId="b19f6ad770826bc0" providerId="LiveId" clId="{7C01EECD-2A10-401B-8591-6E34CD5C7A73}"/>
    <pc:docChg chg="custSel modSld">
      <pc:chgData name="Eduardo Flores Palacios" userId="b19f6ad770826bc0" providerId="LiveId" clId="{7C01EECD-2A10-401B-8591-6E34CD5C7A73}" dt="2026-07-29T13:50:09.145" v="7" actId="27636"/>
      <pc:docMkLst>
        <pc:docMk/>
      </pc:docMkLst>
      <pc:sldChg chg="modSp mod">
        <pc:chgData name="Eduardo Flores Palacios" userId="b19f6ad770826bc0" providerId="LiveId" clId="{7C01EECD-2A10-401B-8591-6E34CD5C7A73}" dt="2026-07-29T13:50:09.145" v="7" actId="27636"/>
        <pc:sldMkLst>
          <pc:docMk/>
          <pc:sldMk cId="0" sldId="259"/>
        </pc:sldMkLst>
        <pc:spChg chg="mod">
          <ac:chgData name="Eduardo Flores Palacios" userId="b19f6ad770826bc0" providerId="LiveId" clId="{7C01EECD-2A10-401B-8591-6E34CD5C7A73}" dt="2026-07-29T13:50:09.131" v="5" actId="403"/>
          <ac:spMkLst>
            <pc:docMk/>
            <pc:sldMk cId="0" sldId="259"/>
            <ac:spMk id="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7-29T13:50:09.131" v="5" actId="403"/>
          <ac:spMkLst>
            <pc:docMk/>
            <pc:sldMk cId="0" sldId="259"/>
            <ac:spMk id="9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7-29T13:50:09.131" v="5" actId="40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7-29T13:50:09.131" v="5" actId="403"/>
          <ac:spMkLst>
            <pc:docMk/>
            <pc:sldMk cId="0" sldId="259"/>
            <ac:spMk id="12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7-29T13:50:09.145" v="7" actId="2763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7-29T13:50:09.131" v="5" actId="403"/>
          <ac:spMkLst>
            <pc:docMk/>
            <pc:sldMk cId="0" sldId="259"/>
            <ac:spMk id="14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7-29T13:50:09.131" v="5" actId="403"/>
          <ac:spMkLst>
            <pc:docMk/>
            <pc:sldMk cId="0" sldId="259"/>
            <ac:spMk id="1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7-29T13:50:09.131" v="5" actId="403"/>
          <ac:spMkLst>
            <pc:docMk/>
            <pc:sldMk cId="0" sldId="259"/>
            <ac:spMk id="17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7-29T13:50:09.131" v="5" actId="403"/>
          <ac:spMkLst>
            <pc:docMk/>
            <pc:sldMk cId="0" sldId="259"/>
            <ac:spMk id="19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7-29T13:50:09.131" v="5" actId="403"/>
          <ac:spMkLst>
            <pc:docMk/>
            <pc:sldMk cId="0" sldId="259"/>
            <ac:spMk id="24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7-29T13:50:09.139" v="6" actId="27636"/>
          <ac:spMkLst>
            <pc:docMk/>
            <pc:sldMk cId="0" sldId="259"/>
            <ac:spMk id="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9848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8229600"/>
          </a:xfrm>
          <a:prstGeom prst="rect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237744" y="0"/>
            <a:ext cx="36576" cy="8229600"/>
          </a:xfrm>
          <a:prstGeom prst="rect">
            <a:avLst/>
          </a:prstGeom>
          <a:solidFill>
            <a:srgbClr val="B08A47"/>
          </a:solidFill>
          <a:ln w="12700">
            <a:solidFill>
              <a:srgbClr val="B08A4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89389"/>
            <a:ext cx="1078992" cy="9255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6384" y="19019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de avances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86384" y="2304288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Integrado de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Indicadores de Planeación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86384" y="354787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 correspondiente a los entregables 1 y 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" y="3858768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| Instituto Municipal de Planeación</a:t>
            </a:r>
            <a:endParaRPr lang="en-US" sz="860" dirty="0"/>
          </a:p>
        </p:txBody>
      </p:sp>
      <p:pic>
        <p:nvPicPr>
          <p:cNvPr id="9" name="Image 1" descr="/mnt/data/extracted_docs/model/word/media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279507"/>
            <a:ext cx="5486400" cy="3448594"/>
          </a:xfrm>
          <a:prstGeom prst="rect">
            <a:avLst/>
          </a:prstGeom>
        </p:spPr>
      </p:pic>
      <p:pic>
        <p:nvPicPr>
          <p:cNvPr id="10" name="Image 2" descr="/mnt/data/extracted_docs/diag/word/media/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7249" y="6355080"/>
            <a:ext cx="1288582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179808" y="74249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Julio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GENERAL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 del avance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786384" y="1773936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presentación se limita a los dos primeros productos del proyecto; no aborda todavía filtros, depuración, selección final de indicadores, fichas técnicas, tableros ni arquitectura tecnológica.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60120" y="2615184"/>
            <a:ext cx="310896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417320" y="267004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de instrumentos de planeación</a:t>
            </a:r>
            <a:endParaRPr lang="en-US" sz="1230" dirty="0"/>
          </a:p>
        </p:txBody>
      </p:sp>
      <p:sp>
        <p:nvSpPr>
          <p:cNvPr id="10" name="Text 6"/>
          <p:cNvSpPr/>
          <p:nvPr/>
        </p:nvSpPr>
        <p:spPr>
          <a:xfrm>
            <a:off x="960120" y="3145536"/>
            <a:ext cx="310896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417320" y="320040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organización, estratificación y transversalidad</a:t>
            </a:r>
            <a:endParaRPr lang="en-US" sz="1230" dirty="0"/>
          </a:p>
        </p:txBody>
      </p:sp>
      <p:sp>
        <p:nvSpPr>
          <p:cNvPr id="12" name="Text 8"/>
          <p:cNvSpPr/>
          <p:nvPr/>
        </p:nvSpPr>
        <p:spPr>
          <a:xfrm>
            <a:off x="960120" y="3675888"/>
            <a:ext cx="310896" cy="31089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417320" y="373075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de indicadores y fichas técnicas</a:t>
            </a:r>
            <a:endParaRPr lang="en-US" sz="1230" dirty="0"/>
          </a:p>
        </p:txBody>
      </p:sp>
      <p:sp>
        <p:nvSpPr>
          <p:cNvPr id="14" name="Text 10"/>
          <p:cNvSpPr/>
          <p:nvPr/>
        </p:nvSpPr>
        <p:spPr>
          <a:xfrm>
            <a:off x="960120" y="4206240"/>
            <a:ext cx="310896" cy="310896"/>
          </a:xfrm>
          <a:prstGeom prst="ellipse">
            <a:avLst/>
          </a:prstGeom>
          <a:solidFill>
            <a:srgbClr val="A6B0B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417320" y="4261104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Instrumentos de seguimiento y control</a:t>
            </a:r>
            <a:endParaRPr lang="en-US" sz="1230" dirty="0"/>
          </a:p>
        </p:txBody>
      </p:sp>
      <p:sp>
        <p:nvSpPr>
          <p:cNvPr id="16" name="Text 12"/>
          <p:cNvSpPr/>
          <p:nvPr/>
        </p:nvSpPr>
        <p:spPr>
          <a:xfrm>
            <a:off x="960120" y="4736592"/>
            <a:ext cx="310896" cy="310896"/>
          </a:xfrm>
          <a:prstGeom prst="ellipse">
            <a:avLst/>
          </a:prstGeom>
          <a:solidFill>
            <a:srgbClr val="A6B0B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417320" y="4791456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del sistema de seguimiento</a:t>
            </a:r>
            <a:endParaRPr lang="en-US" sz="1230" dirty="0"/>
          </a:p>
        </p:txBody>
      </p:sp>
      <p:sp>
        <p:nvSpPr>
          <p:cNvPr id="18" name="Shape 14"/>
          <p:cNvSpPr/>
          <p:nvPr/>
        </p:nvSpPr>
        <p:spPr>
          <a:xfrm>
            <a:off x="7909560" y="2048256"/>
            <a:ext cx="2057400" cy="1097280"/>
          </a:xfrm>
          <a:prstGeom prst="roundRect">
            <a:avLst>
              <a:gd name="adj" fmla="val 3333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5"/>
          <p:cNvSpPr/>
          <p:nvPr/>
        </p:nvSpPr>
        <p:spPr>
          <a:xfrm>
            <a:off x="8001000" y="223113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900" dirty="0"/>
          </a:p>
        </p:txBody>
      </p:sp>
      <p:sp>
        <p:nvSpPr>
          <p:cNvPr id="20" name="Text 16"/>
          <p:cNvSpPr/>
          <p:nvPr/>
        </p:nvSpPr>
        <p:spPr>
          <a:xfrm>
            <a:off x="8092440" y="2688336"/>
            <a:ext cx="16916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 con avance sustantivo</a:t>
            </a:r>
            <a:endParaRPr lang="en-US" sz="920" dirty="0"/>
          </a:p>
        </p:txBody>
      </p:sp>
      <p:sp>
        <p:nvSpPr>
          <p:cNvPr id="21" name="Shape 17"/>
          <p:cNvSpPr/>
          <p:nvPr/>
        </p:nvSpPr>
        <p:spPr>
          <a:xfrm>
            <a:off x="10332720" y="2048256"/>
            <a:ext cx="2423160" cy="1097280"/>
          </a:xfrm>
          <a:prstGeom prst="roundRect">
            <a:avLst>
              <a:gd name="adj" fmla="val 3333"/>
            </a:avLst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10424160" y="223113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412</a:t>
            </a:r>
            <a:endParaRPr lang="en-US" sz="2900" dirty="0"/>
          </a:p>
        </p:txBody>
      </p:sp>
      <p:sp>
        <p:nvSpPr>
          <p:cNvPr id="23" name="Text 19"/>
          <p:cNvSpPr/>
          <p:nvPr/>
        </p:nvSpPr>
        <p:spPr>
          <a:xfrm>
            <a:off x="10515600" y="2688336"/>
            <a:ext cx="20574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integrados en la base de trabajo</a:t>
            </a:r>
            <a:endParaRPr lang="en-US" sz="920" dirty="0"/>
          </a:p>
        </p:txBody>
      </p:sp>
      <p:sp>
        <p:nvSpPr>
          <p:cNvPr id="24" name="Shape 20"/>
          <p:cNvSpPr/>
          <p:nvPr/>
        </p:nvSpPr>
        <p:spPr>
          <a:xfrm>
            <a:off x="7909560" y="3584448"/>
            <a:ext cx="2057400" cy="1097280"/>
          </a:xfrm>
          <a:prstGeom prst="roundRect">
            <a:avLst>
              <a:gd name="adj" fmla="val 3333"/>
            </a:avLst>
          </a:prstGeom>
          <a:solidFill>
            <a:srgbClr val="B08A47"/>
          </a:solidFill>
          <a:ln w="12700">
            <a:solidFill>
              <a:srgbClr val="B08A4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1"/>
          <p:cNvSpPr/>
          <p:nvPr/>
        </p:nvSpPr>
        <p:spPr>
          <a:xfrm>
            <a:off x="8001000" y="37673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2900" dirty="0"/>
          </a:p>
        </p:txBody>
      </p:sp>
      <p:sp>
        <p:nvSpPr>
          <p:cNvPr id="26" name="Text 22"/>
          <p:cNvSpPr/>
          <p:nvPr/>
        </p:nvSpPr>
        <p:spPr>
          <a:xfrm>
            <a:off x="8092440" y="4224528"/>
            <a:ext cx="16916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agrupaciones temáticas</a:t>
            </a:r>
            <a:endParaRPr lang="en-US" sz="920" dirty="0"/>
          </a:p>
        </p:txBody>
      </p:sp>
      <p:sp>
        <p:nvSpPr>
          <p:cNvPr id="27" name="Shape 23"/>
          <p:cNvSpPr/>
          <p:nvPr/>
        </p:nvSpPr>
        <p:spPr>
          <a:xfrm>
            <a:off x="10332720" y="3584448"/>
            <a:ext cx="2423160" cy="1097280"/>
          </a:xfrm>
          <a:prstGeom prst="roundRect">
            <a:avLst>
              <a:gd name="adj" fmla="val 3333"/>
            </a:avLst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4"/>
          <p:cNvSpPr/>
          <p:nvPr/>
        </p:nvSpPr>
        <p:spPr>
          <a:xfrm>
            <a:off x="10424160" y="37673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900" dirty="0"/>
          </a:p>
        </p:txBody>
      </p:sp>
      <p:sp>
        <p:nvSpPr>
          <p:cNvPr id="29" name="Text 25"/>
          <p:cNvSpPr/>
          <p:nvPr/>
        </p:nvSpPr>
        <p:spPr>
          <a:xfrm>
            <a:off x="10515600" y="4224528"/>
            <a:ext cx="20574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ejes transversales técnicos</a:t>
            </a:r>
            <a:endParaRPr lang="en-US" sz="920" dirty="0"/>
          </a:p>
        </p:txBody>
      </p:sp>
      <p:sp>
        <p:nvSpPr>
          <p:cNvPr id="30" name="Text 26"/>
          <p:cNvSpPr/>
          <p:nvPr/>
        </p:nvSpPr>
        <p:spPr>
          <a:xfrm>
            <a:off x="859536" y="6263640"/>
            <a:ext cx="1207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7A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central: ya existe una base diagnóstica y metodológica para ordenar el universo de indicadores del SIIP.</a:t>
            </a:r>
            <a:endParaRPr lang="en-US" sz="1230" dirty="0"/>
          </a:p>
        </p:txBody>
      </p:sp>
      <p:sp>
        <p:nvSpPr>
          <p:cNvPr id="31" name="Shape 27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8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 SIIP Salamanca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Diagnóstico de instrumentos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786384" y="175564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construyó una lectura comparativa del entorno municipal de planeación y medición.</a:t>
            </a:r>
            <a:endParaRPr lang="en-US" sz="1340" dirty="0"/>
          </a:p>
        </p:txBody>
      </p:sp>
      <p:sp>
        <p:nvSpPr>
          <p:cNvPr id="8" name="Text 4"/>
          <p:cNvSpPr/>
          <p:nvPr/>
        </p:nvSpPr>
        <p:spPr>
          <a:xfrm>
            <a:off x="786384" y="2395728"/>
            <a:ext cx="5715000" cy="21396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2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individual de instrumentos municipales y referentes complementarios.</a:t>
            </a:r>
            <a:endParaRPr lang="en-US" sz="1220" dirty="0"/>
          </a:p>
          <a:p>
            <a:r>
              <a:rPr lang="en-US" sz="122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Identificación de indicadores, acciones, proyectos y fuentes disponibles.</a:t>
            </a:r>
            <a:endParaRPr lang="en-US" sz="1220" dirty="0"/>
          </a:p>
          <a:p>
            <a:r>
              <a:rPr lang="en-US" sz="122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coincidencias, complementariedades, diferencias de estructura y vacíos preliminares.</a:t>
            </a:r>
            <a:endParaRPr lang="en-US" sz="1220" dirty="0"/>
          </a:p>
          <a:p>
            <a:r>
              <a:rPr lang="en-US" sz="122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diagnóstica para orientar la organización del SIIP.</a:t>
            </a:r>
            <a:endParaRPr lang="en-US" sz="1220" dirty="0"/>
          </a:p>
        </p:txBody>
      </p:sp>
      <p:pic>
        <p:nvPicPr>
          <p:cNvPr id="9" name="Image 2" descr="/mnt/data/extracted_docs/diag/word/media/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920239"/>
            <a:ext cx="6358208" cy="42388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6384" y="6108192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una base integrada para comprender qué aporta cada instrumento al sistema municipal de indicadores.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7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— Diagnóstico de instrumentos de planeación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Instrumentos revisados y universo de indicadores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786384" y="1737360"/>
            <a:ext cx="1188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integra registros de instrumentos municipales y referentes complementarios. El total corresponde al universo revisado, no a la selección final del SIIP.</a:t>
            </a:r>
            <a:endParaRPr lang="en-US" sz="1260" dirty="0"/>
          </a:p>
        </p:txBody>
      </p:sp>
      <p:sp>
        <p:nvSpPr>
          <p:cNvPr id="8" name="Shape 4"/>
          <p:cNvSpPr/>
          <p:nvPr/>
        </p:nvSpPr>
        <p:spPr>
          <a:xfrm>
            <a:off x="841248" y="2651760"/>
            <a:ext cx="6263640" cy="0"/>
          </a:xfrm>
          <a:prstGeom prst="line">
            <a:avLst/>
          </a:prstGeom>
          <a:noFill/>
          <a:ln w="762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 sz="3200"/>
          </a:p>
        </p:txBody>
      </p:sp>
      <p:sp>
        <p:nvSpPr>
          <p:cNvPr id="9" name="Text 5"/>
          <p:cNvSpPr/>
          <p:nvPr/>
        </p:nvSpPr>
        <p:spPr>
          <a:xfrm>
            <a:off x="932688" y="235915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de Gobierno Municipal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138928" y="23591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métricas / 10 indicadores nominales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41248" y="3127248"/>
            <a:ext cx="6263640" cy="0"/>
          </a:xfrm>
          <a:prstGeom prst="line">
            <a:avLst/>
          </a:prstGeom>
          <a:noFill/>
          <a:ln w="762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 sz="3200"/>
          </a:p>
        </p:txBody>
      </p:sp>
      <p:sp>
        <p:nvSpPr>
          <p:cNvPr id="12" name="Text 8"/>
          <p:cNvSpPr/>
          <p:nvPr/>
        </p:nvSpPr>
        <p:spPr>
          <a:xfrm>
            <a:off x="932688" y="28346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Municipal de Desarrollo Visión 2050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138928" y="28346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114 indicadores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41248" y="3602736"/>
            <a:ext cx="6263640" cy="0"/>
          </a:xfrm>
          <a:prstGeom prst="line">
            <a:avLst/>
          </a:prstGeom>
          <a:noFill/>
          <a:ln w="762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 sz="3200"/>
          </a:p>
        </p:txBody>
      </p:sp>
      <p:sp>
        <p:nvSpPr>
          <p:cNvPr id="15" name="Text 11"/>
          <p:cNvSpPr/>
          <p:nvPr/>
        </p:nvSpPr>
        <p:spPr>
          <a:xfrm>
            <a:off x="932688" y="331012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PMDUOET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138928" y="331012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indicadores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41248" y="4078224"/>
            <a:ext cx="6263640" cy="0"/>
          </a:xfrm>
          <a:prstGeom prst="line">
            <a:avLst/>
          </a:prstGeom>
          <a:noFill/>
          <a:ln w="762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 sz="3200"/>
          </a:p>
        </p:txBody>
      </p:sp>
      <p:sp>
        <p:nvSpPr>
          <p:cNvPr id="18" name="Text 14"/>
          <p:cNvSpPr/>
          <p:nvPr/>
        </p:nvSpPr>
        <p:spPr>
          <a:xfrm>
            <a:off x="932688" y="378561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de Movilidad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138928" y="378561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indicadores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41248" y="4553712"/>
            <a:ext cx="6263640" cy="0"/>
          </a:xfrm>
          <a:prstGeom prst="line">
            <a:avLst/>
          </a:prstGeom>
          <a:noFill/>
          <a:ln w="762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 sz="3200"/>
          </a:p>
        </p:txBody>
      </p:sp>
      <p:sp>
        <p:nvSpPr>
          <p:cNvPr id="21" name="Text 17"/>
          <p:cNvSpPr/>
          <p:nvPr/>
        </p:nvSpPr>
        <p:spPr>
          <a:xfrm>
            <a:off x="932688" y="426110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Municipal de Seguridad Pública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5138928" y="42611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indicadores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841248" y="5029200"/>
            <a:ext cx="6263640" cy="0"/>
          </a:xfrm>
          <a:prstGeom prst="line">
            <a:avLst/>
          </a:prstGeom>
          <a:noFill/>
          <a:ln w="762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 sz="3200"/>
          </a:p>
        </p:txBody>
      </p:sp>
      <p:sp>
        <p:nvSpPr>
          <p:cNvPr id="24" name="Text 20"/>
          <p:cNvSpPr/>
          <p:nvPr/>
        </p:nvSpPr>
        <p:spPr>
          <a:xfrm>
            <a:off x="932688" y="473659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 cuantitativas INAFED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138928" y="47365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178 referencias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7772400" y="2377440"/>
            <a:ext cx="2834640" cy="1097280"/>
          </a:xfrm>
          <a:prstGeom prst="roundRect">
            <a:avLst>
              <a:gd name="adj" fmla="val 3333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3"/>
          <p:cNvSpPr/>
          <p:nvPr/>
        </p:nvSpPr>
        <p:spPr>
          <a:xfrm>
            <a:off x="7973568" y="257860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412</a:t>
            </a:r>
            <a:endParaRPr lang="en-US" sz="3300" dirty="0"/>
          </a:p>
        </p:txBody>
      </p:sp>
      <p:sp>
        <p:nvSpPr>
          <p:cNvPr id="28" name="Text 24"/>
          <p:cNvSpPr/>
          <p:nvPr/>
        </p:nvSpPr>
        <p:spPr>
          <a:xfrm>
            <a:off x="9326880" y="2660904"/>
            <a:ext cx="105156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ajustados en total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7772400" y="3767328"/>
            <a:ext cx="3840480" cy="1097280"/>
          </a:xfrm>
          <a:prstGeom prst="roundRect">
            <a:avLst>
              <a:gd name="adj" fmla="val 3333"/>
            </a:avLst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6"/>
          <p:cNvSpPr/>
          <p:nvPr/>
        </p:nvSpPr>
        <p:spPr>
          <a:xfrm>
            <a:off x="7973568" y="3968496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234</a:t>
            </a:r>
            <a:endParaRPr lang="en-US" sz="3300" dirty="0"/>
          </a:p>
        </p:txBody>
      </p:sp>
      <p:sp>
        <p:nvSpPr>
          <p:cNvPr id="31" name="Text 27"/>
          <p:cNvSpPr/>
          <p:nvPr/>
        </p:nvSpPr>
        <p:spPr>
          <a:xfrm>
            <a:off x="9326880" y="4050792"/>
            <a:ext cx="205740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efectivas de seguimiento municipal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7772400" y="5157216"/>
            <a:ext cx="4114800" cy="1097280"/>
          </a:xfrm>
          <a:prstGeom prst="roundRect">
            <a:avLst>
              <a:gd name="adj" fmla="val 3333"/>
            </a:avLst>
          </a:prstGeom>
          <a:solidFill>
            <a:srgbClr val="B08A47"/>
          </a:solidFill>
          <a:ln w="12700">
            <a:solidFill>
              <a:srgbClr val="B08A4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29"/>
          <p:cNvSpPr/>
          <p:nvPr/>
        </p:nvSpPr>
        <p:spPr>
          <a:xfrm>
            <a:off x="7973568" y="5358384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7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178</a:t>
            </a:r>
            <a:endParaRPr lang="en-US" sz="3300" dirty="0"/>
          </a:p>
        </p:txBody>
      </p:sp>
      <p:sp>
        <p:nvSpPr>
          <p:cNvPr id="34" name="Text 30"/>
          <p:cNvSpPr/>
          <p:nvPr/>
        </p:nvSpPr>
        <p:spPr>
          <a:xfrm>
            <a:off x="9326880" y="5440680"/>
            <a:ext cx="23317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 cuantitativas complementarias del INAFED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841248" y="6839712"/>
            <a:ext cx="1271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7A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Supuesto de lectura: los conteos son útiles para dimensionar el universo de trabajo y detectar heterogeneidad, no para anticipar una selección final.</a:t>
            </a:r>
            <a:endParaRPr lang="en-US" sz="1180" dirty="0"/>
          </a:p>
        </p:txBody>
      </p:sp>
      <p:sp>
        <p:nvSpPr>
          <p:cNvPr id="36" name="Shape 32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3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— Diagnóstico de instrumentos de planeación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· CONCLUSIONES POR INSTRUMENTO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 de Gobierno Municipal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749808" y="1719072"/>
            <a:ext cx="1280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i="1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Planeación de corto plazo de la administración 2024-2027.</a:t>
            </a:r>
            <a:endParaRPr lang="en-US" sz="1270" dirty="0"/>
          </a:p>
        </p:txBody>
      </p:sp>
      <p:sp>
        <p:nvSpPr>
          <p:cNvPr id="8" name="Text 4"/>
          <p:cNvSpPr/>
          <p:nvPr/>
        </p:nvSpPr>
        <p:spPr>
          <a:xfrm>
            <a:off x="749808" y="214884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7A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Esquema de agrupación del instrumento</a:t>
            </a:r>
            <a:endParaRPr lang="en-US" sz="1180" dirty="0"/>
          </a:p>
        </p:txBody>
      </p:sp>
      <p:sp>
        <p:nvSpPr>
          <p:cNvPr id="9" name="Shape 5"/>
          <p:cNvSpPr/>
          <p:nvPr/>
        </p:nvSpPr>
        <p:spPr>
          <a:xfrm>
            <a:off x="749808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822960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Ejes estratégicos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ejes</a:t>
            </a:r>
            <a:endParaRPr lang="en-US" sz="860" dirty="0"/>
          </a:p>
        </p:txBody>
      </p:sp>
      <p:sp>
        <p:nvSpPr>
          <p:cNvPr id="11" name="Shape 7"/>
          <p:cNvSpPr/>
          <p:nvPr/>
        </p:nvSpPr>
        <p:spPr>
          <a:xfrm>
            <a:off x="3414370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3487522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Programas presupuestarios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programas</a:t>
            </a:r>
            <a:endParaRPr lang="en-US" sz="860" dirty="0"/>
          </a:p>
        </p:txBody>
      </p:sp>
      <p:sp>
        <p:nvSpPr>
          <p:cNvPr id="13" name="Shape 9"/>
          <p:cNvSpPr/>
          <p:nvPr/>
        </p:nvSpPr>
        <p:spPr>
          <a:xfrm>
            <a:off x="6078931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6152083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e indicadores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nominales / 12 métricas</a:t>
            </a:r>
            <a:endParaRPr lang="en-US" sz="860" dirty="0"/>
          </a:p>
        </p:txBody>
      </p:sp>
      <p:sp>
        <p:nvSpPr>
          <p:cNvPr id="15" name="Shape 11"/>
          <p:cNvSpPr/>
          <p:nvPr/>
        </p:nvSpPr>
        <p:spPr>
          <a:xfrm>
            <a:off x="8743493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8816645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Metas y acciones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145 acciones</a:t>
            </a:r>
            <a:endParaRPr lang="en-US" sz="860" dirty="0"/>
          </a:p>
        </p:txBody>
      </p:sp>
      <p:sp>
        <p:nvSpPr>
          <p:cNvPr id="17" name="Shape 13"/>
          <p:cNvSpPr/>
          <p:nvPr/>
        </p:nvSpPr>
        <p:spPr>
          <a:xfrm>
            <a:off x="11408054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11481206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dependencias</a:t>
            </a:r>
            <a:endParaRPr lang="en-US" sz="860" dirty="0"/>
          </a:p>
        </p:txBody>
      </p:sp>
      <p:sp>
        <p:nvSpPr>
          <p:cNvPr id="19" name="Shape 15"/>
          <p:cNvSpPr/>
          <p:nvPr/>
        </p:nvSpPr>
        <p:spPr>
          <a:xfrm>
            <a:off x="749808" y="3675888"/>
            <a:ext cx="6355080" cy="365760"/>
          </a:xfrm>
          <a:prstGeom prst="roundRect">
            <a:avLst>
              <a:gd name="adj" fmla="val 7500"/>
            </a:avLst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7607808" y="3675888"/>
            <a:ext cx="6355080" cy="365760"/>
          </a:xfrm>
          <a:prstGeom prst="roundRect">
            <a:avLst>
              <a:gd name="adj" fmla="val 7500"/>
            </a:avLst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749808" y="3776472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APORTES AL SIIP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607808" y="3776472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 PRINCIPALES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914400" y="4261104"/>
            <a:ext cx="5852160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Aporta agenda operativa de corto plazo, con indicadores y metas asociados a programas presupuestarios.</a:t>
            </a:r>
            <a:endParaRPr lang="en-US" sz="1160" dirty="0"/>
          </a:p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identificar responsables institucionales y la conexión entre prioridades, acciones y seguimiento.</a:t>
            </a:r>
            <a:endParaRPr lang="en-US" sz="1160" dirty="0"/>
          </a:p>
        </p:txBody>
      </p:sp>
      <p:sp>
        <p:nvSpPr>
          <p:cNvPr id="24" name="Text 20"/>
          <p:cNvSpPr/>
          <p:nvPr/>
        </p:nvSpPr>
        <p:spPr>
          <a:xfrm>
            <a:off x="7772400" y="4261104"/>
            <a:ext cx="5852160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Predominan indicadores de resultado; algunos integran más de una métrica.</a:t>
            </a:r>
            <a:endParaRPr lang="en-US" sz="1160" dirty="0"/>
          </a:p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 alta carga operativa en medio ambiente, imagen urbana y gobernanza frente a pocos indicadores.</a:t>
            </a:r>
            <a:endParaRPr lang="en-US" sz="1160" dirty="0"/>
          </a:p>
        </p:txBody>
      </p:sp>
      <p:sp>
        <p:nvSpPr>
          <p:cNvPr id="25" name="Shape 21"/>
          <p:cNvSpPr/>
          <p:nvPr/>
        </p:nvSpPr>
        <p:spPr>
          <a:xfrm>
            <a:off x="749808" y="6336792"/>
            <a:ext cx="13213080" cy="566928"/>
          </a:xfrm>
          <a:prstGeom prst="roundRect">
            <a:avLst>
              <a:gd name="adj" fmla="val 4839"/>
            </a:avLst>
          </a:prstGeom>
          <a:solidFill>
            <a:srgbClr val="F7ECD2"/>
          </a:solidFill>
          <a:ln w="12700">
            <a:solidFill>
              <a:srgbClr val="F7EC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2"/>
          <p:cNvSpPr/>
          <p:nvPr/>
        </p:nvSpPr>
        <p:spPr>
          <a:xfrm>
            <a:off x="1024128" y="6510528"/>
            <a:ext cx="1261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de lectura: 10 indicadores nominales, 12 métricas efectivas y 145 acciones.</a:t>
            </a:r>
            <a:endParaRPr lang="en-US" sz="1180" dirty="0"/>
          </a:p>
        </p:txBody>
      </p:sp>
      <p:sp>
        <p:nvSpPr>
          <p:cNvPr id="27" name="Shape 23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4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— Diagnóstico de instrumentos de planeación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· CONCLUSIONES POR INSTRUMENTO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Municipal de Desarrollo Visión 2050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749808" y="1719072"/>
            <a:ext cx="1280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i="1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Planeación estratégica de largo plazo del municipio.</a:t>
            </a:r>
            <a:endParaRPr lang="en-US" sz="1270" dirty="0"/>
          </a:p>
        </p:txBody>
      </p:sp>
      <p:sp>
        <p:nvSpPr>
          <p:cNvPr id="8" name="Text 4"/>
          <p:cNvSpPr/>
          <p:nvPr/>
        </p:nvSpPr>
        <p:spPr>
          <a:xfrm>
            <a:off x="749808" y="214884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7A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Esquema de agrupación del instrumento</a:t>
            </a:r>
            <a:endParaRPr lang="en-US" sz="1180" dirty="0"/>
          </a:p>
        </p:txBody>
      </p:sp>
      <p:sp>
        <p:nvSpPr>
          <p:cNvPr id="9" name="Shape 5"/>
          <p:cNvSpPr/>
          <p:nvPr/>
        </p:nvSpPr>
        <p:spPr>
          <a:xfrm>
            <a:off x="749808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822960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Pilares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pilares</a:t>
            </a:r>
            <a:endParaRPr lang="en-US" sz="860" dirty="0"/>
          </a:p>
        </p:txBody>
      </p:sp>
      <p:sp>
        <p:nvSpPr>
          <p:cNvPr id="11" name="Shape 7"/>
          <p:cNvSpPr/>
          <p:nvPr/>
        </p:nvSpPr>
        <p:spPr>
          <a:xfrm>
            <a:off x="3414370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3487522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Líneas estratégicas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líneas</a:t>
            </a:r>
            <a:endParaRPr lang="en-US" sz="860" dirty="0"/>
          </a:p>
        </p:txBody>
      </p:sp>
      <p:sp>
        <p:nvSpPr>
          <p:cNvPr id="13" name="Shape 9"/>
          <p:cNvSpPr/>
          <p:nvPr/>
        </p:nvSpPr>
        <p:spPr>
          <a:xfrm>
            <a:off x="6078931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6152083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objetivos</a:t>
            </a:r>
            <a:endParaRPr lang="en-US" sz="860" dirty="0"/>
          </a:p>
        </p:txBody>
      </p:sp>
      <p:sp>
        <p:nvSpPr>
          <p:cNvPr id="15" name="Shape 11"/>
          <p:cNvSpPr/>
          <p:nvPr/>
        </p:nvSpPr>
        <p:spPr>
          <a:xfrm>
            <a:off x="8743493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8816645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base + 82 comp.</a:t>
            </a:r>
            <a:endParaRPr lang="en-US" sz="860" dirty="0"/>
          </a:p>
        </p:txBody>
      </p:sp>
      <p:sp>
        <p:nvSpPr>
          <p:cNvPr id="17" name="Shape 13"/>
          <p:cNvSpPr/>
          <p:nvPr/>
        </p:nvSpPr>
        <p:spPr>
          <a:xfrm>
            <a:off x="11408054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11481206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Acciones y proyectos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422 acciones</a:t>
            </a:r>
            <a:endParaRPr lang="en-US" sz="860" dirty="0"/>
          </a:p>
        </p:txBody>
      </p:sp>
      <p:sp>
        <p:nvSpPr>
          <p:cNvPr id="19" name="Shape 15"/>
          <p:cNvSpPr/>
          <p:nvPr/>
        </p:nvSpPr>
        <p:spPr>
          <a:xfrm>
            <a:off x="749808" y="3675888"/>
            <a:ext cx="6355080" cy="365760"/>
          </a:xfrm>
          <a:prstGeom prst="roundRect">
            <a:avLst>
              <a:gd name="adj" fmla="val 7500"/>
            </a:avLst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7607808" y="3675888"/>
            <a:ext cx="6355080" cy="365760"/>
          </a:xfrm>
          <a:prstGeom prst="roundRect">
            <a:avLst>
              <a:gd name="adj" fmla="val 7500"/>
            </a:avLst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749808" y="3776472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APORTES AL SIIP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607808" y="3776472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 PRINCIPALES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914400" y="4261104"/>
            <a:ext cx="5852160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Aporta la visión estratégica de largo plazo y el universo más amplio de medición.</a:t>
            </a:r>
            <a:endParaRPr lang="en-US" sz="1160" dirty="0"/>
          </a:p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vincular objetivos, indicadores base, complementarios y proyectos estratégicos.</a:t>
            </a:r>
            <a:endParaRPr lang="en-US" sz="1160" dirty="0"/>
          </a:p>
        </p:txBody>
      </p:sp>
      <p:sp>
        <p:nvSpPr>
          <p:cNvPr id="24" name="Text 20"/>
          <p:cNvSpPr/>
          <p:nvPr/>
        </p:nvSpPr>
        <p:spPr>
          <a:xfrm>
            <a:off x="7772400" y="4261104"/>
            <a:ext cx="5852160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Concentra el mayor volumen de indicadores, sobre todo en entornos regenerativos y bienestar.</a:t>
            </a:r>
            <a:endParaRPr lang="en-US" sz="1160" dirty="0"/>
          </a:p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todos los resultados pueden atribuirse únicamente a la acción municipal.</a:t>
            </a:r>
            <a:endParaRPr lang="en-US" sz="1160" dirty="0"/>
          </a:p>
        </p:txBody>
      </p:sp>
      <p:sp>
        <p:nvSpPr>
          <p:cNvPr id="25" name="Shape 21"/>
          <p:cNvSpPr/>
          <p:nvPr/>
        </p:nvSpPr>
        <p:spPr>
          <a:xfrm>
            <a:off x="749808" y="6336792"/>
            <a:ext cx="13213080" cy="566928"/>
          </a:xfrm>
          <a:prstGeom prst="roundRect">
            <a:avLst>
              <a:gd name="adj" fmla="val 4839"/>
            </a:avLst>
          </a:prstGeom>
          <a:solidFill>
            <a:srgbClr val="F7ECD2"/>
          </a:solidFill>
          <a:ln w="12700">
            <a:solidFill>
              <a:srgbClr val="F7EC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2"/>
          <p:cNvSpPr/>
          <p:nvPr/>
        </p:nvSpPr>
        <p:spPr>
          <a:xfrm>
            <a:off x="1024128" y="6510528"/>
            <a:ext cx="1261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de lectura: 114 indicadores, 422 acciones y 113 iniciativas o proyectos.</a:t>
            </a:r>
            <a:endParaRPr lang="en-US" sz="1180" dirty="0"/>
          </a:p>
        </p:txBody>
      </p:sp>
      <p:sp>
        <p:nvSpPr>
          <p:cNvPr id="27" name="Shape 23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4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— Diagnóstico de instrumentos de planeación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· CONCLUSIONES POR INSTRUMENTO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PMDUOET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749808" y="1719072"/>
            <a:ext cx="1280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i="1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Instrumento territorial, urbano y ambiental del municipio.</a:t>
            </a:r>
            <a:endParaRPr lang="en-US" sz="1270" dirty="0"/>
          </a:p>
        </p:txBody>
      </p:sp>
      <p:sp>
        <p:nvSpPr>
          <p:cNvPr id="8" name="Text 4"/>
          <p:cNvSpPr/>
          <p:nvPr/>
        </p:nvSpPr>
        <p:spPr>
          <a:xfrm>
            <a:off x="749808" y="214884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7A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Esquema de agrupación del instrumento</a:t>
            </a:r>
            <a:endParaRPr lang="en-US" sz="1180" dirty="0"/>
          </a:p>
        </p:txBody>
      </p:sp>
      <p:sp>
        <p:nvSpPr>
          <p:cNvPr id="9" name="Shape 5"/>
          <p:cNvSpPr/>
          <p:nvPr/>
        </p:nvSpPr>
        <p:spPr>
          <a:xfrm>
            <a:off x="749808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822960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Dimensiones estratégicas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dimensiones</a:t>
            </a:r>
            <a:endParaRPr lang="en-US" sz="860" dirty="0"/>
          </a:p>
        </p:txBody>
      </p:sp>
      <p:sp>
        <p:nvSpPr>
          <p:cNvPr id="11" name="Shape 7"/>
          <p:cNvSpPr/>
          <p:nvPr/>
        </p:nvSpPr>
        <p:spPr>
          <a:xfrm>
            <a:off x="3414370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3487522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Subsistemas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territorial</a:t>
            </a:r>
            <a:endParaRPr lang="en-US" sz="860" dirty="0"/>
          </a:p>
        </p:txBody>
      </p:sp>
      <p:sp>
        <p:nvSpPr>
          <p:cNvPr id="13" name="Shape 9"/>
          <p:cNvSpPr/>
          <p:nvPr/>
        </p:nvSpPr>
        <p:spPr>
          <a:xfrm>
            <a:off x="6078931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6152083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Políticas de ordenamiento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urbano-ambientales</a:t>
            </a:r>
            <a:endParaRPr lang="en-US" sz="860" dirty="0"/>
          </a:p>
        </p:txBody>
      </p:sp>
      <p:sp>
        <p:nvSpPr>
          <p:cNvPr id="15" name="Shape 11"/>
          <p:cNvSpPr/>
          <p:nvPr/>
        </p:nvSpPr>
        <p:spPr>
          <a:xfrm>
            <a:off x="8743493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8816645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Programas y proyectos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cartera territorial</a:t>
            </a:r>
            <a:endParaRPr lang="en-US" sz="860" dirty="0"/>
          </a:p>
        </p:txBody>
      </p:sp>
      <p:sp>
        <p:nvSpPr>
          <p:cNvPr id="17" name="Shape 13"/>
          <p:cNvSpPr/>
          <p:nvPr/>
        </p:nvSpPr>
        <p:spPr>
          <a:xfrm>
            <a:off x="11408054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11481206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registros</a:t>
            </a:r>
            <a:endParaRPr lang="en-US" sz="860" dirty="0"/>
          </a:p>
        </p:txBody>
      </p:sp>
      <p:sp>
        <p:nvSpPr>
          <p:cNvPr id="19" name="Shape 15"/>
          <p:cNvSpPr/>
          <p:nvPr/>
        </p:nvSpPr>
        <p:spPr>
          <a:xfrm>
            <a:off x="749808" y="3675888"/>
            <a:ext cx="6355080" cy="365760"/>
          </a:xfrm>
          <a:prstGeom prst="roundRect">
            <a:avLst>
              <a:gd name="adj" fmla="val 7500"/>
            </a:avLst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7607808" y="3675888"/>
            <a:ext cx="6355080" cy="365760"/>
          </a:xfrm>
          <a:prstGeom prst="roundRect">
            <a:avLst>
              <a:gd name="adj" fmla="val 7500"/>
            </a:avLst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749808" y="3776472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APORTES AL SIIP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607808" y="3776472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 PRINCIPALES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914400" y="4261104"/>
            <a:ext cx="5852160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Aporta variables de uso del suelo, crecimiento urbano, conservación, riesgos e infraestructura.</a:t>
            </a:r>
            <a:endParaRPr lang="en-US" sz="1160" dirty="0"/>
          </a:p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territorializar indicadores con mapas, zonas, polígonos y criterios normativos.</a:t>
            </a:r>
            <a:endParaRPr lang="en-US" sz="1160" dirty="0"/>
          </a:p>
        </p:txBody>
      </p:sp>
      <p:sp>
        <p:nvSpPr>
          <p:cNvPr id="24" name="Text 20"/>
          <p:cNvSpPr/>
          <p:nvPr/>
        </p:nvSpPr>
        <p:spPr>
          <a:xfrm>
            <a:off x="7772400" y="4261104"/>
            <a:ext cx="5852160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 indicadores urbanos, ambientales, sociales, económicos e institucionales.</a:t>
            </a:r>
            <a:endParaRPr lang="en-US" sz="1160" dirty="0"/>
          </a:p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 valor principal es ordenar la lectura territorial y normativa del seguimiento.</a:t>
            </a:r>
            <a:endParaRPr lang="en-US" sz="1160" dirty="0"/>
          </a:p>
        </p:txBody>
      </p:sp>
      <p:sp>
        <p:nvSpPr>
          <p:cNvPr id="25" name="Shape 21"/>
          <p:cNvSpPr/>
          <p:nvPr/>
        </p:nvSpPr>
        <p:spPr>
          <a:xfrm>
            <a:off x="749808" y="6336792"/>
            <a:ext cx="13213080" cy="566928"/>
          </a:xfrm>
          <a:prstGeom prst="roundRect">
            <a:avLst>
              <a:gd name="adj" fmla="val 4839"/>
            </a:avLst>
          </a:prstGeom>
          <a:solidFill>
            <a:srgbClr val="F7ECD2"/>
          </a:solidFill>
          <a:ln w="12700">
            <a:solidFill>
              <a:srgbClr val="F7EC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2"/>
          <p:cNvSpPr/>
          <p:nvPr/>
        </p:nvSpPr>
        <p:spPr>
          <a:xfrm>
            <a:off x="1024128" y="6510528"/>
            <a:ext cx="1261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de lectura: 45 indicadores organizados por dimensiones estratégicas.</a:t>
            </a:r>
            <a:endParaRPr lang="en-US" sz="1180" dirty="0"/>
          </a:p>
        </p:txBody>
      </p:sp>
      <p:sp>
        <p:nvSpPr>
          <p:cNvPr id="27" name="Shape 23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4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— Diagnóstico de instrumentos de planeación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· CONCLUSIONES POR INSTRUMENTO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 de Movilidad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749808" y="1719072"/>
            <a:ext cx="1280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i="1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Instrumento sectorial para accesibilidad, seguridad vial, transporte e infraestructura.</a:t>
            </a:r>
            <a:endParaRPr lang="en-US" sz="1270" dirty="0"/>
          </a:p>
        </p:txBody>
      </p:sp>
      <p:sp>
        <p:nvSpPr>
          <p:cNvPr id="8" name="Text 4"/>
          <p:cNvSpPr/>
          <p:nvPr/>
        </p:nvSpPr>
        <p:spPr>
          <a:xfrm>
            <a:off x="749808" y="214884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7A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Esquema de agrupación del instrumento</a:t>
            </a:r>
            <a:endParaRPr lang="en-US" sz="1180" dirty="0"/>
          </a:p>
        </p:txBody>
      </p:sp>
      <p:sp>
        <p:nvSpPr>
          <p:cNvPr id="9" name="Shape 5"/>
          <p:cNvSpPr/>
          <p:nvPr/>
        </p:nvSpPr>
        <p:spPr>
          <a:xfrm>
            <a:off x="749808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822960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Líneas estratégicas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movilidad</a:t>
            </a:r>
            <a:endParaRPr lang="en-US" sz="860" dirty="0"/>
          </a:p>
        </p:txBody>
      </p:sp>
      <p:sp>
        <p:nvSpPr>
          <p:cNvPr id="11" name="Shape 7"/>
          <p:cNvSpPr/>
          <p:nvPr/>
        </p:nvSpPr>
        <p:spPr>
          <a:xfrm>
            <a:off x="3414370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3487522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sectoriales</a:t>
            </a:r>
            <a:endParaRPr lang="en-US" sz="860" dirty="0"/>
          </a:p>
        </p:txBody>
      </p:sp>
      <p:sp>
        <p:nvSpPr>
          <p:cNvPr id="13" name="Shape 9"/>
          <p:cNvSpPr/>
          <p:nvPr/>
        </p:nvSpPr>
        <p:spPr>
          <a:xfrm>
            <a:off x="6078931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6152083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registros</a:t>
            </a:r>
            <a:endParaRPr lang="en-US" sz="860" dirty="0"/>
          </a:p>
        </p:txBody>
      </p:sp>
      <p:sp>
        <p:nvSpPr>
          <p:cNvPr id="15" name="Shape 11"/>
          <p:cNvSpPr/>
          <p:nvPr/>
        </p:nvSpPr>
        <p:spPr>
          <a:xfrm>
            <a:off x="8743493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8816645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Líneas de acción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intervenciones</a:t>
            </a:r>
            <a:endParaRPr lang="en-US" sz="860" dirty="0"/>
          </a:p>
        </p:txBody>
      </p:sp>
      <p:sp>
        <p:nvSpPr>
          <p:cNvPr id="17" name="Shape 13"/>
          <p:cNvSpPr/>
          <p:nvPr/>
        </p:nvSpPr>
        <p:spPr>
          <a:xfrm>
            <a:off x="11408054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11481206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movilidad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</a:t>
            </a:r>
            <a:endParaRPr lang="en-US" sz="860" dirty="0"/>
          </a:p>
        </p:txBody>
      </p:sp>
      <p:sp>
        <p:nvSpPr>
          <p:cNvPr id="19" name="Shape 15"/>
          <p:cNvSpPr/>
          <p:nvPr/>
        </p:nvSpPr>
        <p:spPr>
          <a:xfrm>
            <a:off x="749808" y="3675888"/>
            <a:ext cx="6355080" cy="365760"/>
          </a:xfrm>
          <a:prstGeom prst="roundRect">
            <a:avLst>
              <a:gd name="adj" fmla="val 7500"/>
            </a:avLst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7607808" y="3675888"/>
            <a:ext cx="6355080" cy="365760"/>
          </a:xfrm>
          <a:prstGeom prst="roundRect">
            <a:avLst>
              <a:gd name="adj" fmla="val 7500"/>
            </a:avLst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749808" y="3776472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APORTES AL SIIP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607808" y="3776472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 PRINCIPALES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914400" y="4261104"/>
            <a:ext cx="5852160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Aporta la movilidad como componente medible de accesibilidad, seguridad vial y conectividad.</a:t>
            </a:r>
            <a:endParaRPr lang="en-US" sz="1160" dirty="0"/>
          </a:p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agregar infraestructura peatonal, ciclista, vial y transporte público al seguimiento.</a:t>
            </a:r>
            <a:endParaRPr lang="en-US" sz="1160" dirty="0"/>
          </a:p>
        </p:txBody>
      </p:sp>
      <p:sp>
        <p:nvSpPr>
          <p:cNvPr id="24" name="Text 20"/>
          <p:cNvSpPr/>
          <p:nvPr/>
        </p:nvSpPr>
        <p:spPr>
          <a:xfrm>
            <a:off x="7772400" y="4261104"/>
            <a:ext cx="5852160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Concentra indicadores especializados de movilidad, transporte y seguridad vial.</a:t>
            </a:r>
            <a:endParaRPr lang="en-US" sz="1160" dirty="0"/>
          </a:p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 mediciones requieren fuerte componente territorial y datos operativos.</a:t>
            </a:r>
            <a:endParaRPr lang="en-US" sz="1160" dirty="0"/>
          </a:p>
        </p:txBody>
      </p:sp>
      <p:sp>
        <p:nvSpPr>
          <p:cNvPr id="25" name="Shape 21"/>
          <p:cNvSpPr/>
          <p:nvPr/>
        </p:nvSpPr>
        <p:spPr>
          <a:xfrm>
            <a:off x="749808" y="6336792"/>
            <a:ext cx="13213080" cy="566928"/>
          </a:xfrm>
          <a:prstGeom prst="roundRect">
            <a:avLst>
              <a:gd name="adj" fmla="val 4839"/>
            </a:avLst>
          </a:prstGeom>
          <a:solidFill>
            <a:srgbClr val="F7ECD2"/>
          </a:solidFill>
          <a:ln w="12700">
            <a:solidFill>
              <a:srgbClr val="F7EC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2"/>
          <p:cNvSpPr/>
          <p:nvPr/>
        </p:nvSpPr>
        <p:spPr>
          <a:xfrm>
            <a:off x="1024128" y="6510528"/>
            <a:ext cx="1261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de lectura: 13 indicadores sectoriales de movilidad y accesibilidad.</a:t>
            </a:r>
            <a:endParaRPr lang="en-US" sz="1180" dirty="0"/>
          </a:p>
        </p:txBody>
      </p:sp>
      <p:sp>
        <p:nvSpPr>
          <p:cNvPr id="27" name="Shape 23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4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— Diagnóstico de instrumentos de planeación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· CONCLUSIONES POR INSTRUMENTO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 Municipal de Seguridad Pública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749808" y="1719072"/>
            <a:ext cx="1280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i="1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Instrumento especializado para prevención, operación policial y justicia cívica.</a:t>
            </a:r>
            <a:endParaRPr lang="en-US" sz="1270" dirty="0"/>
          </a:p>
        </p:txBody>
      </p:sp>
      <p:sp>
        <p:nvSpPr>
          <p:cNvPr id="8" name="Text 4"/>
          <p:cNvSpPr/>
          <p:nvPr/>
        </p:nvSpPr>
        <p:spPr>
          <a:xfrm>
            <a:off x="749808" y="214884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7A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Esquema de agrupación del instrumento</a:t>
            </a:r>
            <a:endParaRPr lang="en-US" sz="1180" dirty="0"/>
          </a:p>
        </p:txBody>
      </p:sp>
      <p:sp>
        <p:nvSpPr>
          <p:cNvPr id="9" name="Shape 5"/>
          <p:cNvSpPr/>
          <p:nvPr/>
        </p:nvSpPr>
        <p:spPr>
          <a:xfrm>
            <a:off x="749808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822960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Ejes estratégicos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ejes</a:t>
            </a:r>
            <a:endParaRPr lang="en-US" sz="860" dirty="0"/>
          </a:p>
        </p:txBody>
      </p:sp>
      <p:sp>
        <p:nvSpPr>
          <p:cNvPr id="11" name="Shape 7"/>
          <p:cNvSpPr/>
          <p:nvPr/>
        </p:nvSpPr>
        <p:spPr>
          <a:xfrm>
            <a:off x="3414370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3487522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estratégicos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institucionales</a:t>
            </a:r>
            <a:endParaRPr lang="en-US" sz="860" dirty="0"/>
          </a:p>
        </p:txBody>
      </p:sp>
      <p:sp>
        <p:nvSpPr>
          <p:cNvPr id="13" name="Shape 9"/>
          <p:cNvSpPr/>
          <p:nvPr/>
        </p:nvSpPr>
        <p:spPr>
          <a:xfrm>
            <a:off x="6078931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6152083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Líneas de acción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operativas</a:t>
            </a:r>
            <a:endParaRPr lang="en-US" sz="860" dirty="0"/>
          </a:p>
        </p:txBody>
      </p:sp>
      <p:sp>
        <p:nvSpPr>
          <p:cNvPr id="15" name="Shape 11"/>
          <p:cNvSpPr/>
          <p:nvPr/>
        </p:nvSpPr>
        <p:spPr>
          <a:xfrm>
            <a:off x="8743493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8816645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Acciones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intervenciones</a:t>
            </a:r>
            <a:endParaRPr lang="en-US" sz="860" dirty="0"/>
          </a:p>
        </p:txBody>
      </p:sp>
      <p:sp>
        <p:nvSpPr>
          <p:cNvPr id="17" name="Shape 13"/>
          <p:cNvSpPr/>
          <p:nvPr/>
        </p:nvSpPr>
        <p:spPr>
          <a:xfrm>
            <a:off x="11408054" y="2468880"/>
            <a:ext cx="2554834" cy="713232"/>
          </a:xfrm>
          <a:prstGeom prst="roundRect">
            <a:avLst>
              <a:gd name="adj" fmla="val 5128"/>
            </a:avLst>
          </a:prstGeom>
          <a:solidFill>
            <a:srgbClr val="F8F8F6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11481206" y="2615184"/>
            <a:ext cx="240853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registros</a:t>
            </a:r>
            <a:endParaRPr lang="en-US" sz="860" dirty="0"/>
          </a:p>
        </p:txBody>
      </p:sp>
      <p:sp>
        <p:nvSpPr>
          <p:cNvPr id="19" name="Shape 15"/>
          <p:cNvSpPr/>
          <p:nvPr/>
        </p:nvSpPr>
        <p:spPr>
          <a:xfrm>
            <a:off x="749808" y="3675888"/>
            <a:ext cx="6355080" cy="365760"/>
          </a:xfrm>
          <a:prstGeom prst="roundRect">
            <a:avLst>
              <a:gd name="adj" fmla="val 7500"/>
            </a:avLst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7607808" y="3675888"/>
            <a:ext cx="6355080" cy="365760"/>
          </a:xfrm>
          <a:prstGeom prst="roundRect">
            <a:avLst>
              <a:gd name="adj" fmla="val 7500"/>
            </a:avLst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749808" y="3776472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APORTES AL SIIP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607808" y="3776472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 PRINCIPALES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914400" y="4261104"/>
            <a:ext cx="5852160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Aporta indicadores de prevención, fortalecimiento institucional, operación policial y justicia cívica.</a:t>
            </a:r>
            <a:endParaRPr lang="en-US" sz="1160" dirty="0"/>
          </a:p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relacionar recursos, tecnología, capacitación y percepción con resultados sustantivos.</a:t>
            </a:r>
            <a:endParaRPr lang="en-US" sz="1160" dirty="0"/>
          </a:p>
        </p:txBody>
      </p:sp>
      <p:sp>
        <p:nvSpPr>
          <p:cNvPr id="24" name="Text 20"/>
          <p:cNvSpPr/>
          <p:nvPr/>
        </p:nvSpPr>
        <p:spPr>
          <a:xfrm>
            <a:off x="7772400" y="4261104"/>
            <a:ext cx="5852160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Incluye indicadores transversales de resultado y de capacidad institucional.</a:t>
            </a:r>
            <a:endParaRPr lang="en-US" sz="1160" dirty="0"/>
          </a:p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precisar líneas base, fórmulas, fuentes y periodicidades para fortalecer seguimiento.</a:t>
            </a:r>
            <a:endParaRPr lang="en-US" sz="1160" dirty="0"/>
          </a:p>
        </p:txBody>
      </p:sp>
      <p:sp>
        <p:nvSpPr>
          <p:cNvPr id="25" name="Shape 21"/>
          <p:cNvSpPr/>
          <p:nvPr/>
        </p:nvSpPr>
        <p:spPr>
          <a:xfrm>
            <a:off x="749808" y="6336792"/>
            <a:ext cx="13213080" cy="566928"/>
          </a:xfrm>
          <a:prstGeom prst="roundRect">
            <a:avLst>
              <a:gd name="adj" fmla="val 4839"/>
            </a:avLst>
          </a:prstGeom>
          <a:solidFill>
            <a:srgbClr val="F7ECD2"/>
          </a:solidFill>
          <a:ln w="12700">
            <a:solidFill>
              <a:srgbClr val="F7EC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2"/>
          <p:cNvSpPr/>
          <p:nvPr/>
        </p:nvSpPr>
        <p:spPr>
          <a:xfrm>
            <a:off x="1024128" y="6510528"/>
            <a:ext cx="1261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de lectura: 50 indicadores, incluidos indicadores transversales de resultado.</a:t>
            </a:r>
            <a:endParaRPr lang="en-US" sz="1180" dirty="0"/>
          </a:p>
        </p:txBody>
      </p:sp>
      <p:sp>
        <p:nvSpPr>
          <p:cNvPr id="27" name="Shape 23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4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— Diagnóstico de instrumentos de planeación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Universo de indicadores identificado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3"/>
          <p:cNvSpPr/>
          <p:nvPr/>
        </p:nvSpPr>
        <p:spPr>
          <a:xfrm>
            <a:off x="804672" y="1938528"/>
            <a:ext cx="7543800" cy="388620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4"/>
          <p:cNvSpPr/>
          <p:nvPr/>
        </p:nvSpPr>
        <p:spPr>
          <a:xfrm>
            <a:off x="804672" y="6172200"/>
            <a:ext cx="7543800" cy="0"/>
          </a:xfrm>
          <a:prstGeom prst="line">
            <a:avLst/>
          </a:prstGeom>
          <a:noFill/>
          <a:ln w="762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5"/>
          <p:cNvSpPr/>
          <p:nvPr/>
        </p:nvSpPr>
        <p:spPr>
          <a:xfrm>
            <a:off x="1682595" y="5801868"/>
            <a:ext cx="557585" cy="370332"/>
          </a:xfrm>
          <a:prstGeom prst="rect">
            <a:avLst/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1545435" y="5527548"/>
            <a:ext cx="8319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20" dirty="0"/>
          </a:p>
        </p:txBody>
      </p:sp>
      <p:sp>
        <p:nvSpPr>
          <p:cNvPr id="11" name="Text 7"/>
          <p:cNvSpPr/>
          <p:nvPr/>
        </p:nvSpPr>
        <p:spPr>
          <a:xfrm>
            <a:off x="1499715" y="6291072"/>
            <a:ext cx="923345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PGM</a:t>
            </a:r>
            <a:endParaRPr lang="en-US" sz="840" dirty="0"/>
          </a:p>
        </p:txBody>
      </p:sp>
      <p:sp>
        <p:nvSpPr>
          <p:cNvPr id="12" name="Shape 8"/>
          <p:cNvSpPr/>
          <p:nvPr/>
        </p:nvSpPr>
        <p:spPr>
          <a:xfrm>
            <a:off x="2990187" y="2654046"/>
            <a:ext cx="557585" cy="3518154"/>
          </a:xfrm>
          <a:prstGeom prst="rect">
            <a:avLst/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2853027" y="2379726"/>
            <a:ext cx="8319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114</a:t>
            </a:r>
            <a:endParaRPr lang="en-US" sz="1120" dirty="0"/>
          </a:p>
        </p:txBody>
      </p:sp>
      <p:sp>
        <p:nvSpPr>
          <p:cNvPr id="14" name="Text 10"/>
          <p:cNvSpPr/>
          <p:nvPr/>
        </p:nvSpPr>
        <p:spPr>
          <a:xfrm>
            <a:off x="2807307" y="6291072"/>
            <a:ext cx="923345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PMD 2050</a:t>
            </a:r>
            <a:endParaRPr lang="en-US" sz="840" dirty="0"/>
          </a:p>
        </p:txBody>
      </p:sp>
      <p:sp>
        <p:nvSpPr>
          <p:cNvPr id="15" name="Shape 11"/>
          <p:cNvSpPr/>
          <p:nvPr/>
        </p:nvSpPr>
        <p:spPr>
          <a:xfrm>
            <a:off x="4297779" y="4783455"/>
            <a:ext cx="557585" cy="1388745"/>
          </a:xfrm>
          <a:prstGeom prst="rect">
            <a:avLst/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4160619" y="4509135"/>
            <a:ext cx="8319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1120" dirty="0"/>
          </a:p>
        </p:txBody>
      </p:sp>
      <p:sp>
        <p:nvSpPr>
          <p:cNvPr id="17" name="Text 13"/>
          <p:cNvSpPr/>
          <p:nvPr/>
        </p:nvSpPr>
        <p:spPr>
          <a:xfrm>
            <a:off x="4114899" y="6291072"/>
            <a:ext cx="923345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PMDUOET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5605371" y="5771007"/>
            <a:ext cx="557585" cy="401193"/>
          </a:xfrm>
          <a:prstGeom prst="rect">
            <a:avLst/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5"/>
          <p:cNvSpPr/>
          <p:nvPr/>
        </p:nvSpPr>
        <p:spPr>
          <a:xfrm>
            <a:off x="5468211" y="5496687"/>
            <a:ext cx="8319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120" dirty="0"/>
          </a:p>
        </p:txBody>
      </p:sp>
      <p:sp>
        <p:nvSpPr>
          <p:cNvPr id="20" name="Text 16"/>
          <p:cNvSpPr/>
          <p:nvPr/>
        </p:nvSpPr>
        <p:spPr>
          <a:xfrm>
            <a:off x="5422491" y="6291072"/>
            <a:ext cx="923345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Movilidad</a:t>
            </a:r>
            <a:endParaRPr lang="en-US" sz="840" dirty="0"/>
          </a:p>
        </p:txBody>
      </p:sp>
      <p:sp>
        <p:nvSpPr>
          <p:cNvPr id="21" name="Shape 17"/>
          <p:cNvSpPr/>
          <p:nvPr/>
        </p:nvSpPr>
        <p:spPr>
          <a:xfrm>
            <a:off x="6912963" y="4629150"/>
            <a:ext cx="557585" cy="1543050"/>
          </a:xfrm>
          <a:prstGeom prst="rect">
            <a:avLst/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6775803" y="4354830"/>
            <a:ext cx="8319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1120" dirty="0"/>
          </a:p>
        </p:txBody>
      </p:sp>
      <p:sp>
        <p:nvSpPr>
          <p:cNvPr id="23" name="Text 19"/>
          <p:cNvSpPr/>
          <p:nvPr/>
        </p:nvSpPr>
        <p:spPr>
          <a:xfrm>
            <a:off x="6730083" y="6291072"/>
            <a:ext cx="923345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840" dirty="0"/>
          </a:p>
        </p:txBody>
      </p:sp>
      <p:sp>
        <p:nvSpPr>
          <p:cNvPr id="24" name="Shape 20"/>
          <p:cNvSpPr/>
          <p:nvPr/>
        </p:nvSpPr>
        <p:spPr>
          <a:xfrm>
            <a:off x="8942832" y="1901952"/>
            <a:ext cx="4983480" cy="1143000"/>
          </a:xfrm>
          <a:prstGeom prst="roundRect">
            <a:avLst>
              <a:gd name="adj" fmla="val 3200"/>
            </a:avLst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1"/>
          <p:cNvSpPr/>
          <p:nvPr/>
        </p:nvSpPr>
        <p:spPr>
          <a:xfrm>
            <a:off x="9144000" y="21031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234</a:t>
            </a:r>
            <a:endParaRPr lang="en-US" sz="3300" dirty="0"/>
          </a:p>
        </p:txBody>
      </p:sp>
      <p:sp>
        <p:nvSpPr>
          <p:cNvPr id="26" name="Text 22"/>
          <p:cNvSpPr/>
          <p:nvPr/>
        </p:nvSpPr>
        <p:spPr>
          <a:xfrm>
            <a:off x="10497312" y="2185416"/>
            <a:ext cx="320040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efectivas de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municipal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(232 indicadores nominales)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942832" y="3419856"/>
            <a:ext cx="4983480" cy="1143000"/>
          </a:xfrm>
          <a:prstGeom prst="roundRect">
            <a:avLst>
              <a:gd name="adj" fmla="val 3200"/>
            </a:avLst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4"/>
          <p:cNvSpPr/>
          <p:nvPr/>
        </p:nvSpPr>
        <p:spPr>
          <a:xfrm>
            <a:off x="9144000" y="3621024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178</a:t>
            </a:r>
            <a:endParaRPr lang="en-US" sz="3300" dirty="0"/>
          </a:p>
        </p:txBody>
      </p:sp>
      <p:sp>
        <p:nvSpPr>
          <p:cNvPr id="29" name="Text 25"/>
          <p:cNvSpPr/>
          <p:nvPr/>
        </p:nvSpPr>
        <p:spPr>
          <a:xfrm>
            <a:off x="10497312" y="3703320"/>
            <a:ext cx="320040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 cuantitativas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complementarias del INAFED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(Guía Consultiva + Manual)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942832" y="4937760"/>
            <a:ext cx="4983480" cy="1143000"/>
          </a:xfrm>
          <a:prstGeom prst="roundRect">
            <a:avLst>
              <a:gd name="adj" fmla="val 3200"/>
            </a:avLst>
          </a:prstGeom>
          <a:solidFill>
            <a:srgbClr val="B08A47"/>
          </a:solidFill>
          <a:ln w="12700">
            <a:solidFill>
              <a:srgbClr val="B08A4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7"/>
          <p:cNvSpPr/>
          <p:nvPr/>
        </p:nvSpPr>
        <p:spPr>
          <a:xfrm>
            <a:off x="9144000" y="5138928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7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412</a:t>
            </a:r>
            <a:endParaRPr lang="en-US" sz="3300" dirty="0"/>
          </a:p>
        </p:txBody>
      </p:sp>
      <p:sp>
        <p:nvSpPr>
          <p:cNvPr id="32" name="Text 28"/>
          <p:cNvSpPr/>
          <p:nvPr/>
        </p:nvSpPr>
        <p:spPr>
          <a:xfrm>
            <a:off x="10497312" y="5221224"/>
            <a:ext cx="320040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ajustados en total,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 universo municipal y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 externas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786384" y="7040880"/>
            <a:ext cx="1293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PMD Visión 2050 concentra el mayor volumen (32 indicadores base + 82 complementarios). El reto no es la ausencia general de indicadores; el reto está en su heterogeneidad, trazabilidad y grado de desarrollo técnico.</a:t>
            </a:r>
            <a:endParaRPr lang="en-US" sz="1160" dirty="0"/>
          </a:p>
        </p:txBody>
      </p:sp>
      <p:sp>
        <p:nvSpPr>
          <p:cNvPr id="34" name="Shape 30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1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— Diagnóstico de instrumentos de planeación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· ANÁLISIS COMPARATIVO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Coincidencias temáticas entre instrumentos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786384" y="1755648"/>
            <a:ext cx="1289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0" i="1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instrumentos comparten una base temática común, aunque cada uno la aborda desde un enfoque distinto. Estos temas constituyen insumos para organizar el universo de indicadores del SIIP.</a:t>
            </a:r>
            <a:endParaRPr lang="en-US" sz="1270" dirty="0"/>
          </a:p>
        </p:txBody>
      </p:sp>
      <p:sp>
        <p:nvSpPr>
          <p:cNvPr id="8" name="Shape 4"/>
          <p:cNvSpPr/>
          <p:nvPr/>
        </p:nvSpPr>
        <p:spPr>
          <a:xfrm>
            <a:off x="658368" y="2450592"/>
            <a:ext cx="6519672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5"/>
          <p:cNvSpPr/>
          <p:nvPr/>
        </p:nvSpPr>
        <p:spPr>
          <a:xfrm>
            <a:off x="658368" y="2450592"/>
            <a:ext cx="73152" cy="987552"/>
          </a:xfrm>
          <a:prstGeom prst="rect">
            <a:avLst/>
          </a:prstGeom>
          <a:solidFill>
            <a:srgbClr val="DFA33A"/>
          </a:solidFill>
          <a:ln w="12700">
            <a:solidFill>
              <a:srgbClr val="DFA3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1042416" y="2651760"/>
            <a:ext cx="5715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Seguridad, paz social y prevención</a:t>
            </a:r>
            <a:endParaRPr lang="en-US" sz="1170" dirty="0"/>
          </a:p>
        </p:txBody>
      </p:sp>
      <p:sp>
        <p:nvSpPr>
          <p:cNvPr id="11" name="Text 7"/>
          <p:cNvSpPr/>
          <p:nvPr/>
        </p:nvSpPr>
        <p:spPr>
          <a:xfrm>
            <a:off x="1042416" y="3072384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Prevención, operación policial, justicia cívica, percepción ciudadana y tejido social.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7498080" y="2450592"/>
            <a:ext cx="6519672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7498080" y="2450592"/>
            <a:ext cx="73152" cy="987552"/>
          </a:xfrm>
          <a:prstGeom prst="rect">
            <a:avLst/>
          </a:prstGeom>
          <a:solidFill>
            <a:srgbClr val="DFA33A"/>
          </a:solidFill>
          <a:ln w="12700">
            <a:solidFill>
              <a:srgbClr val="DFA3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7882128" y="2651760"/>
            <a:ext cx="5715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social, inclusión y bienestar</a:t>
            </a:r>
            <a:endParaRPr lang="en-US" sz="1170" dirty="0"/>
          </a:p>
        </p:txBody>
      </p:sp>
      <p:sp>
        <p:nvSpPr>
          <p:cNvPr id="15" name="Text 11"/>
          <p:cNvSpPr/>
          <p:nvPr/>
        </p:nvSpPr>
        <p:spPr>
          <a:xfrm>
            <a:off x="7882128" y="3072384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Pobreza, acceso a servicios, salud, educación, cultura, deporte y juventudes.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658368" y="3694176"/>
            <a:ext cx="6519672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658368" y="3694176"/>
            <a:ext cx="73152" cy="987552"/>
          </a:xfrm>
          <a:prstGeom prst="rect">
            <a:avLst/>
          </a:prstGeom>
          <a:solidFill>
            <a:srgbClr val="DFA33A"/>
          </a:solidFill>
          <a:ln w="12700">
            <a:solidFill>
              <a:srgbClr val="DFA3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1042416" y="3895344"/>
            <a:ext cx="5715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Movilidad, accesibilidad y conectividad</a:t>
            </a:r>
            <a:endParaRPr lang="en-US" sz="1170" dirty="0"/>
          </a:p>
        </p:txBody>
      </p:sp>
      <p:sp>
        <p:nvSpPr>
          <p:cNvPr id="19" name="Text 15"/>
          <p:cNvSpPr/>
          <p:nvPr/>
        </p:nvSpPr>
        <p:spPr>
          <a:xfrm>
            <a:off x="1042416" y="4315968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vial, transporte, movilidad no motorizada e infraestructura vial.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7498080" y="3694176"/>
            <a:ext cx="6519672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7498080" y="3694176"/>
            <a:ext cx="73152" cy="987552"/>
          </a:xfrm>
          <a:prstGeom prst="rect">
            <a:avLst/>
          </a:prstGeom>
          <a:solidFill>
            <a:srgbClr val="DFA33A"/>
          </a:solidFill>
          <a:ln w="12700">
            <a:solidFill>
              <a:srgbClr val="DFA3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7882128" y="3895344"/>
            <a:ext cx="5715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Infraestructura, servicios y equipamiento</a:t>
            </a:r>
            <a:endParaRPr lang="en-US" sz="1170" dirty="0"/>
          </a:p>
        </p:txBody>
      </p:sp>
      <p:sp>
        <p:nvSpPr>
          <p:cNvPr id="23" name="Text 19"/>
          <p:cNvSpPr/>
          <p:nvPr/>
        </p:nvSpPr>
        <p:spPr>
          <a:xfrm>
            <a:off x="7882128" y="4315968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Obra pública, banquetas, espacios públicos, cobertura y mantenimiento territorial.</a:t>
            </a:r>
            <a:endParaRPr lang="en-US" sz="980" dirty="0"/>
          </a:p>
        </p:txBody>
      </p:sp>
      <p:sp>
        <p:nvSpPr>
          <p:cNvPr id="24" name="Shape 20"/>
          <p:cNvSpPr/>
          <p:nvPr/>
        </p:nvSpPr>
        <p:spPr>
          <a:xfrm>
            <a:off x="658368" y="4937760"/>
            <a:ext cx="6519672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1"/>
          <p:cNvSpPr/>
          <p:nvPr/>
        </p:nvSpPr>
        <p:spPr>
          <a:xfrm>
            <a:off x="658368" y="4937760"/>
            <a:ext cx="73152" cy="987552"/>
          </a:xfrm>
          <a:prstGeom prst="rect">
            <a:avLst/>
          </a:prstGeom>
          <a:solidFill>
            <a:srgbClr val="DFA33A"/>
          </a:solidFill>
          <a:ln w="12700">
            <a:solidFill>
              <a:srgbClr val="DFA3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2"/>
          <p:cNvSpPr/>
          <p:nvPr/>
        </p:nvSpPr>
        <p:spPr>
          <a:xfrm>
            <a:off x="1042416" y="5138928"/>
            <a:ext cx="5715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Medio ambiente y sustentabilidad</a:t>
            </a:r>
            <a:endParaRPr lang="en-US" sz="1170" dirty="0"/>
          </a:p>
        </p:txBody>
      </p:sp>
      <p:sp>
        <p:nvSpPr>
          <p:cNvPr id="27" name="Text 23"/>
          <p:cNvSpPr/>
          <p:nvPr/>
        </p:nvSpPr>
        <p:spPr>
          <a:xfrm>
            <a:off x="1042416" y="5559552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Residuos, agua, áreas verdes, calidad ambiental, riesgos y ordenamiento ecológico.</a:t>
            </a:r>
            <a:endParaRPr lang="en-US" sz="980" dirty="0"/>
          </a:p>
        </p:txBody>
      </p:sp>
      <p:sp>
        <p:nvSpPr>
          <p:cNvPr id="28" name="Shape 24"/>
          <p:cNvSpPr/>
          <p:nvPr/>
        </p:nvSpPr>
        <p:spPr>
          <a:xfrm>
            <a:off x="7498080" y="4937760"/>
            <a:ext cx="6519672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5"/>
          <p:cNvSpPr/>
          <p:nvPr/>
        </p:nvSpPr>
        <p:spPr>
          <a:xfrm>
            <a:off x="7498080" y="4937760"/>
            <a:ext cx="73152" cy="987552"/>
          </a:xfrm>
          <a:prstGeom prst="rect">
            <a:avLst/>
          </a:prstGeom>
          <a:solidFill>
            <a:srgbClr val="DFA33A"/>
          </a:solidFill>
          <a:ln w="12700">
            <a:solidFill>
              <a:srgbClr val="DFA3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6"/>
          <p:cNvSpPr/>
          <p:nvPr/>
        </p:nvSpPr>
        <p:spPr>
          <a:xfrm>
            <a:off x="7882128" y="5138928"/>
            <a:ext cx="5715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Ordenamiento territorial y desarrollo urbano</a:t>
            </a:r>
            <a:endParaRPr lang="en-US" sz="1170" dirty="0"/>
          </a:p>
        </p:txBody>
      </p:sp>
      <p:sp>
        <p:nvSpPr>
          <p:cNvPr id="31" name="Text 27"/>
          <p:cNvSpPr/>
          <p:nvPr/>
        </p:nvSpPr>
        <p:spPr>
          <a:xfrm>
            <a:off x="7882128" y="5559552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de suelo, crecimiento urbano, regularización, densidad y control del territorio.</a:t>
            </a:r>
            <a:endParaRPr lang="en-US" sz="980" dirty="0"/>
          </a:p>
        </p:txBody>
      </p:sp>
      <p:sp>
        <p:nvSpPr>
          <p:cNvPr id="32" name="Shape 28"/>
          <p:cNvSpPr/>
          <p:nvPr/>
        </p:nvSpPr>
        <p:spPr>
          <a:xfrm>
            <a:off x="658368" y="6181344"/>
            <a:ext cx="6519672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29"/>
          <p:cNvSpPr/>
          <p:nvPr/>
        </p:nvSpPr>
        <p:spPr>
          <a:xfrm>
            <a:off x="658368" y="6181344"/>
            <a:ext cx="73152" cy="987552"/>
          </a:xfrm>
          <a:prstGeom prst="rect">
            <a:avLst/>
          </a:prstGeom>
          <a:solidFill>
            <a:srgbClr val="DFA33A"/>
          </a:solidFill>
          <a:ln w="12700">
            <a:solidFill>
              <a:srgbClr val="DFA3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0"/>
          <p:cNvSpPr/>
          <p:nvPr/>
        </p:nvSpPr>
        <p:spPr>
          <a:xfrm>
            <a:off x="1042416" y="6382512"/>
            <a:ext cx="5715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económico y empleo</a:t>
            </a:r>
            <a:endParaRPr lang="en-US" sz="1170" dirty="0"/>
          </a:p>
        </p:txBody>
      </p:sp>
      <p:sp>
        <p:nvSpPr>
          <p:cNvPr id="35" name="Text 31"/>
          <p:cNvSpPr/>
          <p:nvPr/>
        </p:nvSpPr>
        <p:spPr>
          <a:xfrm>
            <a:off x="1042416" y="680313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Inversión, comercio, MIPyMES, turismo, desarrollo agropecuario e innovación.</a:t>
            </a:r>
            <a:endParaRPr lang="en-US" sz="980" dirty="0"/>
          </a:p>
        </p:txBody>
      </p:sp>
      <p:sp>
        <p:nvSpPr>
          <p:cNvPr id="36" name="Shape 32"/>
          <p:cNvSpPr/>
          <p:nvPr/>
        </p:nvSpPr>
        <p:spPr>
          <a:xfrm>
            <a:off x="7498080" y="6181344"/>
            <a:ext cx="6519672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3"/>
          <p:cNvSpPr/>
          <p:nvPr/>
        </p:nvSpPr>
        <p:spPr>
          <a:xfrm>
            <a:off x="7498080" y="6181344"/>
            <a:ext cx="73152" cy="987552"/>
          </a:xfrm>
          <a:prstGeom prst="rect">
            <a:avLst/>
          </a:prstGeom>
          <a:solidFill>
            <a:srgbClr val="DFA33A"/>
          </a:solidFill>
          <a:ln w="12700">
            <a:solidFill>
              <a:srgbClr val="DFA33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4"/>
          <p:cNvSpPr/>
          <p:nvPr/>
        </p:nvSpPr>
        <p:spPr>
          <a:xfrm>
            <a:off x="7882128" y="6382512"/>
            <a:ext cx="5715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Gobernanza y mejora institucional</a:t>
            </a:r>
            <a:endParaRPr lang="en-US" sz="1170" dirty="0"/>
          </a:p>
        </p:txBody>
      </p:sp>
      <p:sp>
        <p:nvSpPr>
          <p:cNvPr id="39" name="Text 35"/>
          <p:cNvSpPr/>
          <p:nvPr/>
        </p:nvSpPr>
        <p:spPr>
          <a:xfrm>
            <a:off x="7882128" y="680313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Transparencia, participación ciudadana, mejora regulatoria y seguimiento de resultados.</a:t>
            </a:r>
            <a:endParaRPr lang="en-US" sz="980" dirty="0"/>
          </a:p>
        </p:txBody>
      </p:sp>
      <p:sp>
        <p:nvSpPr>
          <p:cNvPr id="40" name="Shape 36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7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— Diagnóstico de instrumentos de planeación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· ANÁLISIS COMPARATIVO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Vacíos preliminares de planeación y medición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786384" y="1773936"/>
            <a:ext cx="1252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i="1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reflejan ausencia de planeación o de indicadores, sino un entorno heterogéneo con distintos niveles de detalle, claridad, actualización y articulación.</a:t>
            </a:r>
            <a:endParaRPr lang="en-US" sz="1270" dirty="0"/>
          </a:p>
        </p:txBody>
      </p:sp>
      <p:sp>
        <p:nvSpPr>
          <p:cNvPr id="8" name="Shape 4"/>
          <p:cNvSpPr/>
          <p:nvPr/>
        </p:nvSpPr>
        <p:spPr>
          <a:xfrm>
            <a:off x="658368" y="2377440"/>
            <a:ext cx="6473952" cy="438912"/>
          </a:xfrm>
          <a:prstGeom prst="roundRect">
            <a:avLst>
              <a:gd name="adj" fmla="val 6250"/>
            </a:avLst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5"/>
          <p:cNvSpPr/>
          <p:nvPr/>
        </p:nvSpPr>
        <p:spPr>
          <a:xfrm>
            <a:off x="658368" y="2514600"/>
            <a:ext cx="6473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VACÍOS DE PLANEACIÓN</a:t>
            </a:r>
            <a:endParaRPr lang="en-US" sz="1180" dirty="0"/>
          </a:p>
        </p:txBody>
      </p:sp>
      <p:sp>
        <p:nvSpPr>
          <p:cNvPr id="10" name="Shape 6"/>
          <p:cNvSpPr/>
          <p:nvPr/>
        </p:nvSpPr>
        <p:spPr>
          <a:xfrm>
            <a:off x="7351776" y="2377440"/>
            <a:ext cx="6656832" cy="438912"/>
          </a:xfrm>
          <a:prstGeom prst="roundRect">
            <a:avLst>
              <a:gd name="adj" fmla="val 6250"/>
            </a:avLst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7"/>
          <p:cNvSpPr/>
          <p:nvPr/>
        </p:nvSpPr>
        <p:spPr>
          <a:xfrm>
            <a:off x="7351776" y="2514600"/>
            <a:ext cx="6656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VACÍOS DE MEDICIÓN</a:t>
            </a:r>
            <a:endParaRPr lang="en-US" sz="1180" dirty="0"/>
          </a:p>
        </p:txBody>
      </p:sp>
      <p:sp>
        <p:nvSpPr>
          <p:cNvPr id="12" name="Text 8"/>
          <p:cNvSpPr/>
          <p:nvPr/>
        </p:nvSpPr>
        <p:spPr>
          <a:xfrm>
            <a:off x="841248" y="3182112"/>
            <a:ext cx="6080760" cy="2514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7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Diferencias de estructura entre instrumentos.</a:t>
            </a:r>
            <a:endParaRPr lang="en-US" sz="1170" dirty="0"/>
          </a:p>
          <a:p>
            <a:r>
              <a:rPr lang="en-US" sz="117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Vinculación no siempre explícita entre horizontes temporales.</a:t>
            </a:r>
            <a:endParaRPr lang="en-US" sz="1170" dirty="0"/>
          </a:p>
          <a:p>
            <a:r>
              <a:rPr lang="en-US" sz="117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 no lineal entre objetivos, acciones e indicadores.</a:t>
            </a:r>
            <a:endParaRPr lang="en-US" sz="1170" dirty="0"/>
          </a:p>
          <a:p>
            <a:r>
              <a:rPr lang="en-US" sz="117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Distintos niveles de formulación en acciones y proyectos.</a:t>
            </a:r>
            <a:endParaRPr lang="en-US" sz="1170" dirty="0"/>
          </a:p>
        </p:txBody>
      </p:sp>
      <p:sp>
        <p:nvSpPr>
          <p:cNvPr id="13" name="Text 9"/>
          <p:cNvSpPr/>
          <p:nvPr/>
        </p:nvSpPr>
        <p:spPr>
          <a:xfrm>
            <a:off x="7498080" y="3182112"/>
            <a:ext cx="626364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7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de información dispersas o no identificadas.</a:t>
            </a:r>
            <a:endParaRPr lang="en-US" sz="1170" dirty="0"/>
          </a:p>
          <a:p>
            <a:r>
              <a:rPr lang="en-US" sz="117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Líneas base ausentes o insuficientemente documentadas.</a:t>
            </a:r>
            <a:endParaRPr lang="en-US" sz="1170" dirty="0"/>
          </a:p>
          <a:p>
            <a:r>
              <a:rPr lang="en-US" sz="117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Periodicidades no explícitas o poco compatibles.</a:t>
            </a:r>
            <a:endParaRPr lang="en-US" sz="1170" dirty="0"/>
          </a:p>
          <a:p>
            <a:r>
              <a:rPr lang="en-US" sz="117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Responsabilidades del dato no claramente diferenciadas.</a:t>
            </a:r>
            <a:endParaRPr lang="en-US" sz="1170" dirty="0"/>
          </a:p>
          <a:p>
            <a:r>
              <a:rPr lang="en-US" sz="117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Métodos de cálculo incompletos o redundancias internas.</a:t>
            </a:r>
            <a:endParaRPr lang="en-US" sz="1170" dirty="0"/>
          </a:p>
        </p:txBody>
      </p:sp>
      <p:sp>
        <p:nvSpPr>
          <p:cNvPr id="14" name="Shape 10"/>
          <p:cNvSpPr/>
          <p:nvPr/>
        </p:nvSpPr>
        <p:spPr>
          <a:xfrm>
            <a:off x="658368" y="6620256"/>
            <a:ext cx="13350240" cy="621792"/>
          </a:xfrm>
          <a:prstGeom prst="roundRect">
            <a:avLst>
              <a:gd name="adj" fmla="val 4412"/>
            </a:avLst>
          </a:prstGeom>
          <a:solidFill>
            <a:srgbClr val="F7ECD2"/>
          </a:solidFill>
          <a:ln w="12700">
            <a:solidFill>
              <a:srgbClr val="F7EC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1005840" y="6839712"/>
            <a:ext cx="1243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 central: el principal reto es explicitar las relaciones entre estructuras, horizontes, acciones e indicadores.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3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— Diagnóstico de instrumentos de planeación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 e implicaciones para el SIIP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3"/>
          <p:cNvSpPr/>
          <p:nvPr/>
        </p:nvSpPr>
        <p:spPr>
          <a:xfrm>
            <a:off x="658368" y="1856232"/>
            <a:ext cx="6519672" cy="135331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4"/>
          <p:cNvSpPr/>
          <p:nvPr/>
        </p:nvSpPr>
        <p:spPr>
          <a:xfrm>
            <a:off x="886968" y="2084832"/>
            <a:ext cx="475488" cy="475488"/>
          </a:xfrm>
          <a:prstGeom prst="ellipse">
            <a:avLst/>
          </a:prstGeom>
          <a:solidFill>
            <a:srgbClr val="006B5A"/>
          </a:solidFill>
          <a:ln>
            <a:solidFill>
              <a:srgbClr val="006B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618488" y="213055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Preservar trazabilidad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618488" y="26974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indicador debe conservar vínculo con instrumento, objetivo, programa o ámbito territorial de origen.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7498080" y="1856232"/>
            <a:ext cx="6519672" cy="135331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7726680" y="2084832"/>
            <a:ext cx="475488" cy="475488"/>
          </a:xfrm>
          <a:prstGeom prst="ellipse">
            <a:avLst/>
          </a:prstGeom>
          <a:solidFill>
            <a:srgbClr val="006B5A"/>
          </a:solidFill>
          <a:ln>
            <a:solidFill>
              <a:srgbClr val="006B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8458200" y="213055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Evitar equivalencias automáticas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458200" y="26974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con tema similar pueden diferir en definición, fórmula, unidad o propósito.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58368" y="3749040"/>
            <a:ext cx="6519672" cy="135331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886968" y="3977640"/>
            <a:ext cx="475488" cy="475488"/>
          </a:xfrm>
          <a:prstGeom prst="ellipse">
            <a:avLst/>
          </a:prstGeom>
          <a:solidFill>
            <a:srgbClr val="006B5A"/>
          </a:solidFill>
          <a:ln>
            <a:solidFill>
              <a:srgbClr val="006B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1618488" y="40233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Distinguir función y nivel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618488" y="459028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todos los indicadores estratégicos y operativos se separan por instrumento de origen.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7498080" y="3749040"/>
            <a:ext cx="6519672" cy="135331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/>
          <p:nvPr/>
        </p:nvSpPr>
        <p:spPr>
          <a:xfrm>
            <a:off x="7726680" y="3977640"/>
            <a:ext cx="475488" cy="475488"/>
          </a:xfrm>
          <a:prstGeom prst="ellipse">
            <a:avLst/>
          </a:prstGeom>
          <a:solidFill>
            <a:srgbClr val="006B5A"/>
          </a:solidFill>
          <a:ln>
            <a:solidFill>
              <a:srgbClr val="006B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8458200" y="40233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Reconocer usuarios distintos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8458200" y="459028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Autoridades, direcciones e IMPLAN requieren lecturas diferentes de la misma base.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658368" y="6217920"/>
            <a:ext cx="13350240" cy="713232"/>
          </a:xfrm>
          <a:prstGeom prst="roundRect">
            <a:avLst>
              <a:gd name="adj" fmla="val 3846"/>
            </a:avLst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0"/>
          <p:cNvSpPr/>
          <p:nvPr/>
        </p:nvSpPr>
        <p:spPr>
          <a:xfrm>
            <a:off x="1051560" y="6464808"/>
            <a:ext cx="1252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2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diagnóstico confirma que Salamanca cuenta con una base amplia y diversa para iniciar la estructuración del SIIP, sin que ello implique incorporar automáticamente todo el universo identificado.</a:t>
            </a:r>
            <a:endParaRPr lang="en-US" sz="1220" dirty="0"/>
          </a:p>
        </p:txBody>
      </p:sp>
      <p:sp>
        <p:nvSpPr>
          <p:cNvPr id="25" name="Shape 21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2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1 — Diagnóstico de instrumentos de planeación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2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multidimensional de organización del SIIP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675299" y="1365505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segundo entregable define una estructura común para clasificar, interpretar y comparar indicadores provenientes de distintas fuentes.</a:t>
            </a:r>
            <a:endParaRPr lang="en-US" sz="1270" dirty="0"/>
          </a:p>
        </p:txBody>
      </p:sp>
      <p:sp>
        <p:nvSpPr>
          <p:cNvPr id="8" name="Shape 4"/>
          <p:cNvSpPr/>
          <p:nvPr/>
        </p:nvSpPr>
        <p:spPr>
          <a:xfrm>
            <a:off x="12003024" y="1307593"/>
            <a:ext cx="2423160" cy="1234440"/>
          </a:xfrm>
          <a:prstGeom prst="roundRect">
            <a:avLst>
              <a:gd name="adj" fmla="val 2963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5"/>
          <p:cNvSpPr/>
          <p:nvPr/>
        </p:nvSpPr>
        <p:spPr>
          <a:xfrm>
            <a:off x="12094464" y="1490473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900" dirty="0"/>
          </a:p>
        </p:txBody>
      </p:sp>
      <p:sp>
        <p:nvSpPr>
          <p:cNvPr id="10" name="Text 6"/>
          <p:cNvSpPr/>
          <p:nvPr/>
        </p:nvSpPr>
        <p:spPr>
          <a:xfrm>
            <a:off x="12185904" y="1947673"/>
            <a:ext cx="205740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temática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¿sobre qué informa?</a:t>
            </a:r>
            <a:endParaRPr lang="en-US" sz="920" dirty="0"/>
          </a:p>
        </p:txBody>
      </p:sp>
      <p:sp>
        <p:nvSpPr>
          <p:cNvPr id="11" name="Shape 7"/>
          <p:cNvSpPr/>
          <p:nvPr/>
        </p:nvSpPr>
        <p:spPr>
          <a:xfrm>
            <a:off x="12003024" y="2663953"/>
            <a:ext cx="2423160" cy="1234440"/>
          </a:xfrm>
          <a:prstGeom prst="roundRect">
            <a:avLst>
              <a:gd name="adj" fmla="val 2963"/>
            </a:avLst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12094464" y="2846833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900" dirty="0"/>
          </a:p>
        </p:txBody>
      </p:sp>
      <p:sp>
        <p:nvSpPr>
          <p:cNvPr id="13" name="Text 9"/>
          <p:cNvSpPr/>
          <p:nvPr/>
        </p:nvSpPr>
        <p:spPr>
          <a:xfrm>
            <a:off x="12185904" y="3304033"/>
            <a:ext cx="205740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 transversal técnico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condición cruza?</a:t>
            </a:r>
            <a:endParaRPr lang="en-US" sz="920" dirty="0"/>
          </a:p>
        </p:txBody>
      </p:sp>
      <p:sp>
        <p:nvSpPr>
          <p:cNvPr id="14" name="Shape 10"/>
          <p:cNvSpPr/>
          <p:nvPr/>
        </p:nvSpPr>
        <p:spPr>
          <a:xfrm>
            <a:off x="12003024" y="4008121"/>
            <a:ext cx="2423160" cy="1234440"/>
          </a:xfrm>
          <a:prstGeom prst="roundRect">
            <a:avLst>
              <a:gd name="adj" fmla="val 2963"/>
            </a:avLst>
          </a:prstGeom>
          <a:solidFill>
            <a:srgbClr val="B08A47"/>
          </a:solidFill>
          <a:ln w="12700">
            <a:solidFill>
              <a:srgbClr val="B08A4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12094464" y="4191001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900" dirty="0"/>
          </a:p>
        </p:txBody>
      </p:sp>
      <p:sp>
        <p:nvSpPr>
          <p:cNvPr id="16" name="Text 12"/>
          <p:cNvSpPr/>
          <p:nvPr/>
        </p:nvSpPr>
        <p:spPr>
          <a:xfrm>
            <a:off x="12185904" y="4648201"/>
            <a:ext cx="205740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Estratificación técnica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tipo de medición es?</a:t>
            </a:r>
            <a:endParaRPr lang="en-US" sz="920" dirty="0"/>
          </a:p>
        </p:txBody>
      </p:sp>
      <p:pic>
        <p:nvPicPr>
          <p:cNvPr id="17" name="Image 2" descr="/mnt/data/extracted_docs/model/word/media/imag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63" y="1835963"/>
            <a:ext cx="8993366" cy="56529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78720" y="6345936"/>
            <a:ext cx="3957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7A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permite ordenar el universo de indicadores sin borrar su origen documental ni confundir temas sustantivos con condiciones técnicas.</a:t>
            </a:r>
            <a:endParaRPr lang="en-US" sz="1240" dirty="0"/>
          </a:p>
        </p:txBody>
      </p:sp>
      <p:sp>
        <p:nvSpPr>
          <p:cNvPr id="25" name="Shape 20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1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2 — Modelo de organización, estratificación y transversalidad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2 · DIMENSIÓN 1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Agrupaciones temáticas del SIIP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786384" y="175564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i="1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agrupación temática responde a la pregunta: ¿sobre qué ámbito del municipio informa cada indicador?</a:t>
            </a:r>
            <a:endParaRPr lang="en-US" sz="1270" dirty="0"/>
          </a:p>
        </p:txBody>
      </p:sp>
      <p:sp>
        <p:nvSpPr>
          <p:cNvPr id="8" name="Shape 4"/>
          <p:cNvSpPr/>
          <p:nvPr/>
        </p:nvSpPr>
        <p:spPr>
          <a:xfrm>
            <a:off x="786384" y="2359152"/>
            <a:ext cx="3638615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5"/>
          <p:cNvSpPr/>
          <p:nvPr/>
        </p:nvSpPr>
        <p:spPr>
          <a:xfrm>
            <a:off x="786384" y="2359152"/>
            <a:ext cx="73152" cy="749808"/>
          </a:xfrm>
          <a:prstGeom prst="rect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1097280" y="2587752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pública, justicia cívica y protección civil</a:t>
            </a:r>
            <a:endParaRPr lang="en-US" sz="1120" dirty="0"/>
          </a:p>
        </p:txBody>
      </p:sp>
      <p:sp>
        <p:nvSpPr>
          <p:cNvPr id="11" name="Shape 7"/>
          <p:cNvSpPr/>
          <p:nvPr/>
        </p:nvSpPr>
        <p:spPr>
          <a:xfrm>
            <a:off x="4662743" y="2359152"/>
            <a:ext cx="3638615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4662743" y="2359152"/>
            <a:ext cx="73152" cy="749808"/>
          </a:xfrm>
          <a:prstGeom prst="rect">
            <a:avLst/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4973639" y="2587752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Bienestar y desarrollo social</a:t>
            </a:r>
            <a:endParaRPr lang="en-US" sz="1120" dirty="0"/>
          </a:p>
        </p:txBody>
      </p:sp>
      <p:sp>
        <p:nvSpPr>
          <p:cNvPr id="14" name="Shape 10"/>
          <p:cNvSpPr/>
          <p:nvPr/>
        </p:nvSpPr>
        <p:spPr>
          <a:xfrm>
            <a:off x="786384" y="3319272"/>
            <a:ext cx="3638615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786384" y="3319272"/>
            <a:ext cx="73152" cy="749808"/>
          </a:xfrm>
          <a:prstGeom prst="rect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1097280" y="3547872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económico y empleo</a:t>
            </a:r>
            <a:endParaRPr lang="en-US" sz="1120" dirty="0"/>
          </a:p>
        </p:txBody>
      </p:sp>
      <p:sp>
        <p:nvSpPr>
          <p:cNvPr id="17" name="Shape 13"/>
          <p:cNvSpPr/>
          <p:nvPr/>
        </p:nvSpPr>
        <p:spPr>
          <a:xfrm>
            <a:off x="4662743" y="3319272"/>
            <a:ext cx="3638615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4662743" y="3319272"/>
            <a:ext cx="73152" cy="749808"/>
          </a:xfrm>
          <a:prstGeom prst="rect">
            <a:avLst/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5"/>
          <p:cNvSpPr/>
          <p:nvPr/>
        </p:nvSpPr>
        <p:spPr>
          <a:xfrm>
            <a:off x="4973639" y="3547872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Territorio, desarrollo urbano y medio ambiente</a:t>
            </a:r>
            <a:endParaRPr lang="en-US" sz="1120" dirty="0"/>
          </a:p>
        </p:txBody>
      </p:sp>
      <p:sp>
        <p:nvSpPr>
          <p:cNvPr id="20" name="Shape 16"/>
          <p:cNvSpPr/>
          <p:nvPr/>
        </p:nvSpPr>
        <p:spPr>
          <a:xfrm>
            <a:off x="786384" y="4279392"/>
            <a:ext cx="3638615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786384" y="4279392"/>
            <a:ext cx="73152" cy="749808"/>
          </a:xfrm>
          <a:prstGeom prst="rect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1097280" y="4507992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públicos municipales</a:t>
            </a:r>
            <a:endParaRPr lang="en-US" sz="1120" dirty="0"/>
          </a:p>
        </p:txBody>
      </p:sp>
      <p:sp>
        <p:nvSpPr>
          <p:cNvPr id="23" name="Shape 19"/>
          <p:cNvSpPr/>
          <p:nvPr/>
        </p:nvSpPr>
        <p:spPr>
          <a:xfrm>
            <a:off x="4662743" y="4279392"/>
            <a:ext cx="3638615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0"/>
          <p:cNvSpPr/>
          <p:nvPr/>
        </p:nvSpPr>
        <p:spPr>
          <a:xfrm>
            <a:off x="4662743" y="4279392"/>
            <a:ext cx="73152" cy="749808"/>
          </a:xfrm>
          <a:prstGeom prst="rect">
            <a:avLst/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1"/>
          <p:cNvSpPr/>
          <p:nvPr/>
        </p:nvSpPr>
        <p:spPr>
          <a:xfrm>
            <a:off x="4973639" y="4507992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Movilidad y accesibilidad</a:t>
            </a:r>
            <a:endParaRPr lang="en-US" sz="1120" dirty="0"/>
          </a:p>
        </p:txBody>
      </p:sp>
      <p:sp>
        <p:nvSpPr>
          <p:cNvPr id="26" name="Shape 22"/>
          <p:cNvSpPr/>
          <p:nvPr/>
        </p:nvSpPr>
        <p:spPr>
          <a:xfrm>
            <a:off x="786384" y="5239512"/>
            <a:ext cx="3638615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3"/>
          <p:cNvSpPr/>
          <p:nvPr/>
        </p:nvSpPr>
        <p:spPr>
          <a:xfrm>
            <a:off x="786384" y="5239512"/>
            <a:ext cx="73152" cy="749808"/>
          </a:xfrm>
          <a:prstGeom prst="rect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4"/>
          <p:cNvSpPr/>
          <p:nvPr/>
        </p:nvSpPr>
        <p:spPr>
          <a:xfrm>
            <a:off x="1097280" y="5468112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Gobierno y gestión institucional</a:t>
            </a:r>
            <a:endParaRPr lang="en-US" sz="1120" dirty="0"/>
          </a:p>
        </p:txBody>
      </p:sp>
      <p:sp>
        <p:nvSpPr>
          <p:cNvPr id="29" name="Shape 25"/>
          <p:cNvSpPr/>
          <p:nvPr/>
        </p:nvSpPr>
        <p:spPr>
          <a:xfrm>
            <a:off x="4662743" y="5239512"/>
            <a:ext cx="3638615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6"/>
          <p:cNvSpPr/>
          <p:nvPr/>
        </p:nvSpPr>
        <p:spPr>
          <a:xfrm>
            <a:off x="4662743" y="5239512"/>
            <a:ext cx="73152" cy="749808"/>
          </a:xfrm>
          <a:prstGeom prst="rect">
            <a:avLst/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7"/>
          <p:cNvSpPr/>
          <p:nvPr/>
        </p:nvSpPr>
        <p:spPr>
          <a:xfrm>
            <a:off x="4973639" y="5468112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Finanzas públicas y gestión de recursos</a:t>
            </a:r>
            <a:endParaRPr lang="en-US" sz="1120" dirty="0"/>
          </a:p>
        </p:txBody>
      </p:sp>
      <p:sp>
        <p:nvSpPr>
          <p:cNvPr id="32" name="Text 28"/>
          <p:cNvSpPr/>
          <p:nvPr/>
        </p:nvSpPr>
        <p:spPr>
          <a:xfrm>
            <a:off x="786384" y="6492240"/>
            <a:ext cx="1243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lectura: cada indicador conserva una agrupación temática principal conforme al objeto predominante de medición.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0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2 — Modelo de organización, estratificación y transversalidad</a:t>
            </a:r>
            <a:endParaRPr lang="en-US" sz="780" dirty="0"/>
          </a:p>
        </p:txBody>
      </p:sp>
      <p:pic>
        <p:nvPicPr>
          <p:cNvPr id="36" name="Image 2" descr="/mnt/data/extracted_docs/model/word/media/image3.png">
            <a:extLst>
              <a:ext uri="{FF2B5EF4-FFF2-40B4-BE49-F238E27FC236}">
                <a16:creationId xmlns:a16="http://schemas.microsoft.com/office/drawing/2014/main" id="{142D0178-216C-C7CB-4E23-5118F32EFBB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54113" y="2081795"/>
            <a:ext cx="6503442" cy="43356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2 · DIMENSIÓN 2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Ejes transversales técnicos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786384" y="175564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i="1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transversalidad técnica responde a la pregunta: ¿qué condición cruza o habilita el seguimiento del indicador?</a:t>
            </a:r>
            <a:endParaRPr lang="en-US" sz="1270" dirty="0"/>
          </a:p>
        </p:txBody>
      </p:sp>
      <p:sp>
        <p:nvSpPr>
          <p:cNvPr id="8" name="Shape 4"/>
          <p:cNvSpPr/>
          <p:nvPr/>
        </p:nvSpPr>
        <p:spPr>
          <a:xfrm>
            <a:off x="786384" y="2423160"/>
            <a:ext cx="621792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5"/>
          <p:cNvSpPr/>
          <p:nvPr/>
        </p:nvSpPr>
        <p:spPr>
          <a:xfrm>
            <a:off x="786384" y="2423160"/>
            <a:ext cx="73152" cy="932688"/>
          </a:xfrm>
          <a:prstGeom prst="rect">
            <a:avLst/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1097280" y="2624328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Infraestructura, equipamiento y activos físicos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097280" y="2990088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Obras, redes, espacios, vehículos, equipamiento e instalaciones.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7324344" y="2423160"/>
            <a:ext cx="621792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7324344" y="2423160"/>
            <a:ext cx="73152" cy="932688"/>
          </a:xfrm>
          <a:prstGeom prst="rect">
            <a:avLst/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7635240" y="2624328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territorial y accesibilidad espacial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635240" y="2990088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Distribución, brechas, localización y acceso entre zonas o comunidades.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786384" y="3749040"/>
            <a:ext cx="621792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786384" y="3749040"/>
            <a:ext cx="73152" cy="932688"/>
          </a:xfrm>
          <a:prstGeom prst="rect">
            <a:avLst/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1097280" y="3950208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Tecnología, datos y sistemas de información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097280" y="4315968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Plataformas, registros, monitoreo, conectividad, digitalización y datos.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7324344" y="3749040"/>
            <a:ext cx="6217920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7324344" y="3749040"/>
            <a:ext cx="73152" cy="932688"/>
          </a:xfrm>
          <a:prstGeom prst="rect">
            <a:avLst/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7635240" y="3950208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 operativa y sostenibilidad de recursos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7635240" y="4315968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Personal, procesos, presupuesto, mantenimiento y suficiencia de recursos.</a:t>
            </a:r>
            <a:endParaRPr lang="en-US" sz="980" dirty="0"/>
          </a:p>
        </p:txBody>
      </p:sp>
      <p:sp>
        <p:nvSpPr>
          <p:cNvPr id="25" name="Text 20"/>
          <p:cNvSpPr/>
          <p:nvPr/>
        </p:nvSpPr>
        <p:spPr>
          <a:xfrm>
            <a:off x="786384" y="6675120"/>
            <a:ext cx="1243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lectura: cuando aplique, cada indicador se vincula con un eje transversal técnico predominante.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2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2 — Modelo de organización, estratificación y transversalidad</a:t>
            </a:r>
            <a:endParaRPr lang="en-US" sz="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2 · DIMENSIÓN 3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Tipología y desempeño de los indicadores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557784" y="1327270"/>
            <a:ext cx="1225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i="1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tercera dimensión del modelo clasifica la naturaleza técnica del indicador para saber qué mide, a qué nivel observa el objetivo y cómo debe interpretarse.</a:t>
            </a:r>
            <a:endParaRPr lang="en-US" sz="1260" dirty="0"/>
          </a:p>
        </p:txBody>
      </p:sp>
      <p:sp>
        <p:nvSpPr>
          <p:cNvPr id="8" name="Shape 4"/>
          <p:cNvSpPr/>
          <p:nvPr/>
        </p:nvSpPr>
        <p:spPr>
          <a:xfrm>
            <a:off x="11530584" y="3289984"/>
            <a:ext cx="3017520" cy="1143000"/>
          </a:xfrm>
          <a:prstGeom prst="roundRect">
            <a:avLst>
              <a:gd name="adj" fmla="val 3200"/>
            </a:avLst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5"/>
          <p:cNvSpPr/>
          <p:nvPr/>
        </p:nvSpPr>
        <p:spPr>
          <a:xfrm>
            <a:off x="11676888" y="351858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 de objetivo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713464" y="3930064"/>
            <a:ext cx="26517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Fin, propósito, componente, actividad o no aplica.</a:t>
            </a:r>
            <a:endParaRPr lang="en-US" sz="920" dirty="0"/>
          </a:p>
        </p:txBody>
      </p:sp>
      <p:sp>
        <p:nvSpPr>
          <p:cNvPr id="11" name="Shape 7"/>
          <p:cNvSpPr/>
          <p:nvPr/>
        </p:nvSpPr>
        <p:spPr>
          <a:xfrm>
            <a:off x="11530584" y="4504806"/>
            <a:ext cx="3017520" cy="1143000"/>
          </a:xfrm>
          <a:prstGeom prst="roundRect">
            <a:avLst>
              <a:gd name="adj" fmla="val 3200"/>
            </a:avLst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11676888" y="473340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de indicador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713464" y="5144886"/>
            <a:ext cx="26517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Estratégico o de gestión.</a:t>
            </a:r>
            <a:endParaRPr lang="en-US" sz="920" dirty="0"/>
          </a:p>
        </p:txBody>
      </p:sp>
      <p:sp>
        <p:nvSpPr>
          <p:cNvPr id="14" name="Shape 10"/>
          <p:cNvSpPr/>
          <p:nvPr/>
        </p:nvSpPr>
        <p:spPr>
          <a:xfrm>
            <a:off x="11530584" y="5749779"/>
            <a:ext cx="3017520" cy="1143000"/>
          </a:xfrm>
          <a:prstGeom prst="roundRect">
            <a:avLst>
              <a:gd name="adj" fmla="val 3200"/>
            </a:avLst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11676888" y="5978379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Ámbito de desempeño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713464" y="6389859"/>
            <a:ext cx="26517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Efectos/impacto, resultados, productos/bienes, procesos o insumos.</a:t>
            </a:r>
            <a:endParaRPr lang="en-US" sz="920" dirty="0"/>
          </a:p>
        </p:txBody>
      </p:sp>
      <p:sp>
        <p:nvSpPr>
          <p:cNvPr id="17" name="Shape 13"/>
          <p:cNvSpPr/>
          <p:nvPr/>
        </p:nvSpPr>
        <p:spPr>
          <a:xfrm>
            <a:off x="11530584" y="7020738"/>
            <a:ext cx="3017520" cy="1143000"/>
          </a:xfrm>
          <a:prstGeom prst="roundRect">
            <a:avLst>
              <a:gd name="adj" fmla="val 3200"/>
            </a:avLst>
          </a:prstGeom>
          <a:solidFill>
            <a:srgbClr val="B08A47"/>
          </a:solidFill>
          <a:ln w="12700">
            <a:solidFill>
              <a:srgbClr val="B08A4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11676888" y="7249338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Dimensión de desempeño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713464" y="7660818"/>
            <a:ext cx="26517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Eficacia, eficiencia, economía o calidad.</a:t>
            </a:r>
            <a:endParaRPr lang="en-US" sz="920" dirty="0"/>
          </a:p>
        </p:txBody>
      </p:sp>
      <p:pic>
        <p:nvPicPr>
          <p:cNvPr id="20" name="Image 2" descr="/mnt/data/extracted_docs/model/word/media/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735" y="1651187"/>
            <a:ext cx="8551174" cy="570078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25073" y="18103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en el SIIP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670793" y="2037550"/>
            <a:ext cx="4877311" cy="7694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mezclar indicadores de resultado con indicadores de operación.</a:t>
            </a:r>
            <a:endParaRPr lang="en-US" sz="1160" dirty="0"/>
          </a:p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distinguir mediciones para autoridades, áreas técnicas e IMPLAN.</a:t>
            </a:r>
            <a:endParaRPr lang="en-US" sz="1160" dirty="0"/>
          </a:p>
          <a:p>
            <a:r>
              <a:rPr lang="en-US" sz="116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 comparable el universo sin perder el origen de cada indicador.</a:t>
            </a:r>
            <a:endParaRPr lang="en-US" sz="1160" dirty="0"/>
          </a:p>
        </p:txBody>
      </p:sp>
      <p:sp>
        <p:nvSpPr>
          <p:cNvPr id="23" name="Text 18"/>
          <p:cNvSpPr/>
          <p:nvPr/>
        </p:nvSpPr>
        <p:spPr>
          <a:xfrm>
            <a:off x="786384" y="7363872"/>
            <a:ext cx="1271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lectura: la tipología y la dimensión de desempeño forman parte de la tercera dimensión del modelo multidimensional.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0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2 — Modelo de organización, estratificación y transversalidad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2 · APLICACIÓN DEL MODELO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Numerarias de clasificación técnica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786384" y="17556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60" i="1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Conteo de registros clasificados en la base de trabajo conforme a las columnas I, J, K y L: ámbito de desempeño, tipo de indicador, nivel de objetivo y dimensión de desempeño.</a:t>
            </a:r>
            <a:endParaRPr lang="en-US" sz="1260" dirty="0"/>
          </a:p>
        </p:txBody>
      </p:sp>
      <p:sp>
        <p:nvSpPr>
          <p:cNvPr id="8" name="Text 4"/>
          <p:cNvSpPr/>
          <p:nvPr/>
        </p:nvSpPr>
        <p:spPr>
          <a:xfrm>
            <a:off x="11064240" y="16276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7A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clasificación suma 412 registros.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86384" y="2331720"/>
            <a:ext cx="6309360" cy="2084832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987552" y="2478024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Ámbito de desempeño</a:t>
            </a:r>
            <a:endParaRPr lang="en-US" sz="1220" dirty="0"/>
          </a:p>
        </p:txBody>
      </p:sp>
      <p:sp>
        <p:nvSpPr>
          <p:cNvPr id="11" name="Text 7"/>
          <p:cNvSpPr/>
          <p:nvPr/>
        </p:nvSpPr>
        <p:spPr>
          <a:xfrm>
            <a:off x="1014984" y="2862072"/>
            <a:ext cx="2809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 / bienes y servicios</a:t>
            </a:r>
            <a:endParaRPr lang="en-US" sz="890" dirty="0"/>
          </a:p>
        </p:txBody>
      </p:sp>
      <p:sp>
        <p:nvSpPr>
          <p:cNvPr id="12" name="Shape 8"/>
          <p:cNvSpPr/>
          <p:nvPr/>
        </p:nvSpPr>
        <p:spPr>
          <a:xfrm>
            <a:off x="4058107" y="2907792"/>
            <a:ext cx="2106778" cy="109728"/>
          </a:xfrm>
          <a:prstGeom prst="rect">
            <a:avLst/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6281928" y="285292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199</a:t>
            </a:r>
            <a:endParaRPr lang="en-US" sz="920" dirty="0"/>
          </a:p>
        </p:txBody>
      </p:sp>
      <p:sp>
        <p:nvSpPr>
          <p:cNvPr id="14" name="Text 10"/>
          <p:cNvSpPr/>
          <p:nvPr/>
        </p:nvSpPr>
        <p:spPr>
          <a:xfrm>
            <a:off x="1014984" y="3154680"/>
            <a:ext cx="2809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Efectos / impacto</a:t>
            </a:r>
            <a:endParaRPr lang="en-US" sz="890" dirty="0"/>
          </a:p>
        </p:txBody>
      </p:sp>
      <p:sp>
        <p:nvSpPr>
          <p:cNvPr id="15" name="Shape 11"/>
          <p:cNvSpPr/>
          <p:nvPr/>
        </p:nvSpPr>
        <p:spPr>
          <a:xfrm>
            <a:off x="4058107" y="3200400"/>
            <a:ext cx="1090443" cy="109728"/>
          </a:xfrm>
          <a:prstGeom prst="rect">
            <a:avLst/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6281928" y="3145536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103</a:t>
            </a:r>
            <a:endParaRPr lang="en-US" sz="920" dirty="0"/>
          </a:p>
        </p:txBody>
      </p:sp>
      <p:sp>
        <p:nvSpPr>
          <p:cNvPr id="17" name="Text 13"/>
          <p:cNvSpPr/>
          <p:nvPr/>
        </p:nvSpPr>
        <p:spPr>
          <a:xfrm>
            <a:off x="1014984" y="3447288"/>
            <a:ext cx="2809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890" dirty="0"/>
          </a:p>
        </p:txBody>
      </p:sp>
      <p:sp>
        <p:nvSpPr>
          <p:cNvPr id="18" name="Shape 14"/>
          <p:cNvSpPr/>
          <p:nvPr/>
        </p:nvSpPr>
        <p:spPr>
          <a:xfrm>
            <a:off x="4058107" y="3493008"/>
            <a:ext cx="614036" cy="109728"/>
          </a:xfrm>
          <a:prstGeom prst="rect">
            <a:avLst/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5"/>
          <p:cNvSpPr/>
          <p:nvPr/>
        </p:nvSpPr>
        <p:spPr>
          <a:xfrm>
            <a:off x="6281928" y="343814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</a:t>
            </a:r>
            <a:endParaRPr lang="en-US" sz="920" dirty="0"/>
          </a:p>
        </p:txBody>
      </p:sp>
      <p:sp>
        <p:nvSpPr>
          <p:cNvPr id="20" name="Text 16"/>
          <p:cNvSpPr/>
          <p:nvPr/>
        </p:nvSpPr>
        <p:spPr>
          <a:xfrm>
            <a:off x="1014984" y="3739896"/>
            <a:ext cx="2809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Procesos</a:t>
            </a:r>
            <a:endParaRPr lang="en-US" sz="890" dirty="0"/>
          </a:p>
        </p:txBody>
      </p:sp>
      <p:sp>
        <p:nvSpPr>
          <p:cNvPr id="21" name="Shape 17"/>
          <p:cNvSpPr/>
          <p:nvPr/>
        </p:nvSpPr>
        <p:spPr>
          <a:xfrm>
            <a:off x="4058107" y="3785616"/>
            <a:ext cx="486994" cy="109728"/>
          </a:xfrm>
          <a:prstGeom prst="rect">
            <a:avLst/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6281928" y="373075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920" dirty="0"/>
          </a:p>
        </p:txBody>
      </p:sp>
      <p:sp>
        <p:nvSpPr>
          <p:cNvPr id="23" name="Text 19"/>
          <p:cNvSpPr/>
          <p:nvPr/>
        </p:nvSpPr>
        <p:spPr>
          <a:xfrm>
            <a:off x="1014984" y="4032504"/>
            <a:ext cx="2809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Insumo</a:t>
            </a:r>
            <a:endParaRPr lang="en-US" sz="890" dirty="0"/>
          </a:p>
        </p:txBody>
      </p:sp>
      <p:sp>
        <p:nvSpPr>
          <p:cNvPr id="24" name="Shape 20"/>
          <p:cNvSpPr/>
          <p:nvPr/>
        </p:nvSpPr>
        <p:spPr>
          <a:xfrm>
            <a:off x="4058107" y="4078224"/>
            <a:ext cx="63521" cy="109728"/>
          </a:xfrm>
          <a:prstGeom prst="rect">
            <a:avLst/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1"/>
          <p:cNvSpPr/>
          <p:nvPr/>
        </p:nvSpPr>
        <p:spPr>
          <a:xfrm>
            <a:off x="6281928" y="4023360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20" dirty="0"/>
          </a:p>
        </p:txBody>
      </p:sp>
      <p:sp>
        <p:nvSpPr>
          <p:cNvPr id="26" name="Shape 22"/>
          <p:cNvSpPr/>
          <p:nvPr/>
        </p:nvSpPr>
        <p:spPr>
          <a:xfrm>
            <a:off x="7424928" y="2331720"/>
            <a:ext cx="6309360" cy="2084832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3"/>
          <p:cNvSpPr/>
          <p:nvPr/>
        </p:nvSpPr>
        <p:spPr>
          <a:xfrm>
            <a:off x="7626096" y="2478024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de indicador</a:t>
            </a:r>
            <a:endParaRPr lang="en-US" sz="1220" dirty="0"/>
          </a:p>
        </p:txBody>
      </p:sp>
      <p:sp>
        <p:nvSpPr>
          <p:cNvPr id="28" name="Text 24"/>
          <p:cNvSpPr/>
          <p:nvPr/>
        </p:nvSpPr>
        <p:spPr>
          <a:xfrm>
            <a:off x="7653528" y="2862072"/>
            <a:ext cx="2809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Estratégico</a:t>
            </a:r>
            <a:endParaRPr lang="en-US" sz="890" dirty="0"/>
          </a:p>
        </p:txBody>
      </p:sp>
      <p:sp>
        <p:nvSpPr>
          <p:cNvPr id="29" name="Shape 25"/>
          <p:cNvSpPr/>
          <p:nvPr/>
        </p:nvSpPr>
        <p:spPr>
          <a:xfrm>
            <a:off x="10696651" y="2907792"/>
            <a:ext cx="2106778" cy="109728"/>
          </a:xfrm>
          <a:prstGeom prst="rect">
            <a:avLst/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6"/>
          <p:cNvSpPr/>
          <p:nvPr/>
        </p:nvSpPr>
        <p:spPr>
          <a:xfrm>
            <a:off x="12920472" y="285292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324</a:t>
            </a:r>
            <a:endParaRPr lang="en-US" sz="920" dirty="0"/>
          </a:p>
        </p:txBody>
      </p:sp>
      <p:sp>
        <p:nvSpPr>
          <p:cNvPr id="31" name="Text 27"/>
          <p:cNvSpPr/>
          <p:nvPr/>
        </p:nvSpPr>
        <p:spPr>
          <a:xfrm>
            <a:off x="7653528" y="3154680"/>
            <a:ext cx="2809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</a:t>
            </a:r>
            <a:endParaRPr lang="en-US" sz="890" dirty="0"/>
          </a:p>
        </p:txBody>
      </p:sp>
      <p:sp>
        <p:nvSpPr>
          <p:cNvPr id="32" name="Shape 28"/>
          <p:cNvSpPr/>
          <p:nvPr/>
        </p:nvSpPr>
        <p:spPr>
          <a:xfrm>
            <a:off x="10696651" y="3200400"/>
            <a:ext cx="572211" cy="109728"/>
          </a:xfrm>
          <a:prstGeom prst="rect">
            <a:avLst/>
          </a:prstGeom>
          <a:solidFill>
            <a:srgbClr val="006B5A"/>
          </a:solidFill>
          <a:ln w="12700">
            <a:solidFill>
              <a:srgbClr val="006B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29"/>
          <p:cNvSpPr/>
          <p:nvPr/>
        </p:nvSpPr>
        <p:spPr>
          <a:xfrm>
            <a:off x="12920472" y="3145536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</a:t>
            </a:r>
            <a:endParaRPr lang="en-US" sz="920" dirty="0"/>
          </a:p>
        </p:txBody>
      </p:sp>
      <p:sp>
        <p:nvSpPr>
          <p:cNvPr id="34" name="Shape 30"/>
          <p:cNvSpPr/>
          <p:nvPr/>
        </p:nvSpPr>
        <p:spPr>
          <a:xfrm>
            <a:off x="786384" y="4663440"/>
            <a:ext cx="6309360" cy="2084832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1"/>
          <p:cNvSpPr/>
          <p:nvPr/>
        </p:nvSpPr>
        <p:spPr>
          <a:xfrm>
            <a:off x="987552" y="4809744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B08A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 de objetivo</a:t>
            </a:r>
            <a:endParaRPr lang="en-US" sz="1220" dirty="0"/>
          </a:p>
        </p:txBody>
      </p:sp>
      <p:sp>
        <p:nvSpPr>
          <p:cNvPr id="36" name="Text 32"/>
          <p:cNvSpPr/>
          <p:nvPr/>
        </p:nvSpPr>
        <p:spPr>
          <a:xfrm>
            <a:off x="1014984" y="5193792"/>
            <a:ext cx="2809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</a:t>
            </a:r>
            <a:endParaRPr lang="en-US" sz="890" dirty="0"/>
          </a:p>
        </p:txBody>
      </p:sp>
      <p:sp>
        <p:nvSpPr>
          <p:cNvPr id="37" name="Shape 33"/>
          <p:cNvSpPr/>
          <p:nvPr/>
        </p:nvSpPr>
        <p:spPr>
          <a:xfrm>
            <a:off x="4058107" y="5239512"/>
            <a:ext cx="2106778" cy="109728"/>
          </a:xfrm>
          <a:prstGeom prst="rect">
            <a:avLst/>
          </a:prstGeom>
          <a:solidFill>
            <a:srgbClr val="B08A47"/>
          </a:solidFill>
          <a:ln w="12700">
            <a:solidFill>
              <a:srgbClr val="B08A4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4"/>
          <p:cNvSpPr/>
          <p:nvPr/>
        </p:nvSpPr>
        <p:spPr>
          <a:xfrm>
            <a:off x="6281928" y="518464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199</a:t>
            </a:r>
            <a:endParaRPr lang="en-US" sz="920" dirty="0"/>
          </a:p>
        </p:txBody>
      </p:sp>
      <p:sp>
        <p:nvSpPr>
          <p:cNvPr id="39" name="Text 35"/>
          <p:cNvSpPr/>
          <p:nvPr/>
        </p:nvSpPr>
        <p:spPr>
          <a:xfrm>
            <a:off x="1014984" y="5486400"/>
            <a:ext cx="2809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</a:t>
            </a:r>
            <a:endParaRPr lang="en-US" sz="890" dirty="0"/>
          </a:p>
        </p:txBody>
      </p:sp>
      <p:sp>
        <p:nvSpPr>
          <p:cNvPr id="40" name="Shape 36"/>
          <p:cNvSpPr/>
          <p:nvPr/>
        </p:nvSpPr>
        <p:spPr>
          <a:xfrm>
            <a:off x="4058107" y="5532120"/>
            <a:ext cx="1090443" cy="109728"/>
          </a:xfrm>
          <a:prstGeom prst="rect">
            <a:avLst/>
          </a:prstGeom>
          <a:solidFill>
            <a:srgbClr val="B08A47"/>
          </a:solidFill>
          <a:ln w="12700">
            <a:solidFill>
              <a:srgbClr val="B08A4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7"/>
          <p:cNvSpPr/>
          <p:nvPr/>
        </p:nvSpPr>
        <p:spPr>
          <a:xfrm>
            <a:off x="6281928" y="5477256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103</a:t>
            </a:r>
            <a:endParaRPr lang="en-US" sz="920" dirty="0"/>
          </a:p>
        </p:txBody>
      </p:sp>
      <p:sp>
        <p:nvSpPr>
          <p:cNvPr id="42" name="Text 38"/>
          <p:cNvSpPr/>
          <p:nvPr/>
        </p:nvSpPr>
        <p:spPr>
          <a:xfrm>
            <a:off x="1014984" y="5779008"/>
            <a:ext cx="2809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</a:t>
            </a:r>
            <a:endParaRPr lang="en-US" sz="890" dirty="0"/>
          </a:p>
        </p:txBody>
      </p:sp>
      <p:sp>
        <p:nvSpPr>
          <p:cNvPr id="43" name="Shape 39"/>
          <p:cNvSpPr/>
          <p:nvPr/>
        </p:nvSpPr>
        <p:spPr>
          <a:xfrm>
            <a:off x="4058107" y="5824728"/>
            <a:ext cx="614036" cy="109728"/>
          </a:xfrm>
          <a:prstGeom prst="rect">
            <a:avLst/>
          </a:prstGeom>
          <a:solidFill>
            <a:srgbClr val="B08A47"/>
          </a:solidFill>
          <a:ln w="12700">
            <a:solidFill>
              <a:srgbClr val="B08A4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0"/>
          <p:cNvSpPr/>
          <p:nvPr/>
        </p:nvSpPr>
        <p:spPr>
          <a:xfrm>
            <a:off x="6281928" y="576986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</a:t>
            </a:r>
            <a:endParaRPr lang="en-US" sz="920" dirty="0"/>
          </a:p>
        </p:txBody>
      </p:sp>
      <p:sp>
        <p:nvSpPr>
          <p:cNvPr id="45" name="Text 41"/>
          <p:cNvSpPr/>
          <p:nvPr/>
        </p:nvSpPr>
        <p:spPr>
          <a:xfrm>
            <a:off x="1014984" y="6071616"/>
            <a:ext cx="2809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</a:t>
            </a:r>
            <a:endParaRPr lang="en-US" sz="890" dirty="0"/>
          </a:p>
        </p:txBody>
      </p:sp>
      <p:sp>
        <p:nvSpPr>
          <p:cNvPr id="46" name="Shape 42"/>
          <p:cNvSpPr/>
          <p:nvPr/>
        </p:nvSpPr>
        <p:spPr>
          <a:xfrm>
            <a:off x="4058107" y="6117336"/>
            <a:ext cx="486994" cy="109728"/>
          </a:xfrm>
          <a:prstGeom prst="rect">
            <a:avLst/>
          </a:prstGeom>
          <a:solidFill>
            <a:srgbClr val="B08A47"/>
          </a:solidFill>
          <a:ln w="12700">
            <a:solidFill>
              <a:srgbClr val="B08A4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3"/>
          <p:cNvSpPr/>
          <p:nvPr/>
        </p:nvSpPr>
        <p:spPr>
          <a:xfrm>
            <a:off x="6281928" y="606247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920" dirty="0"/>
          </a:p>
        </p:txBody>
      </p:sp>
      <p:sp>
        <p:nvSpPr>
          <p:cNvPr id="48" name="Text 44"/>
          <p:cNvSpPr/>
          <p:nvPr/>
        </p:nvSpPr>
        <p:spPr>
          <a:xfrm>
            <a:off x="1014984" y="6364224"/>
            <a:ext cx="2809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aplica</a:t>
            </a:r>
            <a:endParaRPr lang="en-US" sz="890" dirty="0"/>
          </a:p>
        </p:txBody>
      </p:sp>
      <p:sp>
        <p:nvSpPr>
          <p:cNvPr id="49" name="Shape 45"/>
          <p:cNvSpPr/>
          <p:nvPr/>
        </p:nvSpPr>
        <p:spPr>
          <a:xfrm>
            <a:off x="4058107" y="6409944"/>
            <a:ext cx="63521" cy="109728"/>
          </a:xfrm>
          <a:prstGeom prst="rect">
            <a:avLst/>
          </a:prstGeom>
          <a:solidFill>
            <a:srgbClr val="B08A47"/>
          </a:solidFill>
          <a:ln w="12700">
            <a:solidFill>
              <a:srgbClr val="B08A4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6"/>
          <p:cNvSpPr/>
          <p:nvPr/>
        </p:nvSpPr>
        <p:spPr>
          <a:xfrm>
            <a:off x="6281928" y="6355080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20" dirty="0"/>
          </a:p>
        </p:txBody>
      </p:sp>
      <p:sp>
        <p:nvSpPr>
          <p:cNvPr id="51" name="Shape 47"/>
          <p:cNvSpPr/>
          <p:nvPr/>
        </p:nvSpPr>
        <p:spPr>
          <a:xfrm>
            <a:off x="7424928" y="4663440"/>
            <a:ext cx="6309360" cy="2084832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48"/>
          <p:cNvSpPr/>
          <p:nvPr/>
        </p:nvSpPr>
        <p:spPr>
          <a:xfrm>
            <a:off x="7626096" y="4809744"/>
            <a:ext cx="5907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7A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Dimensión de desempeño</a:t>
            </a:r>
            <a:endParaRPr lang="en-US" sz="1220" dirty="0"/>
          </a:p>
        </p:txBody>
      </p:sp>
      <p:sp>
        <p:nvSpPr>
          <p:cNvPr id="53" name="Text 49"/>
          <p:cNvSpPr/>
          <p:nvPr/>
        </p:nvSpPr>
        <p:spPr>
          <a:xfrm>
            <a:off x="7653528" y="5193792"/>
            <a:ext cx="2809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Eficacia</a:t>
            </a:r>
            <a:endParaRPr lang="en-US" sz="890" dirty="0"/>
          </a:p>
        </p:txBody>
      </p:sp>
      <p:sp>
        <p:nvSpPr>
          <p:cNvPr id="54" name="Shape 50"/>
          <p:cNvSpPr/>
          <p:nvPr/>
        </p:nvSpPr>
        <p:spPr>
          <a:xfrm>
            <a:off x="10696651" y="5239512"/>
            <a:ext cx="2106778" cy="109728"/>
          </a:xfrm>
          <a:prstGeom prst="rect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51"/>
          <p:cNvSpPr/>
          <p:nvPr/>
        </p:nvSpPr>
        <p:spPr>
          <a:xfrm>
            <a:off x="12920472" y="518464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319</a:t>
            </a:r>
            <a:endParaRPr lang="en-US" sz="920" dirty="0"/>
          </a:p>
        </p:txBody>
      </p:sp>
      <p:sp>
        <p:nvSpPr>
          <p:cNvPr id="56" name="Text 52"/>
          <p:cNvSpPr/>
          <p:nvPr/>
        </p:nvSpPr>
        <p:spPr>
          <a:xfrm>
            <a:off x="7653528" y="5486400"/>
            <a:ext cx="2809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</a:t>
            </a:r>
            <a:endParaRPr lang="en-US" sz="890" dirty="0"/>
          </a:p>
        </p:txBody>
      </p:sp>
      <p:sp>
        <p:nvSpPr>
          <p:cNvPr id="57" name="Shape 53"/>
          <p:cNvSpPr/>
          <p:nvPr/>
        </p:nvSpPr>
        <p:spPr>
          <a:xfrm>
            <a:off x="10696651" y="5532120"/>
            <a:ext cx="343425" cy="109728"/>
          </a:xfrm>
          <a:prstGeom prst="rect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54"/>
          <p:cNvSpPr/>
          <p:nvPr/>
        </p:nvSpPr>
        <p:spPr>
          <a:xfrm>
            <a:off x="12920472" y="5477256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</a:t>
            </a:r>
            <a:endParaRPr lang="en-US" sz="920" dirty="0"/>
          </a:p>
        </p:txBody>
      </p:sp>
      <p:sp>
        <p:nvSpPr>
          <p:cNvPr id="59" name="Text 55"/>
          <p:cNvSpPr/>
          <p:nvPr/>
        </p:nvSpPr>
        <p:spPr>
          <a:xfrm>
            <a:off x="7653528" y="5779008"/>
            <a:ext cx="2809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Economía</a:t>
            </a:r>
            <a:endParaRPr lang="en-US" sz="890" dirty="0"/>
          </a:p>
        </p:txBody>
      </p:sp>
      <p:sp>
        <p:nvSpPr>
          <p:cNvPr id="60" name="Shape 56"/>
          <p:cNvSpPr/>
          <p:nvPr/>
        </p:nvSpPr>
        <p:spPr>
          <a:xfrm>
            <a:off x="10696651" y="5824728"/>
            <a:ext cx="138691" cy="109728"/>
          </a:xfrm>
          <a:prstGeom prst="rect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Text 57"/>
          <p:cNvSpPr/>
          <p:nvPr/>
        </p:nvSpPr>
        <p:spPr>
          <a:xfrm>
            <a:off x="12920472" y="576986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20" dirty="0"/>
          </a:p>
        </p:txBody>
      </p:sp>
      <p:sp>
        <p:nvSpPr>
          <p:cNvPr id="62" name="Text 58"/>
          <p:cNvSpPr/>
          <p:nvPr/>
        </p:nvSpPr>
        <p:spPr>
          <a:xfrm>
            <a:off x="7653528" y="6071616"/>
            <a:ext cx="28090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Eficiencia</a:t>
            </a:r>
            <a:endParaRPr lang="en-US" sz="890" dirty="0"/>
          </a:p>
        </p:txBody>
      </p:sp>
      <p:sp>
        <p:nvSpPr>
          <p:cNvPr id="63" name="Shape 59"/>
          <p:cNvSpPr/>
          <p:nvPr/>
        </p:nvSpPr>
        <p:spPr>
          <a:xfrm>
            <a:off x="10696651" y="6117336"/>
            <a:ext cx="132086" cy="109728"/>
          </a:xfrm>
          <a:prstGeom prst="rect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Text 60"/>
          <p:cNvSpPr/>
          <p:nvPr/>
        </p:nvSpPr>
        <p:spPr>
          <a:xfrm>
            <a:off x="12920472" y="606247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20" dirty="0"/>
          </a:p>
        </p:txBody>
      </p:sp>
      <p:sp>
        <p:nvSpPr>
          <p:cNvPr id="65" name="Text 61"/>
          <p:cNvSpPr/>
          <p:nvPr/>
        </p:nvSpPr>
        <p:spPr>
          <a:xfrm>
            <a:off x="786384" y="7040880"/>
            <a:ext cx="1271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Lectura: el universo revisado se concentra en mediciones estratégicas y de eficacia, con presencia relevante de componentes, productos/bienes y servicios.</a:t>
            </a:r>
            <a:endParaRPr lang="en-US" sz="1200" dirty="0"/>
          </a:p>
        </p:txBody>
      </p:sp>
      <p:sp>
        <p:nvSpPr>
          <p:cNvPr id="66" name="Shape 62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Text 63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2 — Modelo de organización, estratificación y transversalidad</a:t>
            </a:r>
            <a:endParaRPr lang="en-US" sz="7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extracted_docs/diag/word/media/image1.png">
            <a:extLst>
              <a:ext uri="{FF2B5EF4-FFF2-40B4-BE49-F238E27FC236}">
                <a16:creationId xmlns:a16="http://schemas.microsoft.com/office/drawing/2014/main" id="{2A1835D2-6146-2C38-DC2E-5735C2A1A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5" name="Image 1" descr="/mnt/data/extracted_docs/diag/word/media/image6.png">
            <a:extLst>
              <a:ext uri="{FF2B5EF4-FFF2-40B4-BE49-F238E27FC236}">
                <a16:creationId xmlns:a16="http://schemas.microsoft.com/office/drawing/2014/main" id="{D30DB236-02A5-1280-01E4-AC856C9C5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A8844E67-4A53-730B-AF83-BAE070723E48}"/>
              </a:ext>
            </a:extLst>
          </p:cNvPr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2 · APLICACIÓN DEL MODELO</a:t>
            </a:r>
            <a:endParaRPr lang="en-US" sz="870" dirty="0"/>
          </a:p>
        </p:txBody>
      </p:sp>
      <p:pic>
        <p:nvPicPr>
          <p:cNvPr id="111" name="Imagen 110">
            <a:extLst>
              <a:ext uri="{FF2B5EF4-FFF2-40B4-BE49-F238E27FC236}">
                <a16:creationId xmlns:a16="http://schemas.microsoft.com/office/drawing/2014/main" id="{9B7C00B4-4773-73F6-0B7A-643530336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77" y="1127704"/>
            <a:ext cx="13810911" cy="67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354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docs/diag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" y="219456"/>
            <a:ext cx="469057" cy="402336"/>
          </a:xfrm>
          <a:prstGeom prst="rect">
            <a:avLst/>
          </a:prstGeom>
        </p:spPr>
      </p:pic>
      <p:pic>
        <p:nvPicPr>
          <p:cNvPr id="3" name="Image 1" descr="/mnt/data/extracted_docs/diag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0456" y="201168"/>
            <a:ext cx="95723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31089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00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DEL AVANCE</a:t>
            </a:r>
            <a:endParaRPr lang="en-US" sz="870" dirty="0"/>
          </a:p>
        </p:txBody>
      </p:sp>
      <p:sp>
        <p:nvSpPr>
          <p:cNvPr id="5" name="Text 1"/>
          <p:cNvSpPr/>
          <p:nvPr/>
        </p:nvSpPr>
        <p:spPr>
          <a:xfrm>
            <a:off x="1335024" y="640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1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Siguiente tramo de trabajo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1335024" y="1225296"/>
            <a:ext cx="11475720" cy="0"/>
          </a:xfrm>
          <a:prstGeom prst="line">
            <a:avLst/>
          </a:prstGeom>
          <a:noFill/>
          <a:ln w="11430">
            <a:solidFill>
              <a:srgbClr val="7A1F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3"/>
          <p:cNvSpPr/>
          <p:nvPr/>
        </p:nvSpPr>
        <p:spPr>
          <a:xfrm>
            <a:off x="786384" y="17556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los dos primeros entregables queda integrada la base diagnóstica y el modelo común de organización del SIIP.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960120" y="2743200"/>
            <a:ext cx="3977640" cy="2103120"/>
          </a:xfrm>
          <a:prstGeom prst="roundRect">
            <a:avLst>
              <a:gd name="adj" fmla="val 1739"/>
            </a:avLst>
          </a:prstGeom>
          <a:solidFill>
            <a:srgbClr val="F3E6EB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5"/>
          <p:cNvSpPr/>
          <p:nvPr/>
        </p:nvSpPr>
        <p:spPr>
          <a:xfrm>
            <a:off x="1143000" y="2907792"/>
            <a:ext cx="384048" cy="384048"/>
          </a:xfrm>
          <a:prstGeom prst="ellipse">
            <a:avLst/>
          </a:prstGeom>
          <a:solidFill>
            <a:srgbClr val="7A1F3D"/>
          </a:solidFill>
          <a:ln>
            <a:solidFill>
              <a:srgbClr val="7A1F3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673352" y="2971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estructura metodológica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80160" y="3694176"/>
            <a:ext cx="338328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agrupaciones temáticas, transversalidad y estratificación técnica.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0" y="2743200"/>
            <a:ext cx="3977640" cy="2103120"/>
          </a:xfrm>
          <a:prstGeom prst="roundRect">
            <a:avLst>
              <a:gd name="adj" fmla="val 1739"/>
            </a:avLst>
          </a:prstGeom>
          <a:solidFill>
            <a:srgbClr val="E6F0EE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5669280" y="2907792"/>
            <a:ext cx="384048" cy="384048"/>
          </a:xfrm>
          <a:prstGeom prst="ellipse">
            <a:avLst/>
          </a:prstGeom>
          <a:solidFill>
            <a:srgbClr val="006B5A"/>
          </a:solidFill>
          <a:ln>
            <a:solidFill>
              <a:srgbClr val="006B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199632" y="2971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Consolidar base de trabajo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806440" y="3694176"/>
            <a:ext cx="338328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trazabilidad, fuentes, responsables y campos técnicos de cada registro.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012680" y="2743200"/>
            <a:ext cx="3977640" cy="2103120"/>
          </a:xfrm>
          <a:prstGeom prst="roundRect">
            <a:avLst>
              <a:gd name="adj" fmla="val 1739"/>
            </a:avLst>
          </a:prstGeom>
          <a:solidFill>
            <a:srgbClr val="F7ECD2"/>
          </a:solidFill>
          <a:ln w="8890">
            <a:solidFill>
              <a:srgbClr val="D7D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3"/>
          <p:cNvSpPr/>
          <p:nvPr/>
        </p:nvSpPr>
        <p:spPr>
          <a:xfrm>
            <a:off x="10195560" y="2907792"/>
            <a:ext cx="384048" cy="384048"/>
          </a:xfrm>
          <a:prstGeom prst="ellipse">
            <a:avLst/>
          </a:prstGeom>
          <a:solidFill>
            <a:srgbClr val="B08A47"/>
          </a:solidFill>
          <a:ln>
            <a:solidFill>
              <a:srgbClr val="B08A4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0725912" y="2971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 etapa siguiente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0332720" y="3694176"/>
            <a:ext cx="338328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Avanzar hacia fichas técnicas, indicadores prioritarios y diseño de seguimiento.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86384" y="5897880"/>
            <a:ext cx="13030200" cy="713232"/>
          </a:xfrm>
          <a:prstGeom prst="roundRect">
            <a:avLst>
              <a:gd name="adj" fmla="val 5128"/>
            </a:avLst>
          </a:prstGeom>
          <a:solidFill>
            <a:srgbClr val="17344D"/>
          </a:solidFill>
          <a:ln w="12700">
            <a:solidFill>
              <a:srgbClr val="1734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1143000" y="6153912"/>
            <a:ext cx="1225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avance presentado no define aún indicadores finales; establece la base técnica para seleccionarlos y diseñarlos con trazabilidad y consistencia.</a:t>
            </a:r>
            <a:endParaRPr lang="en-US" sz="1220" dirty="0"/>
          </a:p>
        </p:txBody>
      </p:sp>
      <p:sp>
        <p:nvSpPr>
          <p:cNvPr id="22" name="Shape 18"/>
          <p:cNvSpPr/>
          <p:nvPr/>
        </p:nvSpPr>
        <p:spPr>
          <a:xfrm>
            <a:off x="621792" y="7662672"/>
            <a:ext cx="13304520" cy="0"/>
          </a:xfrm>
          <a:prstGeom prst="line">
            <a:avLst/>
          </a:prstGeom>
          <a:noFill/>
          <a:ln w="11430">
            <a:solidFill>
              <a:srgbClr val="006B5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621792" y="7836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6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 SIIP Salamanca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2244</Words>
  <Application>Microsoft Office PowerPoint</Application>
  <PresentationFormat>Personalizado</PresentationFormat>
  <Paragraphs>382</Paragraphs>
  <Slides>20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Ingenia Consultoría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Avances SIIP Salamanca - Entregables 1 y 2</dc:title>
  <dc:subject>Avances SIIP Salamanca</dc:subject>
  <dc:creator>Ingenia Consultoría</dc:creator>
  <cp:lastModifiedBy>Eduardo Flores Palacios</cp:lastModifiedBy>
  <cp:revision>5</cp:revision>
  <dcterms:created xsi:type="dcterms:W3CDTF">2026-07-29T04:48:28Z</dcterms:created>
  <dcterms:modified xsi:type="dcterms:W3CDTF">2026-07-29T13:50:16Z</dcterms:modified>
</cp:coreProperties>
</file>